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2.xml.rels" ContentType="application/vnd.openxmlformats-package.relationships+xml"/>
  <Override PartName="/ppt/notesSlides/_rels/notesSlide7.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10.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_rels/presentation.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1.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9.xml.rels" ContentType="application/vnd.openxmlformats-package.relationships+xml"/>
  <Override PartName="/ppt/slides/_rels/slide8.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buNone/>
            </a:pPr>
            <a:r>
              <a:rPr b="0" lang="en-US" sz="4400" spc="-1" strike="noStrike">
                <a:latin typeface="Arial"/>
              </a:rPr>
              <a:t>Click </a:t>
            </a:r>
            <a:r>
              <a:rPr b="0" lang="en-US" sz="4400" spc="-1" strike="noStrike">
                <a:latin typeface="Arial"/>
              </a:rPr>
              <a:t>to </a:t>
            </a:r>
            <a:r>
              <a:rPr b="0" lang="en-US" sz="4400" spc="-1" strike="noStrike">
                <a:latin typeface="Arial"/>
              </a:rPr>
              <a:t>move </a:t>
            </a:r>
            <a:r>
              <a:rPr b="0" lang="en-US" sz="4400" spc="-1" strike="noStrike">
                <a:latin typeface="Arial"/>
              </a:rPr>
              <a:t>the </a:t>
            </a:r>
            <a:r>
              <a:rPr b="0" lang="en-US" sz="4400" spc="-1" strike="noStrike">
                <a:latin typeface="Arial"/>
              </a:rPr>
              <a:t>slide</a:t>
            </a:r>
            <a:endParaRPr b="0" lang="en-US" sz="4400" spc="-1" strike="noStrike">
              <a:latin typeface="Arial"/>
            </a:endParaRPr>
          </a:p>
        </p:txBody>
      </p:sp>
      <p:sp>
        <p:nvSpPr>
          <p:cNvPr id="121"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US" sz="2000" spc="-1" strike="noStrike">
                <a:latin typeface="Arial"/>
              </a:rPr>
              <a:t>Click to edit </a:t>
            </a:r>
            <a:r>
              <a:rPr b="0" lang="en-US" sz="2000" spc="-1" strike="noStrike">
                <a:latin typeface="Arial"/>
              </a:rPr>
              <a:t>the notes </a:t>
            </a:r>
            <a:r>
              <a:rPr b="0" lang="en-US" sz="2000" spc="-1" strike="noStrike">
                <a:latin typeface="Arial"/>
              </a:rPr>
              <a:t>format</a:t>
            </a:r>
            <a:endParaRPr b="0" lang="en-US" sz="2000" spc="-1" strike="noStrike">
              <a:latin typeface="Arial"/>
            </a:endParaRPr>
          </a:p>
        </p:txBody>
      </p:sp>
      <p:sp>
        <p:nvSpPr>
          <p:cNvPr id="122"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US" sz="1400" spc="-1" strike="noStrike">
                <a:latin typeface="Times New Roman"/>
              </a:rPr>
              <a:t>&lt;header&gt;</a:t>
            </a:r>
            <a:endParaRPr b="0" lang="en-US" sz="1400" spc="-1" strike="noStrike">
              <a:latin typeface="Times New Roman"/>
            </a:endParaRPr>
          </a:p>
        </p:txBody>
      </p:sp>
      <p:sp>
        <p:nvSpPr>
          <p:cNvPr id="123" name="PlaceHolder 4"/>
          <p:cNvSpPr>
            <a:spLocks noGrp="1"/>
          </p:cNvSpPr>
          <p:nvPr>
            <p:ph type="dt" idx="3"/>
          </p:nvPr>
        </p:nvSpPr>
        <p:spPr>
          <a:xfrm>
            <a:off x="4278960" y="0"/>
            <a:ext cx="3280680" cy="534240"/>
          </a:xfrm>
          <a:prstGeom prst="rect">
            <a:avLst/>
          </a:prstGeom>
          <a:noFill/>
          <a:ln w="0">
            <a:noFill/>
          </a:ln>
        </p:spPr>
        <p:txBody>
          <a:bodyPr lIns="0" rIns="0" tIns="0" bIns="0" anchor="t">
            <a:noAutofit/>
          </a:bodyPr>
          <a:lstStyle>
            <a:lvl1pPr algn="r">
              <a:buNone/>
              <a:defRPr b="0" lang="en-US" sz="1400" spc="-1" strike="noStrike">
                <a:latin typeface="Times New Roman"/>
              </a:defRPr>
            </a:lvl1pPr>
          </a:lstStyle>
          <a:p>
            <a:pPr algn="r">
              <a:buNone/>
            </a:pPr>
            <a:r>
              <a:rPr b="0" lang="en-US" sz="1400" spc="-1" strike="noStrike">
                <a:latin typeface="Times New Roman"/>
              </a:rPr>
              <a:t>&lt;date/time&gt;</a:t>
            </a:r>
            <a:endParaRPr b="0" lang="en-US" sz="1400" spc="-1" strike="noStrike">
              <a:latin typeface="Times New Roman"/>
            </a:endParaRPr>
          </a:p>
        </p:txBody>
      </p:sp>
      <p:sp>
        <p:nvSpPr>
          <p:cNvPr id="124" name="PlaceHolder 5"/>
          <p:cNvSpPr>
            <a:spLocks noGrp="1"/>
          </p:cNvSpPr>
          <p:nvPr>
            <p:ph type="ftr" idx="4"/>
          </p:nvPr>
        </p:nvSpPr>
        <p:spPr>
          <a:xfrm>
            <a:off x="0" y="10157400"/>
            <a:ext cx="3280680" cy="534240"/>
          </a:xfrm>
          <a:prstGeom prst="rect">
            <a:avLst/>
          </a:prstGeom>
          <a:noFill/>
          <a:ln w="0">
            <a:noFill/>
          </a:ln>
        </p:spPr>
        <p:txBody>
          <a:bodyPr lIns="0" rIns="0" tIns="0" bIns="0" anchor="b">
            <a:noAutofit/>
          </a:bodyPr>
          <a:lstStyle>
            <a:lvl1pPr>
              <a:defRPr b="0" lang="en-US" sz="1400" spc="-1" strike="noStrike">
                <a:latin typeface="Times New Roman"/>
              </a:defRPr>
            </a:lvl1pPr>
          </a:lstStyle>
          <a:p>
            <a:r>
              <a:rPr b="0" lang="en-US" sz="1400" spc="-1" strike="noStrike">
                <a:latin typeface="Times New Roman"/>
              </a:rPr>
              <a:t>&lt;footer&gt;</a:t>
            </a:r>
            <a:endParaRPr b="0" lang="en-US" sz="1400" spc="-1" strike="noStrike">
              <a:latin typeface="Times New Roman"/>
            </a:endParaRPr>
          </a:p>
        </p:txBody>
      </p:sp>
      <p:sp>
        <p:nvSpPr>
          <p:cNvPr id="125" name="PlaceHolder 6"/>
          <p:cNvSpPr>
            <a:spLocks noGrp="1"/>
          </p:cNvSpPr>
          <p:nvPr>
            <p:ph type="sldNum" idx="5"/>
          </p:nvPr>
        </p:nvSpPr>
        <p:spPr>
          <a:xfrm>
            <a:off x="4278960" y="10157400"/>
            <a:ext cx="3280680" cy="534240"/>
          </a:xfrm>
          <a:prstGeom prst="rect">
            <a:avLst/>
          </a:prstGeom>
          <a:noFill/>
          <a:ln w="0">
            <a:noFill/>
          </a:ln>
        </p:spPr>
        <p:txBody>
          <a:bodyPr lIns="0" rIns="0" tIns="0" bIns="0" anchor="b">
            <a:noAutofit/>
          </a:bodyPr>
          <a:lstStyle>
            <a:lvl1pPr algn="r">
              <a:buNone/>
              <a:defRPr b="0" lang="en-US" sz="1400" spc="-1" strike="noStrike">
                <a:latin typeface="Times New Roman"/>
              </a:defRPr>
            </a:lvl1pPr>
          </a:lstStyle>
          <a:p>
            <a:pPr algn="r">
              <a:buNone/>
            </a:pPr>
            <a:fld id="{3DC17E8D-C00B-4936-BA0D-723B1C05C561}"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solidFill>
                  <a:srgbClr val="000000"/>
                </a:solidFill>
                <a:latin typeface="Arial"/>
                <a:ea typeface="Arial"/>
              </a:rPr>
              <a:t>[RQ]; which </a:t>
            </a:r>
            <a:r>
              <a:rPr b="0" lang="en-US" sz="1100" spc="-1" strike="noStrike">
                <a:solidFill>
                  <a:srgbClr val="000000"/>
                </a:solidFill>
                <a:latin typeface="Arial"/>
                <a:ea typeface="Arial"/>
              </a:rPr>
              <a:t>basicall</a:t>
            </a:r>
            <a:r>
              <a:rPr b="0" lang="en-US" sz="1100" spc="-1" strike="noStrike">
                <a:solidFill>
                  <a:srgbClr val="000000"/>
                </a:solidFill>
                <a:latin typeface="Arial"/>
                <a:ea typeface="Arial"/>
              </a:rPr>
              <a:t>y </a:t>
            </a:r>
            <a:r>
              <a:rPr b="0" lang="en-US" sz="1100" spc="-1" strike="noStrike">
                <a:solidFill>
                  <a:srgbClr val="000000"/>
                </a:solidFill>
                <a:latin typeface="Arial"/>
                <a:ea typeface="Arial"/>
              </a:rPr>
              <a:t>means </a:t>
            </a:r>
            <a:r>
              <a:rPr b="0" lang="en-US" sz="1100" spc="-1" strike="noStrike">
                <a:solidFill>
                  <a:srgbClr val="000000"/>
                </a:solidFill>
                <a:latin typeface="Arial"/>
                <a:ea typeface="Arial"/>
              </a:rPr>
              <a:t>that </a:t>
            </a:r>
            <a:r>
              <a:rPr b="0" lang="en-US" sz="1100" spc="-1" strike="noStrike">
                <a:solidFill>
                  <a:srgbClr val="000000"/>
                </a:solidFill>
                <a:latin typeface="Arial"/>
                <a:ea typeface="Arial"/>
              </a:rPr>
              <a:t>What </a:t>
            </a:r>
            <a:r>
              <a:rPr b="0" lang="en-US" sz="1100" spc="-1" strike="noStrike">
                <a:solidFill>
                  <a:srgbClr val="000000"/>
                </a:solidFill>
                <a:latin typeface="Arial"/>
                <a:ea typeface="Arial"/>
              </a:rPr>
              <a:t>happen</a:t>
            </a:r>
            <a:r>
              <a:rPr b="0" lang="en-US" sz="1100" spc="-1" strike="noStrike">
                <a:solidFill>
                  <a:srgbClr val="000000"/>
                </a:solidFill>
                <a:latin typeface="Arial"/>
                <a:ea typeface="Arial"/>
              </a:rPr>
              <a:t>s if we </a:t>
            </a:r>
            <a:r>
              <a:rPr b="0" lang="en-US" sz="1100" spc="-1" strike="noStrike">
                <a:solidFill>
                  <a:srgbClr val="000000"/>
                </a:solidFill>
                <a:latin typeface="Arial"/>
                <a:ea typeface="Arial"/>
              </a:rPr>
              <a:t>take a </a:t>
            </a:r>
            <a:r>
              <a:rPr b="0" lang="en-US" sz="1100" spc="-1" strike="noStrike">
                <a:solidFill>
                  <a:srgbClr val="000000"/>
                </a:solidFill>
                <a:latin typeface="Arial"/>
                <a:ea typeface="Arial"/>
              </a:rPr>
              <a:t>standar</a:t>
            </a:r>
            <a:r>
              <a:rPr b="0" lang="en-US" sz="1100" spc="-1" strike="noStrike">
                <a:solidFill>
                  <a:srgbClr val="000000"/>
                </a:solidFill>
                <a:latin typeface="Arial"/>
                <a:ea typeface="Arial"/>
              </a:rPr>
              <a:t>d EASE </a:t>
            </a:r>
            <a:r>
              <a:rPr b="0" lang="en-US" sz="1100" spc="-1" strike="noStrike">
                <a:solidFill>
                  <a:srgbClr val="000000"/>
                </a:solidFill>
                <a:latin typeface="Arial"/>
                <a:ea typeface="Arial"/>
              </a:rPr>
              <a:t>recomm</a:t>
            </a:r>
            <a:r>
              <a:rPr b="0" lang="en-US" sz="1100" spc="-1" strike="noStrike">
                <a:solidFill>
                  <a:srgbClr val="000000"/>
                </a:solidFill>
                <a:latin typeface="Arial"/>
                <a:ea typeface="Arial"/>
              </a:rPr>
              <a:t>ender </a:t>
            </a:r>
            <a:r>
              <a:rPr b="0" lang="en-US" sz="1100" spc="-1" strike="noStrike">
                <a:solidFill>
                  <a:srgbClr val="000000"/>
                </a:solidFill>
                <a:latin typeface="Arial"/>
                <a:ea typeface="Arial"/>
              </a:rPr>
              <a:t>and re-</a:t>
            </a:r>
            <a:r>
              <a:rPr b="0" lang="en-US" sz="1100" spc="-1" strike="noStrike">
                <a:solidFill>
                  <a:srgbClr val="000000"/>
                </a:solidFill>
                <a:latin typeface="Arial"/>
                <a:ea typeface="Arial"/>
              </a:rPr>
              <a:t>rank its </a:t>
            </a:r>
            <a:r>
              <a:rPr b="0" lang="en-US" sz="1100" spc="-1" strike="noStrike">
                <a:solidFill>
                  <a:srgbClr val="000000"/>
                </a:solidFill>
                <a:latin typeface="Arial"/>
                <a:ea typeface="Arial"/>
              </a:rPr>
              <a:t>recomm</a:t>
            </a:r>
            <a:r>
              <a:rPr b="0" lang="en-US" sz="1100" spc="-1" strike="noStrike">
                <a:solidFill>
                  <a:srgbClr val="000000"/>
                </a:solidFill>
                <a:latin typeface="Arial"/>
                <a:ea typeface="Arial"/>
              </a:rPr>
              <a:t>ended </a:t>
            </a:r>
            <a:r>
              <a:rPr b="0" lang="en-US" sz="1100" spc="-1" strike="noStrike">
                <a:solidFill>
                  <a:srgbClr val="000000"/>
                </a:solidFill>
                <a:latin typeface="Arial"/>
                <a:ea typeface="Arial"/>
              </a:rPr>
              <a:t>games </a:t>
            </a:r>
            <a:r>
              <a:rPr b="0" lang="en-US" sz="1100" spc="-1" strike="noStrike">
                <a:solidFill>
                  <a:srgbClr val="000000"/>
                </a:solidFill>
                <a:latin typeface="Arial"/>
                <a:ea typeface="Arial"/>
              </a:rPr>
              <a:t>based </a:t>
            </a:r>
            <a:r>
              <a:rPr b="0" lang="en-US" sz="1100" spc="-1" strike="noStrike">
                <a:solidFill>
                  <a:srgbClr val="000000"/>
                </a:solidFill>
                <a:latin typeface="Arial"/>
                <a:ea typeface="Arial"/>
              </a:rPr>
              <a:t>on how </a:t>
            </a:r>
            <a:r>
              <a:rPr b="0" lang="en-US" sz="1100" spc="-1" strike="noStrike">
                <a:solidFill>
                  <a:srgbClr val="000000"/>
                </a:solidFill>
                <a:latin typeface="Arial"/>
                <a:ea typeface="Arial"/>
              </a:rPr>
              <a:t>novel </a:t>
            </a:r>
            <a:r>
              <a:rPr b="0" lang="en-US" sz="1100" spc="-1" strike="noStrike">
                <a:solidFill>
                  <a:srgbClr val="000000"/>
                </a:solidFill>
                <a:latin typeface="Arial"/>
                <a:ea typeface="Arial"/>
              </a:rPr>
              <a:t>they are </a:t>
            </a:r>
            <a:r>
              <a:rPr b="0" lang="en-US" sz="1100" spc="-1" strike="noStrike">
                <a:solidFill>
                  <a:srgbClr val="000000"/>
                </a:solidFill>
                <a:latin typeface="Arial"/>
                <a:ea typeface="Arial"/>
              </a:rPr>
              <a:t>in terms </a:t>
            </a:r>
            <a:r>
              <a:rPr b="0" lang="en-US" sz="1100" spc="-1" strike="noStrike">
                <a:solidFill>
                  <a:srgbClr val="000000"/>
                </a:solidFill>
                <a:latin typeface="Arial"/>
                <a:ea typeface="Arial"/>
              </a:rPr>
              <a:t>of </a:t>
            </a:r>
            <a:r>
              <a:rPr b="0" lang="en-US" sz="1100" spc="-1" strike="noStrike">
                <a:solidFill>
                  <a:srgbClr val="000000"/>
                </a:solidFill>
                <a:latin typeface="Arial"/>
                <a:ea typeface="Arial"/>
              </a:rPr>
              <a:t>genres. </a:t>
            </a:r>
            <a:r>
              <a:rPr b="0" lang="en-US" sz="1100" spc="-1" strike="noStrike">
                <a:solidFill>
                  <a:srgbClr val="000000"/>
                </a:solidFill>
                <a:latin typeface="Arial"/>
                <a:ea typeface="Arial"/>
              </a:rPr>
              <a:t>I use </a:t>
            </a:r>
            <a:r>
              <a:rPr b="0" lang="en-US" sz="1100" spc="-1" strike="noStrike">
                <a:solidFill>
                  <a:srgbClr val="000000"/>
                </a:solidFill>
                <a:latin typeface="Arial"/>
                <a:ea typeface="Arial"/>
              </a:rPr>
              <a:t>genres </a:t>
            </a:r>
            <a:r>
              <a:rPr b="0" lang="en-US" sz="1100" spc="-1" strike="noStrike">
                <a:solidFill>
                  <a:srgbClr val="000000"/>
                </a:solidFill>
                <a:latin typeface="Arial"/>
                <a:ea typeface="Arial"/>
              </a:rPr>
              <a:t>becaus</a:t>
            </a:r>
            <a:r>
              <a:rPr b="0" lang="en-US" sz="1100" spc="-1" strike="noStrike">
                <a:solidFill>
                  <a:srgbClr val="000000"/>
                </a:solidFill>
                <a:latin typeface="Arial"/>
                <a:ea typeface="Arial"/>
              </a:rPr>
              <a:t>e they </a:t>
            </a:r>
            <a:r>
              <a:rPr b="0" lang="en-US" sz="1100" spc="-1" strike="noStrike">
                <a:solidFill>
                  <a:srgbClr val="000000"/>
                </a:solidFill>
                <a:latin typeface="Arial"/>
                <a:ea typeface="Arial"/>
              </a:rPr>
              <a:t>are a </a:t>
            </a:r>
            <a:r>
              <a:rPr b="0" lang="en-US" sz="1100" spc="-1" strike="noStrike">
                <a:solidFill>
                  <a:srgbClr val="000000"/>
                </a:solidFill>
                <a:latin typeface="Arial"/>
                <a:ea typeface="Arial"/>
              </a:rPr>
              <a:t>very </a:t>
            </a:r>
            <a:r>
              <a:rPr b="0" lang="en-US" sz="1100" spc="-1" strike="noStrike">
                <a:solidFill>
                  <a:srgbClr val="000000"/>
                </a:solidFill>
                <a:latin typeface="Arial"/>
                <a:ea typeface="Arial"/>
              </a:rPr>
              <a:t>natural </a:t>
            </a:r>
            <a:r>
              <a:rPr b="0" lang="en-US" sz="1100" spc="-1" strike="noStrike">
                <a:solidFill>
                  <a:srgbClr val="000000"/>
                </a:solidFill>
                <a:latin typeface="Arial"/>
                <a:ea typeface="Arial"/>
              </a:rPr>
              <a:t>way to </a:t>
            </a:r>
            <a:r>
              <a:rPr b="0" lang="en-US" sz="1100" spc="-1" strike="noStrike">
                <a:solidFill>
                  <a:srgbClr val="000000"/>
                </a:solidFill>
                <a:latin typeface="Arial"/>
                <a:ea typeface="Arial"/>
              </a:rPr>
              <a:t>define </a:t>
            </a:r>
            <a:r>
              <a:rPr b="0" lang="en-US" sz="1100" spc="-1" strike="noStrike">
                <a:solidFill>
                  <a:srgbClr val="000000"/>
                </a:solidFill>
                <a:latin typeface="Arial"/>
                <a:ea typeface="Arial"/>
              </a:rPr>
              <a:t>novelty </a:t>
            </a:r>
            <a:r>
              <a:rPr b="0" lang="en-US" sz="1100" spc="-1" strike="noStrike">
                <a:solidFill>
                  <a:srgbClr val="000000"/>
                </a:solidFill>
                <a:latin typeface="Arial"/>
                <a:ea typeface="Arial"/>
              </a:rPr>
              <a:t>for </a:t>
            </a:r>
            <a:r>
              <a:rPr b="0" lang="en-US" sz="1100" spc="-1" strike="noStrike">
                <a:solidFill>
                  <a:srgbClr val="000000"/>
                </a:solidFill>
                <a:latin typeface="Arial"/>
                <a:ea typeface="Arial"/>
              </a:rPr>
              <a:t>games. </a:t>
            </a:r>
            <a:r>
              <a:rPr b="0" lang="en-US" sz="1100" spc="-1" strike="noStrike">
                <a:solidFill>
                  <a:srgbClr val="000000"/>
                </a:solidFill>
                <a:latin typeface="Arial"/>
                <a:ea typeface="Arial"/>
              </a:rPr>
              <a:t>If a user </a:t>
            </a:r>
            <a:r>
              <a:rPr b="0" lang="en-US" sz="1100" spc="-1" strike="noStrike">
                <a:solidFill>
                  <a:srgbClr val="000000"/>
                </a:solidFill>
                <a:latin typeface="Arial"/>
                <a:ea typeface="Arial"/>
              </a:rPr>
              <a:t>mostly </a:t>
            </a:r>
            <a:r>
              <a:rPr b="0" lang="en-US" sz="1100" spc="-1" strike="noStrike">
                <a:solidFill>
                  <a:srgbClr val="000000"/>
                </a:solidFill>
                <a:latin typeface="Arial"/>
                <a:ea typeface="Arial"/>
              </a:rPr>
              <a:t>plays </a:t>
            </a:r>
            <a:r>
              <a:rPr b="0" lang="en-US" sz="1100" spc="-1" strike="noStrike">
                <a:solidFill>
                  <a:srgbClr val="000000"/>
                </a:solidFill>
                <a:latin typeface="Arial"/>
                <a:ea typeface="Arial"/>
              </a:rPr>
              <a:t>Action, </a:t>
            </a:r>
            <a:r>
              <a:rPr b="0" lang="en-US" sz="1100" spc="-1" strike="noStrike">
                <a:solidFill>
                  <a:srgbClr val="000000"/>
                </a:solidFill>
                <a:latin typeface="Arial"/>
                <a:ea typeface="Arial"/>
              </a:rPr>
              <a:t>then a </a:t>
            </a:r>
            <a:r>
              <a:rPr b="0" lang="en-US" sz="1100" spc="-1" strike="noStrike">
                <a:solidFill>
                  <a:srgbClr val="000000"/>
                </a:solidFill>
                <a:latin typeface="Arial"/>
                <a:ea typeface="Arial"/>
              </a:rPr>
              <a:t>pure </a:t>
            </a:r>
            <a:r>
              <a:rPr b="0" lang="en-US" sz="1100" spc="-1" strike="noStrike">
                <a:solidFill>
                  <a:srgbClr val="000000"/>
                </a:solidFill>
                <a:latin typeface="Arial"/>
                <a:ea typeface="Arial"/>
              </a:rPr>
              <a:t>Puzzle </a:t>
            </a:r>
            <a:r>
              <a:rPr b="0" lang="en-US" sz="1100" spc="-1" strike="noStrike">
                <a:solidFill>
                  <a:srgbClr val="000000"/>
                </a:solidFill>
                <a:latin typeface="Arial"/>
                <a:ea typeface="Arial"/>
              </a:rPr>
              <a:t>or </a:t>
            </a:r>
            <a:r>
              <a:rPr b="0" lang="en-US" sz="1100" spc="-1" strike="noStrike">
                <a:solidFill>
                  <a:srgbClr val="000000"/>
                </a:solidFill>
                <a:latin typeface="Arial"/>
                <a:ea typeface="Arial"/>
              </a:rPr>
              <a:t>Strateg</a:t>
            </a:r>
            <a:r>
              <a:rPr b="0" lang="en-US" sz="1100" spc="-1" strike="noStrike">
                <a:solidFill>
                  <a:srgbClr val="000000"/>
                </a:solidFill>
                <a:latin typeface="Arial"/>
                <a:ea typeface="Arial"/>
              </a:rPr>
              <a:t>y game </a:t>
            </a:r>
            <a:r>
              <a:rPr b="0" lang="en-US" sz="1100" spc="-1" strike="noStrike">
                <a:solidFill>
                  <a:srgbClr val="000000"/>
                </a:solidFill>
                <a:latin typeface="Arial"/>
                <a:ea typeface="Arial"/>
              </a:rPr>
              <a:t>is more </a:t>
            </a:r>
            <a:r>
              <a:rPr b="0" lang="en-US" sz="1100" spc="-1" strike="noStrike">
                <a:solidFill>
                  <a:srgbClr val="000000"/>
                </a:solidFill>
                <a:latin typeface="Arial"/>
                <a:ea typeface="Arial"/>
              </a:rPr>
              <a:t>surprisi</a:t>
            </a:r>
            <a:r>
              <a:rPr b="0" lang="en-US" sz="1100" spc="-1" strike="noStrike">
                <a:solidFill>
                  <a:srgbClr val="000000"/>
                </a:solidFill>
                <a:latin typeface="Arial"/>
                <a:ea typeface="Arial"/>
              </a:rPr>
              <a:t>ng than </a:t>
            </a:r>
            <a:r>
              <a:rPr b="0" lang="en-US" sz="1100" spc="-1" strike="noStrike">
                <a:solidFill>
                  <a:srgbClr val="000000"/>
                </a:solidFill>
                <a:latin typeface="Arial"/>
                <a:ea typeface="Arial"/>
              </a:rPr>
              <a:t>yet </a:t>
            </a:r>
            <a:r>
              <a:rPr b="0" lang="en-US" sz="1100" spc="-1" strike="noStrike">
                <a:solidFill>
                  <a:srgbClr val="000000"/>
                </a:solidFill>
                <a:latin typeface="Arial"/>
                <a:ea typeface="Arial"/>
              </a:rPr>
              <a:t>another </a:t>
            </a:r>
            <a:r>
              <a:rPr b="0" lang="en-US" sz="1100" spc="-1" strike="noStrike">
                <a:solidFill>
                  <a:srgbClr val="000000"/>
                </a:solidFill>
                <a:latin typeface="Arial"/>
                <a:ea typeface="Arial"/>
              </a:rPr>
              <a:t>Action </a:t>
            </a:r>
            <a:r>
              <a:rPr b="0" lang="en-US" sz="1100" spc="-1" strike="noStrike">
                <a:solidFill>
                  <a:srgbClr val="000000"/>
                </a:solidFill>
                <a:latin typeface="Arial"/>
                <a:ea typeface="Arial"/>
              </a:rPr>
              <a:t>title. In </a:t>
            </a:r>
            <a:r>
              <a:rPr b="0" lang="en-US" sz="1100" spc="-1" strike="noStrike">
                <a:solidFill>
                  <a:srgbClr val="000000"/>
                </a:solidFill>
                <a:latin typeface="Arial"/>
                <a:ea typeface="Arial"/>
              </a:rPr>
              <a:t>principle </a:t>
            </a:r>
            <a:r>
              <a:rPr b="0" lang="en-US" sz="1100" spc="-1" strike="noStrike">
                <a:solidFill>
                  <a:srgbClr val="000000"/>
                </a:solidFill>
                <a:latin typeface="Arial"/>
                <a:ea typeface="Arial"/>
              </a:rPr>
              <a:t>I could </a:t>
            </a:r>
            <a:r>
              <a:rPr b="0" lang="en-US" sz="1100" spc="-1" strike="noStrike">
                <a:solidFill>
                  <a:srgbClr val="000000"/>
                </a:solidFill>
                <a:latin typeface="Arial"/>
                <a:ea typeface="Arial"/>
              </a:rPr>
              <a:t>have </a:t>
            </a:r>
            <a:r>
              <a:rPr b="0" lang="en-US" sz="1100" spc="-1" strike="noStrike">
                <a:solidFill>
                  <a:srgbClr val="000000"/>
                </a:solidFill>
                <a:latin typeface="Arial"/>
                <a:ea typeface="Arial"/>
              </a:rPr>
              <a:t>used </a:t>
            </a:r>
            <a:r>
              <a:rPr b="0" lang="en-US" sz="1100" spc="-1" strike="noStrike">
                <a:solidFill>
                  <a:srgbClr val="000000"/>
                </a:solidFill>
                <a:latin typeface="Arial"/>
                <a:ea typeface="Arial"/>
              </a:rPr>
              <a:t>other </a:t>
            </a:r>
            <a:r>
              <a:rPr b="0" lang="en-US" sz="1100" spc="-1" strike="noStrike">
                <a:solidFill>
                  <a:srgbClr val="000000"/>
                </a:solidFill>
                <a:latin typeface="Arial"/>
                <a:ea typeface="Arial"/>
              </a:rPr>
              <a:t>signals, </a:t>
            </a:r>
            <a:r>
              <a:rPr b="0" lang="en-US" sz="1100" spc="-1" strike="noStrike">
                <a:solidFill>
                  <a:srgbClr val="000000"/>
                </a:solidFill>
                <a:latin typeface="Arial"/>
                <a:ea typeface="Arial"/>
              </a:rPr>
              <a:t>like </a:t>
            </a:r>
            <a:r>
              <a:rPr b="0" lang="en-US" sz="1100" spc="-1" strike="noStrike">
                <a:solidFill>
                  <a:srgbClr val="000000"/>
                </a:solidFill>
                <a:latin typeface="Arial"/>
                <a:ea typeface="Arial"/>
              </a:rPr>
              <a:t>tags, </a:t>
            </a:r>
            <a:r>
              <a:rPr b="0" lang="en-US" sz="1100" spc="-1" strike="noStrike">
                <a:solidFill>
                  <a:srgbClr val="000000"/>
                </a:solidFill>
                <a:latin typeface="Arial"/>
                <a:ea typeface="Arial"/>
              </a:rPr>
              <a:t>playtime </a:t>
            </a:r>
            <a:r>
              <a:rPr b="0" lang="en-US" sz="1100" spc="-1" strike="noStrike">
                <a:solidFill>
                  <a:srgbClr val="000000"/>
                </a:solidFill>
                <a:latin typeface="Arial"/>
                <a:ea typeface="Arial"/>
              </a:rPr>
              <a:t>patterns</a:t>
            </a:r>
            <a:r>
              <a:rPr b="0" lang="en-US" sz="1100" spc="-1" strike="noStrike">
                <a:solidFill>
                  <a:srgbClr val="000000"/>
                </a:solidFill>
                <a:latin typeface="Arial"/>
                <a:ea typeface="Arial"/>
              </a:rPr>
              <a:t>, but </a:t>
            </a:r>
            <a:r>
              <a:rPr b="0" lang="en-US" sz="1100" spc="-1" strike="noStrike">
                <a:solidFill>
                  <a:srgbClr val="000000"/>
                </a:solidFill>
                <a:latin typeface="Arial"/>
                <a:ea typeface="Arial"/>
              </a:rPr>
              <a:t>genres </a:t>
            </a:r>
            <a:r>
              <a:rPr b="0" lang="en-US" sz="1100" spc="-1" strike="noStrike">
                <a:solidFill>
                  <a:srgbClr val="000000"/>
                </a:solidFill>
                <a:latin typeface="Arial"/>
                <a:ea typeface="Arial"/>
              </a:rPr>
              <a:t>are </a:t>
            </a:r>
            <a:r>
              <a:rPr b="0" lang="en-US" sz="1100" spc="-1" strike="noStrike">
                <a:solidFill>
                  <a:srgbClr val="000000"/>
                </a:solidFill>
                <a:latin typeface="Arial"/>
                <a:ea typeface="Arial"/>
              </a:rPr>
              <a:t>simple </a:t>
            </a:r>
            <a:r>
              <a:rPr b="0" lang="en-US" sz="1100" spc="-1" strike="noStrike">
                <a:solidFill>
                  <a:srgbClr val="000000"/>
                </a:solidFill>
                <a:latin typeface="Arial"/>
                <a:ea typeface="Arial"/>
              </a:rPr>
              <a:t>which </a:t>
            </a:r>
            <a:r>
              <a:rPr b="0" lang="en-US" sz="1100" spc="-1" strike="noStrike">
                <a:solidFill>
                  <a:srgbClr val="000000"/>
                </a:solidFill>
                <a:latin typeface="Arial"/>
                <a:ea typeface="Arial"/>
              </a:rPr>
              <a:t>keeps </a:t>
            </a:r>
            <a:r>
              <a:rPr b="0" lang="en-US" sz="1100" spc="-1" strike="noStrike">
                <a:solidFill>
                  <a:srgbClr val="000000"/>
                </a:solidFill>
                <a:latin typeface="Arial"/>
                <a:ea typeface="Arial"/>
              </a:rPr>
              <a:t>the </a:t>
            </a:r>
            <a:r>
              <a:rPr b="0" lang="en-US" sz="1100" spc="-1" strike="noStrike">
                <a:solidFill>
                  <a:srgbClr val="000000"/>
                </a:solidFill>
                <a:latin typeface="Arial"/>
                <a:ea typeface="Arial"/>
              </a:rPr>
              <a:t>analysis </a:t>
            </a:r>
            <a:r>
              <a:rPr b="0" lang="en-US" sz="1100" spc="-1" strike="noStrike">
                <a:solidFill>
                  <a:srgbClr val="000000"/>
                </a:solidFill>
                <a:latin typeface="Arial"/>
                <a:ea typeface="Arial"/>
              </a:rPr>
              <a:t>focused</a:t>
            </a:r>
            <a:r>
              <a:rPr b="0" lang="en-US" sz="1100" spc="-1" strike="noStrike">
                <a:solidFill>
                  <a:srgbClr val="000000"/>
                </a:solidFill>
                <a:latin typeface="Arial"/>
                <a:ea typeface="Arial"/>
              </a:rPr>
              <a:t>.</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[RQ]; This </a:t>
            </a:r>
            <a:r>
              <a:rPr b="0" lang="en-US" sz="1100" spc="-1" strike="noStrike">
                <a:solidFill>
                  <a:srgbClr val="000000"/>
                </a:solidFill>
                <a:latin typeface="Arial"/>
                <a:ea typeface="Arial"/>
              </a:rPr>
              <a:t>is a </a:t>
            </a:r>
            <a:r>
              <a:rPr b="0" lang="en-US" sz="1100" spc="-1" strike="noStrike">
                <a:solidFill>
                  <a:srgbClr val="000000"/>
                </a:solidFill>
                <a:latin typeface="Arial"/>
                <a:ea typeface="Arial"/>
              </a:rPr>
              <a:t>follow </a:t>
            </a:r>
            <a:r>
              <a:rPr b="0" lang="en-US" sz="1100" spc="-1" strike="noStrike">
                <a:solidFill>
                  <a:srgbClr val="000000"/>
                </a:solidFill>
                <a:latin typeface="Arial"/>
                <a:ea typeface="Arial"/>
              </a:rPr>
              <a:t>up to </a:t>
            </a:r>
            <a:r>
              <a:rPr b="0" lang="en-US" sz="1100" spc="-1" strike="noStrike">
                <a:solidFill>
                  <a:srgbClr val="000000"/>
                </a:solidFill>
                <a:latin typeface="Arial"/>
                <a:ea typeface="Arial"/>
              </a:rPr>
              <a:t>the first </a:t>
            </a:r>
            <a:r>
              <a:rPr b="0" lang="en-US" sz="1100" spc="-1" strike="noStrike">
                <a:solidFill>
                  <a:srgbClr val="000000"/>
                </a:solidFill>
                <a:latin typeface="Arial"/>
                <a:ea typeface="Arial"/>
              </a:rPr>
              <a:t>RQ </a:t>
            </a:r>
            <a:r>
              <a:rPr b="0" lang="en-US" sz="1100" spc="-1" strike="noStrike">
                <a:solidFill>
                  <a:srgbClr val="000000"/>
                </a:solidFill>
                <a:latin typeface="Arial"/>
                <a:ea typeface="Arial"/>
              </a:rPr>
              <a:t>where </a:t>
            </a:r>
            <a:r>
              <a:rPr b="0" lang="en-US" sz="1100" spc="-1" strike="noStrike">
                <a:solidFill>
                  <a:srgbClr val="000000"/>
                </a:solidFill>
                <a:latin typeface="Arial"/>
                <a:ea typeface="Arial"/>
              </a:rPr>
              <a:t>we use </a:t>
            </a:r>
            <a:r>
              <a:rPr b="0" lang="en-US" sz="1100" spc="-1" strike="noStrike">
                <a:solidFill>
                  <a:srgbClr val="000000"/>
                </a:solidFill>
                <a:latin typeface="Arial"/>
                <a:ea typeface="Arial"/>
              </a:rPr>
              <a:t>a single </a:t>
            </a:r>
            <a:r>
              <a:rPr b="0" lang="en-US" sz="1100" spc="-1" strike="noStrike">
                <a:solidFill>
                  <a:srgbClr val="000000"/>
                </a:solidFill>
                <a:latin typeface="Arial"/>
                <a:ea typeface="Arial"/>
              </a:rPr>
              <a:t>global </a:t>
            </a:r>
            <a:r>
              <a:rPr b="0" lang="en-US" sz="1100" spc="-1" strike="noStrike">
                <a:solidFill>
                  <a:srgbClr val="000000"/>
                </a:solidFill>
                <a:latin typeface="Arial"/>
                <a:ea typeface="Arial"/>
              </a:rPr>
              <a:t>weight </a:t>
            </a:r>
            <a:r>
              <a:rPr b="0" lang="en-US" sz="1100" spc="-1" strike="noStrike">
                <a:solidFill>
                  <a:srgbClr val="000000"/>
                </a:solidFill>
                <a:latin typeface="Arial"/>
                <a:ea typeface="Arial"/>
              </a:rPr>
              <a:t>for all </a:t>
            </a:r>
            <a:r>
              <a:rPr b="0" lang="en-US" sz="1100" spc="-1" strike="noStrike">
                <a:solidFill>
                  <a:srgbClr val="000000"/>
                </a:solidFill>
                <a:latin typeface="Arial"/>
                <a:ea typeface="Arial"/>
              </a:rPr>
              <a:t>users, </a:t>
            </a:r>
            <a:r>
              <a:rPr b="0" lang="en-US" sz="1100" spc="-1" strike="noStrike">
                <a:solidFill>
                  <a:srgbClr val="000000"/>
                </a:solidFill>
                <a:latin typeface="Arial"/>
                <a:ea typeface="Arial"/>
              </a:rPr>
              <a:t>wherea</a:t>
            </a:r>
            <a:r>
              <a:rPr b="0" lang="en-US" sz="1100" spc="-1" strike="noStrike">
                <a:solidFill>
                  <a:srgbClr val="000000"/>
                </a:solidFill>
                <a:latin typeface="Arial"/>
                <a:ea typeface="Arial"/>
              </a:rPr>
              <a:t>s here </a:t>
            </a:r>
            <a:r>
              <a:rPr b="0" lang="en-US" sz="1100" spc="-1" strike="noStrike">
                <a:solidFill>
                  <a:srgbClr val="000000"/>
                </a:solidFill>
                <a:latin typeface="Arial"/>
                <a:ea typeface="Arial"/>
              </a:rPr>
              <a:t>we put </a:t>
            </a:r>
            <a:r>
              <a:rPr b="0" lang="en-US" sz="1100" spc="-1" strike="noStrike">
                <a:solidFill>
                  <a:srgbClr val="000000"/>
                </a:solidFill>
                <a:latin typeface="Arial"/>
                <a:ea typeface="Arial"/>
              </a:rPr>
              <a:t>users in </a:t>
            </a:r>
            <a:r>
              <a:rPr b="0" lang="en-US" sz="1100" spc="-1" strike="noStrike">
                <a:solidFill>
                  <a:srgbClr val="000000"/>
                </a:solidFill>
                <a:latin typeface="Arial"/>
                <a:ea typeface="Arial"/>
              </a:rPr>
              <a:t>certain </a:t>
            </a:r>
            <a:r>
              <a:rPr b="0" lang="en-US" sz="1100" spc="-1" strike="noStrike">
                <a:solidFill>
                  <a:srgbClr val="000000"/>
                </a:solidFill>
                <a:latin typeface="Arial"/>
                <a:ea typeface="Arial"/>
              </a:rPr>
              <a:t>groups </a:t>
            </a:r>
            <a:r>
              <a:rPr b="0" lang="en-US" sz="1100" spc="-1" strike="noStrike">
                <a:solidFill>
                  <a:srgbClr val="000000"/>
                </a:solidFill>
                <a:latin typeface="Arial"/>
                <a:ea typeface="Arial"/>
              </a:rPr>
              <a:t>where </a:t>
            </a:r>
            <a:r>
              <a:rPr b="0" lang="en-US" sz="1100" spc="-1" strike="noStrike">
                <a:solidFill>
                  <a:srgbClr val="000000"/>
                </a:solidFill>
                <a:latin typeface="Arial"/>
                <a:ea typeface="Arial"/>
              </a:rPr>
              <a:t>each </a:t>
            </a:r>
            <a:r>
              <a:rPr b="0" lang="en-US" sz="1100" spc="-1" strike="noStrike">
                <a:solidFill>
                  <a:srgbClr val="000000"/>
                </a:solidFill>
                <a:latin typeface="Arial"/>
                <a:ea typeface="Arial"/>
              </a:rPr>
              <a:t>group </a:t>
            </a:r>
            <a:r>
              <a:rPr b="0" lang="en-US" sz="1100" spc="-1" strike="noStrike">
                <a:solidFill>
                  <a:srgbClr val="000000"/>
                </a:solidFill>
                <a:latin typeface="Arial"/>
                <a:ea typeface="Arial"/>
              </a:rPr>
              <a:t>has a </a:t>
            </a:r>
            <a:r>
              <a:rPr b="0" lang="en-US" sz="1100" spc="-1" strike="noStrike">
                <a:solidFill>
                  <a:srgbClr val="000000"/>
                </a:solidFill>
                <a:latin typeface="Arial"/>
                <a:ea typeface="Arial"/>
              </a:rPr>
              <a:t>certain </a:t>
            </a:r>
            <a:r>
              <a:rPr b="0" lang="en-US" sz="1100" spc="-1" strike="noStrike">
                <a:solidFill>
                  <a:srgbClr val="000000"/>
                </a:solidFill>
                <a:latin typeface="Arial"/>
                <a:ea typeface="Arial"/>
              </a:rPr>
              <a:t>novelty </a:t>
            </a:r>
            <a:r>
              <a:rPr b="0" lang="en-US" sz="1100" spc="-1" strike="noStrike">
                <a:solidFill>
                  <a:srgbClr val="000000"/>
                </a:solidFill>
                <a:latin typeface="Arial"/>
                <a:ea typeface="Arial"/>
              </a:rPr>
              <a:t>weight.</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Throughout </a:t>
            </a:r>
            <a:r>
              <a:rPr b="0" lang="en-US" sz="1100" spc="-1" strike="noStrike">
                <a:solidFill>
                  <a:srgbClr val="000000"/>
                </a:solidFill>
                <a:latin typeface="Arial"/>
                <a:ea typeface="Arial"/>
              </a:rPr>
              <a:t>this, I </a:t>
            </a:r>
            <a:r>
              <a:rPr b="0" lang="en-US" sz="1100" spc="-1" strike="noStrike">
                <a:solidFill>
                  <a:srgbClr val="000000"/>
                </a:solidFill>
                <a:latin typeface="Arial"/>
                <a:ea typeface="Arial"/>
              </a:rPr>
              <a:t>use </a:t>
            </a:r>
            <a:r>
              <a:rPr b="0" lang="en-US" sz="1100" spc="-1" strike="noStrike">
                <a:solidFill>
                  <a:srgbClr val="000000"/>
                </a:solidFill>
                <a:latin typeface="Arial"/>
                <a:ea typeface="Arial"/>
              </a:rPr>
              <a:t>EASE </a:t>
            </a:r>
            <a:r>
              <a:rPr b="0" lang="en-US" sz="1100" spc="-1" strike="noStrike">
                <a:solidFill>
                  <a:srgbClr val="000000"/>
                </a:solidFill>
                <a:latin typeface="Arial"/>
                <a:ea typeface="Arial"/>
              </a:rPr>
              <a:t>as the </a:t>
            </a:r>
            <a:r>
              <a:rPr b="0" lang="en-US" sz="1100" spc="-1" strike="noStrike">
                <a:solidFill>
                  <a:srgbClr val="000000"/>
                </a:solidFill>
                <a:latin typeface="Arial"/>
                <a:ea typeface="Arial"/>
              </a:rPr>
              <a:t>baseline </a:t>
            </a:r>
            <a:r>
              <a:rPr b="0" lang="en-US" sz="1100" spc="-1" strike="noStrike">
                <a:solidFill>
                  <a:srgbClr val="000000"/>
                </a:solidFill>
                <a:latin typeface="Arial"/>
                <a:ea typeface="Arial"/>
              </a:rPr>
              <a:t>model, </a:t>
            </a:r>
            <a:r>
              <a:rPr b="0" lang="en-US" sz="1100" spc="-1" strike="noStrike">
                <a:solidFill>
                  <a:srgbClr val="000000"/>
                </a:solidFill>
                <a:latin typeface="Arial"/>
                <a:ea typeface="Arial"/>
              </a:rPr>
              <a:t>becaus</a:t>
            </a:r>
            <a:r>
              <a:rPr b="0" lang="en-US" sz="1100" spc="-1" strike="noStrike">
                <a:solidFill>
                  <a:srgbClr val="000000"/>
                </a:solidFill>
                <a:latin typeface="Arial"/>
                <a:ea typeface="Arial"/>
              </a:rPr>
              <a:t>e it is </a:t>
            </a:r>
            <a:r>
              <a:rPr b="0" lang="en-US" sz="1100" spc="-1" strike="noStrike">
                <a:solidFill>
                  <a:srgbClr val="000000"/>
                </a:solidFill>
                <a:latin typeface="Arial"/>
                <a:ea typeface="Arial"/>
              </a:rPr>
              <a:t>well </a:t>
            </a:r>
            <a:r>
              <a:rPr b="0" lang="en-US" sz="1100" spc="-1" strike="noStrike">
                <a:solidFill>
                  <a:srgbClr val="000000"/>
                </a:solidFill>
                <a:latin typeface="Arial"/>
                <a:ea typeface="Arial"/>
              </a:rPr>
              <a:t>underst</a:t>
            </a:r>
            <a:r>
              <a:rPr b="0" lang="en-US" sz="1100" spc="-1" strike="noStrike">
                <a:solidFill>
                  <a:srgbClr val="000000"/>
                </a:solidFill>
                <a:latin typeface="Arial"/>
                <a:ea typeface="Arial"/>
              </a:rPr>
              <a:t>ood </a:t>
            </a:r>
            <a:r>
              <a:rPr b="0" lang="en-US" sz="1100" spc="-1" strike="noStrike">
                <a:solidFill>
                  <a:srgbClr val="000000"/>
                </a:solidFill>
                <a:latin typeface="Arial"/>
                <a:ea typeface="Arial"/>
              </a:rPr>
              <a:t>method </a:t>
            </a:r>
            <a:r>
              <a:rPr b="0" lang="en-US" sz="1100" spc="-1" strike="noStrike">
                <a:solidFill>
                  <a:srgbClr val="000000"/>
                </a:solidFill>
                <a:latin typeface="Arial"/>
                <a:ea typeface="Arial"/>
              </a:rPr>
              <a:t>for </a:t>
            </a:r>
            <a:r>
              <a:rPr b="0" lang="en-US" sz="1100" spc="-1" strike="noStrike">
                <a:solidFill>
                  <a:srgbClr val="000000"/>
                </a:solidFill>
                <a:latin typeface="Arial"/>
                <a:ea typeface="Arial"/>
              </a:rPr>
              <a:t>implicit </a:t>
            </a:r>
            <a:r>
              <a:rPr b="0" lang="en-US" sz="1100" spc="-1" strike="noStrike">
                <a:solidFill>
                  <a:srgbClr val="000000"/>
                </a:solidFill>
                <a:latin typeface="Arial"/>
                <a:ea typeface="Arial"/>
              </a:rPr>
              <a:t>feedbac</a:t>
            </a:r>
            <a:r>
              <a:rPr b="0" lang="en-US" sz="1100" spc="-1" strike="noStrike">
                <a:solidFill>
                  <a:srgbClr val="000000"/>
                </a:solidFill>
                <a:latin typeface="Arial"/>
                <a:ea typeface="Arial"/>
              </a:rPr>
              <a:t>k. That </a:t>
            </a:r>
            <a:r>
              <a:rPr b="0" lang="en-US" sz="1100" spc="-1" strike="noStrike">
                <a:solidFill>
                  <a:srgbClr val="000000"/>
                </a:solidFill>
                <a:latin typeface="Arial"/>
                <a:ea typeface="Arial"/>
              </a:rPr>
              <a:t>makes </a:t>
            </a:r>
            <a:r>
              <a:rPr b="0" lang="en-US" sz="1100" spc="-1" strike="noStrike">
                <a:solidFill>
                  <a:srgbClr val="000000"/>
                </a:solidFill>
                <a:latin typeface="Arial"/>
                <a:ea typeface="Arial"/>
              </a:rPr>
              <a:t>it easier </a:t>
            </a:r>
            <a:r>
              <a:rPr b="0" lang="en-US" sz="1100" spc="-1" strike="noStrike">
                <a:solidFill>
                  <a:srgbClr val="000000"/>
                </a:solidFill>
                <a:latin typeface="Arial"/>
                <a:ea typeface="Arial"/>
              </a:rPr>
              <a:t>to study </a:t>
            </a:r>
            <a:r>
              <a:rPr b="0" lang="en-US" sz="1100" spc="-1" strike="noStrike">
                <a:solidFill>
                  <a:srgbClr val="000000"/>
                </a:solidFill>
                <a:latin typeface="Arial"/>
                <a:ea typeface="Arial"/>
              </a:rPr>
              <a:t>the </a:t>
            </a:r>
            <a:r>
              <a:rPr b="0" lang="en-US" sz="1100" spc="-1" strike="noStrike">
                <a:solidFill>
                  <a:srgbClr val="000000"/>
                </a:solidFill>
                <a:latin typeface="Arial"/>
                <a:ea typeface="Arial"/>
              </a:rPr>
              <a:t>effect of </a:t>
            </a:r>
            <a:r>
              <a:rPr b="0" lang="en-US" sz="1100" spc="-1" strike="noStrike">
                <a:solidFill>
                  <a:srgbClr val="000000"/>
                </a:solidFill>
                <a:latin typeface="Arial"/>
                <a:ea typeface="Arial"/>
              </a:rPr>
              <a:t>the </a:t>
            </a:r>
            <a:r>
              <a:rPr b="0" lang="en-US" sz="1100" spc="-1" strike="noStrike">
                <a:solidFill>
                  <a:srgbClr val="000000"/>
                </a:solidFill>
                <a:latin typeface="Arial"/>
                <a:ea typeface="Arial"/>
              </a:rPr>
              <a:t>novelty.</a:t>
            </a:r>
            <a:endParaRPr b="0" lang="en-US" sz="1100" spc="-1" strike="noStrike">
              <a:latin typeface="Arial"/>
            </a:endParaRPr>
          </a:p>
        </p:txBody>
      </p:sp>
      <p:sp>
        <p:nvSpPr>
          <p:cNvPr id="197" name="PlaceHolder 2"/>
          <p:cNvSpPr>
            <a:spLocks noGrp="1"/>
          </p:cNvSpPr>
          <p:nvPr>
            <p:ph type="sldImg"/>
          </p:nvPr>
        </p:nvSpPr>
        <p:spPr>
          <a:xfrm>
            <a:off x="380880" y="685800"/>
            <a:ext cx="6095160" cy="3428280"/>
          </a:xfrm>
          <a:prstGeom prst="rect">
            <a:avLst/>
          </a:prstGeom>
          <a:ln w="0">
            <a:noFill/>
          </a:ln>
        </p:spPr>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8"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solidFill>
                  <a:srgbClr val="000000"/>
                </a:solidFill>
                <a:latin typeface="Arial"/>
                <a:ea typeface="Arial"/>
              </a:rPr>
              <a:t>This slide shows the full pipeline I used to answer the research questions.</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First, I build a standard user item interaction matrix from the implicit data. Each row corresponds to a user, each column to a game, and a 1 means that user has interacted with that game.</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On top of this matrix I train the EASE baseline model. Its only hyperparameter is a regularization lambda, which controls how much we smooth the item-item correlations. </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I ran a lambda sweep and found that λ equal to 300 gives a strong NDCG on Codabench evaluation, so I use 300 for my baseline and for the other experiments.</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Next, I compute genre based similarities and distances. Each game gets a genre vector, and from that I compute cosine similarity and distance.</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Then I compute an item to history novelty score for each candidate game and each user, and then re-rank the EASE list. </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I test both a global novelty weight for all users and user specific novelty weights.</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Finally, I evaluate and then discuss the tradeoffs to answer my RQs.</a:t>
            </a:r>
            <a:endParaRPr b="0" lang="en-US" sz="1100" spc="-1" strike="noStrike">
              <a:latin typeface="Arial"/>
            </a:endParaRPr>
          </a:p>
        </p:txBody>
      </p:sp>
      <p:sp>
        <p:nvSpPr>
          <p:cNvPr id="199" name="PlaceHolder 2"/>
          <p:cNvSpPr>
            <a:spLocks noGrp="1"/>
          </p:cNvSpPr>
          <p:nvPr>
            <p:ph type="sldImg"/>
          </p:nvPr>
        </p:nvSpPr>
        <p:spPr>
          <a:xfrm>
            <a:off x="380880" y="685800"/>
            <a:ext cx="6095160" cy="3428280"/>
          </a:xfrm>
          <a:prstGeom prst="rect">
            <a:avLst/>
          </a:prstGeom>
          <a:ln w="0">
            <a:noFill/>
          </a:ln>
        </p:spPr>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solidFill>
                  <a:srgbClr val="000000"/>
                </a:solidFill>
                <a:latin typeface="Arial"/>
                <a:ea typeface="Arial"/>
              </a:rPr>
              <a:t>Here I tune the parameter lambda for EASE. Using Offline evaluation based on a subset of users, both NDCG and recall increase when I move away from very small lambda, peak roughly around 150, and then slowly decline.</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I also checked a few values on Codabench, and there lambda equal to 300 gave the best NDCG. So for the rest of the project I fix lambda at 300.</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i="1" lang="en-US" sz="1100" spc="-1" strike="noStrike">
                <a:solidFill>
                  <a:srgbClr val="000000"/>
                </a:solidFill>
                <a:latin typeface="Arial"/>
                <a:ea typeface="Arial"/>
              </a:rPr>
              <a:t>“”</a:t>
            </a:r>
            <a:r>
              <a:rPr b="0" i="1" lang="en-US" sz="1100" spc="-1" strike="noStrike">
                <a:solidFill>
                  <a:srgbClr val="000000"/>
                </a:solidFill>
                <a:latin typeface="Arial"/>
                <a:ea typeface="Arial"/>
              </a:rPr>
              <a:t>As λ increases, stronger regularization pushes many item weights toward zero. The model then plays it safe by recommending fewer, more frequent items, so item coverage drops.</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i="1" lang="en-US" sz="1100" spc="-1" strike="noStrike">
                <a:solidFill>
                  <a:srgbClr val="000000"/>
                </a:solidFill>
                <a:latin typeface="Arial"/>
                <a:ea typeface="Arial"/>
              </a:rPr>
              <a:t>For the same reason, recommendations concentrate on a small set of popular items. That makes the distribution more unequal, so the item Gini coefficient increases.</a:t>
            </a:r>
            <a:endParaRPr b="0" lang="en-US" sz="1100" spc="-1" strike="noStrike">
              <a:latin typeface="Arial"/>
            </a:endParaRPr>
          </a:p>
          <a:p>
            <a:pPr marL="216000" indent="-216000">
              <a:lnSpc>
                <a:spcPct val="100000"/>
              </a:lnSpc>
              <a:buNone/>
              <a:tabLst>
                <a:tab algn="l" pos="0"/>
              </a:tabLst>
            </a:pPr>
            <a:r>
              <a:rPr b="0" i="1" lang="en-US" sz="1100" spc="-1" strike="noStrike">
                <a:solidFill>
                  <a:srgbClr val="000000"/>
                </a:solidFill>
                <a:latin typeface="Arial"/>
                <a:ea typeface="Arial"/>
              </a:rPr>
              <a:t>“”</a:t>
            </a:r>
            <a:endParaRPr b="0" lang="en-US" sz="1100" spc="-1" strike="noStrike">
              <a:latin typeface="Arial"/>
            </a:endParaRPr>
          </a:p>
        </p:txBody>
      </p:sp>
      <p:sp>
        <p:nvSpPr>
          <p:cNvPr id="201" name="PlaceHolder 2"/>
          <p:cNvSpPr>
            <a:spLocks noGrp="1"/>
          </p:cNvSpPr>
          <p:nvPr>
            <p:ph type="sldImg"/>
          </p:nvPr>
        </p:nvSpPr>
        <p:spPr>
          <a:xfrm>
            <a:off x="380880" y="685800"/>
            <a:ext cx="6095160" cy="3428280"/>
          </a:xfrm>
          <a:prstGeom prst="rect">
            <a:avLst/>
          </a:prstGeom>
          <a:ln w="0">
            <a:noFill/>
          </a:ln>
        </p:spPr>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solidFill>
                  <a:srgbClr val="000000"/>
                </a:solidFill>
                <a:latin typeface="Arial"/>
                <a:ea typeface="Arial"/>
              </a:rPr>
              <a:t>Here I summarize how EASE actually works.</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The starting point is the interaction matrix X, where each row is a user and each column is an item. </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If a user has played a game at least once, the entry is 1, otherwise 0.</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For example, user u2 has interacted with item 0 and item 3, so their row is basically "1, 0, 0, 1". </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From that matrix we build an item-item co-occurrence matrix. You can think of this as counting how often games are played by users. </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The diagonal is how many users played a given game, and the off diagonal entries tell us how often two games appear together in people’s histories. </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Next EASE adds a regularization constant lambda on the diagonal of that co-occurrence matrix to make the inversion stable and to avoid overfitting. </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a:t>
            </a:r>
            <a:r>
              <a:rPr b="0" lang="en-US" sz="1100" spc="-1" strike="noStrike">
                <a:solidFill>
                  <a:srgbClr val="000000"/>
                </a:solidFill>
                <a:latin typeface="Arial"/>
                <a:ea typeface="Arial"/>
              </a:rPr>
              <a:t>Small λ lets the model follow the data very closely, which can overfit to rare co occurrences.</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Larger λ shrinks the item item weights and smooths them, which makes the inverse more stable and the recommendations less noisy.</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After inverting it, we derive an item-item weight matrix B. </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Each row of B says: to predict interest in this game, how much do the other games contribute. We explicitly zero the diagonal so a game is not allowed to recommend itself.</a:t>
            </a:r>
            <a:endParaRPr b="0" lang="en-US" sz="1100" spc="-1" strike="noStrike">
              <a:latin typeface="Arial"/>
            </a:endParaRPr>
          </a:p>
        </p:txBody>
      </p:sp>
      <p:sp>
        <p:nvSpPr>
          <p:cNvPr id="203" name="PlaceHolder 2"/>
          <p:cNvSpPr>
            <a:spLocks noGrp="1"/>
          </p:cNvSpPr>
          <p:nvPr>
            <p:ph type="sldImg"/>
          </p:nvPr>
        </p:nvSpPr>
        <p:spPr>
          <a:xfrm>
            <a:off x="380880" y="685800"/>
            <a:ext cx="6095160" cy="3428280"/>
          </a:xfrm>
          <a:prstGeom prst="rect">
            <a:avLst/>
          </a:prstGeom>
          <a:ln w="0">
            <a:noFill/>
          </a:ln>
        </p:spPr>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4"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solidFill>
                  <a:srgbClr val="000000"/>
                </a:solidFill>
                <a:latin typeface="Arial"/>
                <a:ea typeface="Arial"/>
              </a:rPr>
              <a:t>To score a user like u2, we take their interaction row ("1, 0, 0, 1") and combine it with matrix B. </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The model looks at all games u2 has played and sums up how strongly they point to every other game. This produces one score per game. </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Then we set the scores of already played games (here items 0 and 3) to a very low value so they will never be recommended. </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Finally we sort the remaining games by score and take the top K. For u2, that would mean items 2 and 1 come out on top as new recommendations.</a:t>
            </a:r>
            <a:endParaRPr b="0" lang="en-US" sz="1100" spc="-1" strike="noStrike">
              <a:latin typeface="Arial"/>
            </a:endParaRPr>
          </a:p>
        </p:txBody>
      </p:sp>
      <p:sp>
        <p:nvSpPr>
          <p:cNvPr id="205" name="PlaceHolder 2"/>
          <p:cNvSpPr>
            <a:spLocks noGrp="1"/>
          </p:cNvSpPr>
          <p:nvPr>
            <p:ph type="sldImg"/>
          </p:nvPr>
        </p:nvSpPr>
        <p:spPr>
          <a:xfrm>
            <a:off x="380880" y="685800"/>
            <a:ext cx="6095160" cy="3428280"/>
          </a:xfrm>
          <a:prstGeom prst="rect">
            <a:avLst/>
          </a:prstGeom>
          <a:ln w="0">
            <a:noFill/>
          </a:ln>
        </p:spPr>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solidFill>
                  <a:srgbClr val="000000"/>
                </a:solidFill>
                <a:latin typeface="Arial"/>
                <a:ea typeface="Arial"/>
              </a:rPr>
              <a:t>To measure novelty I use the genres of each game. Every game has one or more genres, like Action, RPG or Strategy. I turn that into a simple vector of zeros and ones, where one means the game has that genre.</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For a given user and a candidate game, I look at all the games in that user’s history. I compare the candidate’s genre vector with each of those using cosine similarity. </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If the genres overlap a lot the similarity is high otherwise its lower. I then turn that into a distance by doing one minus the similarity, so higher distance means the game is more different from what they usually play.</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For that candidate game I take the average of these distances over all games in the user’s history. </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That gives me an item to history novelty score.</a:t>
            </a:r>
            <a:endParaRPr b="0" lang="en-US" sz="1100" spc="-1" strike="noStrike">
              <a:latin typeface="Arial"/>
            </a:endParaRPr>
          </a:p>
        </p:txBody>
      </p:sp>
      <p:sp>
        <p:nvSpPr>
          <p:cNvPr id="207" name="PlaceHolder 2"/>
          <p:cNvSpPr>
            <a:spLocks noGrp="1"/>
          </p:cNvSpPr>
          <p:nvPr>
            <p:ph type="sldImg"/>
          </p:nvPr>
        </p:nvSpPr>
        <p:spPr>
          <a:xfrm>
            <a:off x="380880" y="685800"/>
            <a:ext cx="6095160" cy="3428280"/>
          </a:xfrm>
          <a:prstGeom prst="rect">
            <a:avLst/>
          </a:prstGeom>
          <a:ln w="0">
            <a:noFill/>
          </a:ln>
        </p:spPr>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solidFill>
                  <a:srgbClr val="000000"/>
                </a:solidFill>
                <a:latin typeface="Arial"/>
                <a:ea typeface="Arial"/>
              </a:rPr>
              <a:t>This is my baseline model: plain EASE with λ = 300, evaluated on Codabench.</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You can see it reaches an NDCG of about 0.24 and a recall of about 0.45, so it retrieves quite a lot of the relevant games but the ranking quality is more modest.</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Novelty about 0.76, so EASE already gives a good novelty sore.</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Other results will be compared back to this baseline.</a:t>
            </a:r>
            <a:endParaRPr b="0" lang="en-US" sz="1100" spc="-1" strike="noStrike">
              <a:latin typeface="Arial"/>
            </a:endParaRPr>
          </a:p>
        </p:txBody>
      </p:sp>
      <p:sp>
        <p:nvSpPr>
          <p:cNvPr id="209" name="PlaceHolder 2"/>
          <p:cNvSpPr>
            <a:spLocks noGrp="1"/>
          </p:cNvSpPr>
          <p:nvPr>
            <p:ph type="sldImg"/>
          </p:nvPr>
        </p:nvSpPr>
        <p:spPr>
          <a:xfrm>
            <a:off x="380880" y="685800"/>
            <a:ext cx="6095160" cy="3428280"/>
          </a:xfrm>
          <a:prstGeom prst="rect">
            <a:avLst/>
          </a:prstGeom>
          <a:ln w="0">
            <a:noFill/>
          </a:ln>
        </p:spPr>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solidFill>
                  <a:srgbClr val="000000"/>
                </a:solidFill>
                <a:latin typeface="Arial"/>
                <a:ea typeface="Arial"/>
              </a:rPr>
              <a:t>On this slide I explain how I actually use novelty in the ranking.</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First, I take the recommendations produced by EASE for each user. For every candidate game in that list I compute the novelty score based on genres, that measures how different its genres are from the games in that user’s history.</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novelty(u,i): average genre distance between I and all items in the user’s history</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I then adjust the EASE score by adding a weight times the novelty score. When lambda is zero I recover plain EASE. When lambda is larger, more novel games move up in the list. </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In this experiment I use a single global weight for everyone and test several values to see the trade-off.</a:t>
            </a:r>
            <a:endParaRPr b="0" lang="en-US" sz="1100" spc="-1" strike="noStrike">
              <a:latin typeface="Arial"/>
            </a:endParaRPr>
          </a:p>
        </p:txBody>
      </p:sp>
      <p:sp>
        <p:nvSpPr>
          <p:cNvPr id="211" name="PlaceHolder 2"/>
          <p:cNvSpPr>
            <a:spLocks noGrp="1"/>
          </p:cNvSpPr>
          <p:nvPr>
            <p:ph type="sldImg"/>
          </p:nvPr>
        </p:nvSpPr>
        <p:spPr>
          <a:xfrm>
            <a:off x="380880" y="685800"/>
            <a:ext cx="6095160" cy="3428280"/>
          </a:xfrm>
          <a:prstGeom prst="rect">
            <a:avLst/>
          </a:prstGeom>
          <a:ln w="0">
            <a:noFill/>
          </a:ln>
        </p:spPr>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solidFill>
                  <a:srgbClr val="000000"/>
                </a:solidFill>
                <a:latin typeface="Arial"/>
                <a:ea typeface="Arial"/>
              </a:rPr>
              <a:t>On this slide I show what happens when I turn up the global novelty weight lambda.</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In the left plot you see the three metrics as a function of lambda. At zero we are at plain EASE. As I increase lambda, novelty goes up strongly, while both NDCG and recall go down in a smooth way. Around lambda equal to 0.3 I still keep a reasonable NDCG and recall, but novelty is clearly higher than the baseline.</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The right plot shows the same story more compactly. Each point is one lambda, and you can see that every gain in novelty costs some accuracy. This answers the main research question. Genre based item to history novelty gives me a clear accuracy novelty trade off. If I am willing to lose some NDCG, I can systematically push the recommendations toward more novel games.</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p:txBody>
      </p:sp>
      <p:sp>
        <p:nvSpPr>
          <p:cNvPr id="213" name="PlaceHolder 2"/>
          <p:cNvSpPr>
            <a:spLocks noGrp="1"/>
          </p:cNvSpPr>
          <p:nvPr>
            <p:ph type="sldImg"/>
          </p:nvPr>
        </p:nvSpPr>
        <p:spPr>
          <a:xfrm>
            <a:off x="380880" y="685800"/>
            <a:ext cx="6095160" cy="3428280"/>
          </a:xfrm>
          <a:prstGeom prst="rect">
            <a:avLst/>
          </a:prstGeom>
          <a:ln w="0">
            <a:noFill/>
          </a:ln>
        </p:spPr>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solidFill>
                  <a:srgbClr val="000000"/>
                </a:solidFill>
                <a:latin typeface="Arial"/>
                <a:ea typeface="Arial"/>
              </a:rPr>
              <a:t>Up to now I used a single global novelty weight for everyone. For the next research question I give each user their own novelty weight.</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The re-ranking formula stays the same: for every candidate game I take the original EASE score and add λᵤ times the novelty.</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To set λᵤ I try three strategies. First, profile size. I count how many games a user has played. Small profiles get a low λᵤ of 0.10, medium profiles 0.20, and large profiles 0.30. </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Second, based on the entropy of the genres in the user’s history and split users into low, medium and high diversity. Again I assign 0.10, 0.20 or 0.30. </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High diversity users are treated as more open to novel genres.</a:t>
            </a:r>
            <a:endParaRPr b="0" lang="en-US" sz="1100" spc="-1" strike="noStrike">
              <a:latin typeface="Arial"/>
            </a:endParaRPr>
          </a:p>
          <a:p>
            <a:pPr marL="216000" indent="-216000">
              <a:lnSpc>
                <a:spcPct val="100000"/>
              </a:lnSpc>
              <a:buNone/>
              <a:tabLst>
                <a:tab algn="l" pos="0"/>
              </a:tabLst>
            </a:pP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Finally, I have a combined setup that just averages the profile based and genre based weights.</a:t>
            </a:r>
            <a:endParaRPr b="0" lang="en-US" sz="1100" spc="-1" strike="noStrike">
              <a:latin typeface="Arial"/>
            </a:endParaRPr>
          </a:p>
        </p:txBody>
      </p:sp>
      <p:sp>
        <p:nvSpPr>
          <p:cNvPr id="215" name="PlaceHolder 2"/>
          <p:cNvSpPr>
            <a:spLocks noGrp="1"/>
          </p:cNvSpPr>
          <p:nvPr>
            <p:ph type="sldImg"/>
          </p:nvPr>
        </p:nvSpPr>
        <p:spPr>
          <a:xfrm>
            <a:off x="380880" y="685800"/>
            <a:ext cx="6095160" cy="3428280"/>
          </a:xfrm>
          <a:prstGeom prst="rect">
            <a:avLst/>
          </a:prstGeom>
          <a:ln w="0">
            <a:noFill/>
          </a:ln>
        </p:spPr>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solidFill>
                  <a:srgbClr val="000000"/>
                </a:solidFill>
                <a:latin typeface="Arial"/>
                <a:ea typeface="Arial"/>
              </a:rPr>
              <a:t>So the main takeaway from this sub-RQ is that my simple three-group scheme did not improve the overall trade-off as much as I hoped, </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although it still demonstrates how per-user novelty control changes where you sit on the accuracy-novelty curve.</a:t>
            </a:r>
            <a:endParaRPr b="0" lang="en-US" sz="1100" spc="-1" strike="noStrike">
              <a:latin typeface="Arial"/>
            </a:endParaRPr>
          </a:p>
        </p:txBody>
      </p:sp>
      <p:sp>
        <p:nvSpPr>
          <p:cNvPr id="217" name="PlaceHolder 2"/>
          <p:cNvSpPr>
            <a:spLocks noGrp="1"/>
          </p:cNvSpPr>
          <p:nvPr>
            <p:ph type="sldImg"/>
          </p:nvPr>
        </p:nvSpPr>
        <p:spPr>
          <a:xfrm>
            <a:off x="380880" y="685800"/>
            <a:ext cx="6095160" cy="3428280"/>
          </a:xfrm>
          <a:prstGeom prst="rect">
            <a:avLst/>
          </a:prstGeom>
          <a:ln w="0">
            <a:noFill/>
          </a:ln>
        </p:spPr>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body"/>
          </p:nvPr>
        </p:nvSpPr>
        <p:spPr>
          <a:xfrm>
            <a:off x="685800" y="4343400"/>
            <a:ext cx="5485320" cy="4113720"/>
          </a:xfrm>
          <a:prstGeom prst="rect">
            <a:avLst/>
          </a:prstGeom>
          <a:noFill/>
          <a:ln w="0">
            <a:noFill/>
          </a:ln>
        </p:spPr>
        <p:txBody>
          <a:bodyPr lIns="0" rIns="0" tIns="91440" bIns="91440" anchor="t">
            <a:noAutofit/>
          </a:bodyPr>
          <a:p>
            <a:pPr marL="216000" indent="-216000">
              <a:lnSpc>
                <a:spcPct val="100000"/>
              </a:lnSpc>
              <a:buNone/>
              <a:tabLst>
                <a:tab algn="l" pos="0"/>
              </a:tabLst>
            </a:pPr>
            <a:r>
              <a:rPr b="0" lang="en-US" sz="1100" spc="-1" strike="noStrike">
                <a:solidFill>
                  <a:srgbClr val="000000"/>
                </a:solidFill>
                <a:latin typeface="Arial"/>
                <a:ea typeface="Arial"/>
              </a:rPr>
              <a:t>“”</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Other things I could have tried:</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 instead of profile size or genre, maybe avg playtime</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 instead of using buckets where users can be in, I could perhaps learn the best lambda weight per user by doing a validation split</a:t>
            </a:r>
            <a:endParaRPr b="0" lang="en-US" sz="1100" spc="-1" strike="noStrike">
              <a:latin typeface="Arial"/>
            </a:endParaRPr>
          </a:p>
          <a:p>
            <a:pPr marL="216000" indent="-216000">
              <a:lnSpc>
                <a:spcPct val="100000"/>
              </a:lnSpc>
              <a:buNone/>
              <a:tabLst>
                <a:tab algn="l" pos="0"/>
              </a:tabLst>
            </a:pPr>
            <a:r>
              <a:rPr b="0" lang="en-US" sz="1100" spc="-1" strike="noStrike">
                <a:solidFill>
                  <a:srgbClr val="000000"/>
                </a:solidFill>
                <a:latin typeface="Arial"/>
                <a:ea typeface="Arial"/>
              </a:rPr>
              <a:t>””</a:t>
            </a:r>
            <a:endParaRPr b="0" lang="en-US" sz="1100" spc="-1" strike="noStrike">
              <a:latin typeface="Arial"/>
            </a:endParaRPr>
          </a:p>
        </p:txBody>
      </p:sp>
      <p:sp>
        <p:nvSpPr>
          <p:cNvPr id="219" name="PlaceHolder 2"/>
          <p:cNvSpPr>
            <a:spLocks noGrp="1"/>
          </p:cNvSpPr>
          <p:nvPr>
            <p:ph type="sldImg"/>
          </p:nvPr>
        </p:nvSpPr>
        <p:spPr>
          <a:xfrm>
            <a:off x="380880" y="685800"/>
            <a:ext cx="6095160" cy="3428280"/>
          </a:xfrm>
          <a:prstGeom prst="rect">
            <a:avLst/>
          </a:prstGeom>
          <a:ln w="0">
            <a:noFill/>
          </a:ln>
        </p:spPr>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1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2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2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3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3ADC4018-5574-46AD-A642-F183D0EDBAE5}"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4"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1"/>
          </p:nvPr>
        </p:nvSpPr>
        <p:spPr/>
        <p:txBody>
          <a:bodyPr/>
          <a:p>
            <a:fld id="{48104224-F45F-49FE-BDF6-04288E786BB8}"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6"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sldNum" idx="1"/>
          </p:nvPr>
        </p:nvSpPr>
        <p:spPr/>
        <p:txBody>
          <a:bodyPr/>
          <a:p>
            <a:fld id="{C14FE708-4E08-4399-9007-82B581DDB209}"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4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9"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1"/>
          </p:nvPr>
        </p:nvSpPr>
        <p:spPr/>
        <p:txBody>
          <a:bodyPr/>
          <a:p>
            <a:fld id="{485E21AF-C83E-406F-A255-A038591BA249}"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ldNum" idx="1"/>
          </p:nvPr>
        </p:nvSpPr>
        <p:spPr/>
        <p:txBody>
          <a:bodyPr/>
          <a:p>
            <a:fld id="{B0AB1C6E-D9CF-484E-89A4-2EAAAC0E48D3}"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1"/>
          </p:nvPr>
        </p:nvSpPr>
        <p:spPr/>
        <p:txBody>
          <a:bodyPr/>
          <a:p>
            <a:fld id="{EAEA813D-2F77-4ADC-8657-8FB1A0237B43}"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3"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4"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5"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1"/>
          </p:nvPr>
        </p:nvSpPr>
        <p:spPr/>
        <p:txBody>
          <a:bodyPr/>
          <a:p>
            <a:fld id="{55FAF068-874F-41C1-A716-B58DF6E4CF13}"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5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9"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1"/>
          </p:nvPr>
        </p:nvSpPr>
        <p:spPr/>
        <p:txBody>
          <a:bodyPr/>
          <a:p>
            <a:fld id="{D0518D41-86E9-41BE-B1A6-C3C210B39051}"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1"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2"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3"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1"/>
          </p:nvPr>
        </p:nvSpPr>
        <p:spPr/>
        <p:txBody>
          <a:bodyPr/>
          <a:p>
            <a:fld id="{A63C8695-D28B-418C-9586-45ABA0C0F75A}"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5"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6"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1"/>
          </p:nvPr>
        </p:nvSpPr>
        <p:spPr/>
        <p:txBody>
          <a:bodyPr/>
          <a:p>
            <a:fld id="{03B9FEAD-E6B3-4A7E-94A2-5DE328EAFB61}"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68"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0"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1"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sldNum" idx="1"/>
          </p:nvPr>
        </p:nvSpPr>
        <p:spPr/>
        <p:txBody>
          <a:bodyPr/>
          <a:p>
            <a:fld id="{E1AE964D-D1F8-405A-85FA-1B26B3FAD000}"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73"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4"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5"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6"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7"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8"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sldNum" idx="1"/>
          </p:nvPr>
        </p:nvSpPr>
        <p:spPr/>
        <p:txBody>
          <a:bodyPr/>
          <a:p>
            <a:fld id="{1CF3CE7D-E0A8-4AFB-A551-96300B587FEA}"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F73A08AC-902D-469D-AD64-AE5EECAEBF51}"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5"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4" name="PlaceHolder 3"/>
          <p:cNvSpPr>
            <a:spLocks noGrp="1"/>
          </p:cNvSpPr>
          <p:nvPr>
            <p:ph type="sldNum" idx="2"/>
          </p:nvPr>
        </p:nvSpPr>
        <p:spPr/>
        <p:txBody>
          <a:bodyPr/>
          <a:p>
            <a:fld id="{96CCE25C-9505-4C73-B8F6-9E7F460920BB}"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7"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US" sz="3200" spc="-1" strike="noStrike">
              <a:latin typeface="Arial"/>
            </a:endParaRPr>
          </a:p>
        </p:txBody>
      </p:sp>
      <p:sp>
        <p:nvSpPr>
          <p:cNvPr id="4" name="PlaceHolder 3"/>
          <p:cNvSpPr>
            <a:spLocks noGrp="1"/>
          </p:cNvSpPr>
          <p:nvPr>
            <p:ph type="sldNum" idx="2"/>
          </p:nvPr>
        </p:nvSpPr>
        <p:spPr/>
        <p:txBody>
          <a:bodyPr/>
          <a:p>
            <a:fld id="{0083BE6B-8812-4F16-A463-5D0E1A791C89}"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89"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90"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2"/>
          </p:nvPr>
        </p:nvSpPr>
        <p:spPr/>
        <p:txBody>
          <a:bodyPr/>
          <a:p>
            <a:fld id="{460F7EC1-B76A-49BF-8802-7D5F8546BF72}"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3" name="PlaceHolder 2"/>
          <p:cNvSpPr>
            <a:spLocks noGrp="1"/>
          </p:cNvSpPr>
          <p:nvPr>
            <p:ph type="sldNum" idx="2"/>
          </p:nvPr>
        </p:nvSpPr>
        <p:spPr/>
        <p:txBody>
          <a:bodyPr/>
          <a:p>
            <a:fld id="{7B27DB5D-2F45-4E6F-B345-AE96205C540C}"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2"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US" sz="3200" spc="-1" strike="noStrike">
              <a:latin typeface="Arial"/>
            </a:endParaRPr>
          </a:p>
        </p:txBody>
      </p:sp>
      <p:sp>
        <p:nvSpPr>
          <p:cNvPr id="3" name="PlaceHolder 2"/>
          <p:cNvSpPr>
            <a:spLocks noGrp="1"/>
          </p:cNvSpPr>
          <p:nvPr>
            <p:ph type="sldNum" idx="2"/>
          </p:nvPr>
        </p:nvSpPr>
        <p:spPr/>
        <p:txBody>
          <a:bodyPr/>
          <a:p>
            <a:fld id="{3392EF79-2753-4934-8AEB-0B7C7E609C6F}"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4"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5"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96"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2"/>
          </p:nvPr>
        </p:nvSpPr>
        <p:spPr/>
        <p:txBody>
          <a:bodyPr/>
          <a:p>
            <a:fld id="{CD2B333F-0FC6-41A9-9984-BD01A1EF8B8D}"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98"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US" sz="3200" spc="-1" strike="noStrike">
              <a:latin typeface="Arial"/>
            </a:endParaRPr>
          </a:p>
        </p:txBody>
      </p:sp>
      <p:sp>
        <p:nvSpPr>
          <p:cNvPr id="99"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00"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2"/>
          </p:nvPr>
        </p:nvSpPr>
        <p:spPr/>
        <p:txBody>
          <a:bodyPr/>
          <a:p>
            <a:fld id="{CE732942-AB2A-4CAF-9394-EB2E4BEBA5C8}"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03"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04"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6" name="PlaceHolder 5"/>
          <p:cNvSpPr>
            <a:spLocks noGrp="1"/>
          </p:cNvSpPr>
          <p:nvPr>
            <p:ph type="sldNum" idx="2"/>
          </p:nvPr>
        </p:nvSpPr>
        <p:spPr/>
        <p:txBody>
          <a:bodyPr/>
          <a:p>
            <a:fld id="{CBE6F66B-8EB1-48CB-A40E-0C987CAEFB7C}"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6"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07"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US" sz="3200" spc="-1" strike="noStrike">
              <a:latin typeface="Arial"/>
            </a:endParaRPr>
          </a:p>
        </p:txBody>
      </p:sp>
      <p:sp>
        <p:nvSpPr>
          <p:cNvPr id="5" name="PlaceHolder 4"/>
          <p:cNvSpPr>
            <a:spLocks noGrp="1"/>
          </p:cNvSpPr>
          <p:nvPr>
            <p:ph type="sldNum" idx="2"/>
          </p:nvPr>
        </p:nvSpPr>
        <p:spPr/>
        <p:txBody>
          <a:bodyPr/>
          <a:p>
            <a:fld id="{D139F8D0-983A-4C93-9051-454C039C2794}"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09"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0"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1"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2"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7" name="PlaceHolder 6"/>
          <p:cNvSpPr>
            <a:spLocks noGrp="1"/>
          </p:cNvSpPr>
          <p:nvPr>
            <p:ph type="sldNum" idx="2"/>
          </p:nvPr>
        </p:nvSpPr>
        <p:spPr/>
        <p:txBody>
          <a:bodyPr/>
          <a:p>
            <a:fld id="{CAD2CF86-2A94-46FE-8726-4378C23D15B3}"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endParaRPr b="0" lang="en-US" sz="4400" spc="-1" strike="noStrike">
              <a:latin typeface="Arial"/>
            </a:endParaRPr>
          </a:p>
        </p:txBody>
      </p:sp>
      <p:sp>
        <p:nvSpPr>
          <p:cNvPr id="114"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5"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6"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7"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8"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119"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US" sz="3200" spc="-1" strike="noStrike">
              <a:latin typeface="Arial"/>
            </a:endParaRPr>
          </a:p>
        </p:txBody>
      </p:sp>
      <p:sp>
        <p:nvSpPr>
          <p:cNvPr id="9" name="PlaceHolder 8"/>
          <p:cNvSpPr>
            <a:spLocks noGrp="1"/>
          </p:cNvSpPr>
          <p:nvPr>
            <p:ph type="sldNum" idx="2"/>
          </p:nvPr>
        </p:nvSpPr>
        <p:spPr/>
        <p:txBody>
          <a:bodyPr/>
          <a:p>
            <a:fld id="{642E93F8-1BF8-403C-BEFC-47CF4A4DFD01}"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2.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slideLayout" Target="../slideLayouts/slideLayout34.xml"/><Relationship Id="rId13" Type="http://schemas.openxmlformats.org/officeDocument/2006/relationships/slideLayout" Target="../slideLayouts/slideLayout35.xml"/><Relationship Id="rId14"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6ca9"/>
        </a:solidFill>
      </p:bgPr>
    </p:bg>
    <p:spTree>
      <p:nvGrpSpPr>
        <p:cNvPr id="1" name=""/>
        <p:cNvGrpSpPr/>
        <p:nvPr/>
      </p:nvGrpSpPr>
      <p:grpSpPr>
        <a:xfrm>
          <a:off x="0" y="0"/>
          <a:ext cx="0" cy="0"/>
          <a:chOff x="0" y="0"/>
          <a:chExt cx="0" cy="0"/>
        </a:xfrm>
      </p:grpSpPr>
      <p:pic>
        <p:nvPicPr>
          <p:cNvPr id="0" name="Google Shape;117;p10" descr=""/>
          <p:cNvPicPr/>
          <p:nvPr/>
        </p:nvPicPr>
        <p:blipFill>
          <a:blip r:embed="rId2"/>
          <a:stretch/>
        </p:blipFill>
        <p:spPr>
          <a:xfrm>
            <a:off x="3542400" y="1130040"/>
            <a:ext cx="2058480" cy="538920"/>
          </a:xfrm>
          <a:prstGeom prst="rect">
            <a:avLst/>
          </a:prstGeom>
          <a:ln w="0">
            <a:noFill/>
          </a:ln>
        </p:spPr>
      </p:pic>
      <p:sp>
        <p:nvSpPr>
          <p:cNvPr id="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Click to edit the title text format</a:t>
            </a:r>
            <a:endParaRPr b="0" lang="en-US" sz="4400" spc="-1" strike="noStrike">
              <a:latin typeface="Arial"/>
            </a:endParaRPr>
          </a:p>
        </p:txBody>
      </p:sp>
      <p:sp>
        <p:nvSpPr>
          <p:cNvPr id="2"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9" name="Google Shape;9;p7" descr=""/>
          <p:cNvPicPr/>
          <p:nvPr/>
        </p:nvPicPr>
        <p:blipFill>
          <a:blip r:embed="rId2"/>
          <a:stretch/>
        </p:blipFill>
        <p:spPr>
          <a:xfrm>
            <a:off x="469800" y="4849920"/>
            <a:ext cx="649440" cy="169200"/>
          </a:xfrm>
          <a:prstGeom prst="rect">
            <a:avLst/>
          </a:prstGeom>
          <a:ln w="0">
            <a:noFill/>
          </a:ln>
        </p:spPr>
      </p:pic>
      <p:sp>
        <p:nvSpPr>
          <p:cNvPr id="40" name="PlaceHolder 1"/>
          <p:cNvSpPr>
            <a:spLocks noGrp="1"/>
          </p:cNvSpPr>
          <p:nvPr>
            <p:ph type="sldNum" idx="1"/>
          </p:nvPr>
        </p:nvSpPr>
        <p:spPr>
          <a:xfrm>
            <a:off x="6692760" y="4754520"/>
            <a:ext cx="1982520" cy="272880"/>
          </a:xfrm>
          <a:prstGeom prst="rect">
            <a:avLst/>
          </a:prstGeom>
          <a:noFill/>
          <a:ln w="0">
            <a:noFill/>
          </a:ln>
        </p:spPr>
        <p:txBody>
          <a:bodyPr lIns="68400" rIns="68400" tIns="34200" bIns="34200" anchor="ctr">
            <a:noAutofit/>
          </a:bodyPr>
          <a:lstStyle>
            <a:lvl1pPr algn="r">
              <a:lnSpc>
                <a:spcPct val="100000"/>
              </a:lnSpc>
              <a:buNone/>
              <a:tabLst>
                <a:tab algn="l" pos="0"/>
              </a:tabLst>
              <a:defRPr b="0" lang="en" sz="800" spc="-1" strike="noStrike">
                <a:solidFill>
                  <a:srgbClr val="002e65"/>
                </a:solidFill>
                <a:latin typeface="Calibri"/>
                <a:ea typeface="Calibri"/>
              </a:defRPr>
            </a:lvl1pPr>
          </a:lstStyle>
          <a:p>
            <a:pPr algn="r">
              <a:lnSpc>
                <a:spcPct val="100000"/>
              </a:lnSpc>
              <a:buNone/>
              <a:tabLst>
                <a:tab algn="l" pos="0"/>
              </a:tabLst>
            </a:pPr>
            <a:fld id="{85C8C870-0072-414C-96BC-E647C51006D9}" type="slidenum">
              <a:rPr b="0" lang="en" sz="800" spc="-1" strike="noStrike">
                <a:solidFill>
                  <a:srgbClr val="002e65"/>
                </a:solidFill>
                <a:latin typeface="Calibri"/>
                <a:ea typeface="Calibri"/>
              </a:rPr>
              <a:t>&lt;number&gt;</a:t>
            </a:fld>
            <a:endParaRPr b="0" lang="en-US" sz="800" spc="-1" strike="noStrike">
              <a:latin typeface="Times New Roman"/>
            </a:endParaRPr>
          </a:p>
        </p:txBody>
      </p:sp>
      <p:sp>
        <p:nvSpPr>
          <p:cNvPr id="41"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algn="ctr">
              <a:buNone/>
            </a:pPr>
            <a:r>
              <a:rPr b="0" lang="en-US" sz="4400" spc="-1" strike="noStrike">
                <a:latin typeface="Arial"/>
              </a:rPr>
              <a:t>Click </a:t>
            </a:r>
            <a:r>
              <a:rPr b="0" lang="en-US" sz="4400" spc="-1" strike="noStrike">
                <a:latin typeface="Arial"/>
              </a:rPr>
              <a:t>to edit </a:t>
            </a:r>
            <a:r>
              <a:rPr b="0" lang="en-US" sz="4400" spc="-1" strike="noStrike">
                <a:latin typeface="Arial"/>
              </a:rPr>
              <a:t>the </a:t>
            </a:r>
            <a:r>
              <a:rPr b="0" lang="en-US" sz="4400" spc="-1" strike="noStrike">
                <a:latin typeface="Arial"/>
              </a:rPr>
              <a:t>title </a:t>
            </a:r>
            <a:r>
              <a:rPr b="0" lang="en-US" sz="4400" spc="-1" strike="noStrike">
                <a:latin typeface="Arial"/>
              </a:rPr>
              <a:t>text </a:t>
            </a:r>
            <a:r>
              <a:rPr b="0" lang="en-US" sz="4400" spc="-1" strike="noStrike">
                <a:latin typeface="Arial"/>
              </a:rPr>
              <a:t>format</a:t>
            </a:r>
            <a:endParaRPr b="0" lang="en-US" sz="4400" spc="-1" strike="noStrike">
              <a:latin typeface="Arial"/>
            </a:endParaRPr>
          </a:p>
        </p:txBody>
      </p:sp>
      <p:sp>
        <p:nvSpPr>
          <p:cNvPr id="42"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latin typeface="Arial"/>
              </a:rPr>
              <a:t>Click to edit the outline text format</a:t>
            </a:r>
            <a:endParaRPr b="0" lang="en-US" sz="3200" spc="-1" strike="noStrike">
              <a:latin typeface="Arial"/>
            </a:endParaRPr>
          </a:p>
          <a:p>
            <a:pPr lvl="1" marL="864000" indent="-324000">
              <a:spcBef>
                <a:spcPts val="1134"/>
              </a:spcBef>
              <a:buClr>
                <a:srgbClr val="000000"/>
              </a:buClr>
              <a:buSzPct val="75000"/>
              <a:buFont typeface="Symbol" charset="2"/>
              <a:buChar char=""/>
            </a:pPr>
            <a:r>
              <a:rPr b="0" lang="en-US" sz="2800" spc="-1" strike="noStrike">
                <a:latin typeface="Arial"/>
              </a:rPr>
              <a:t>Second Outline Level</a:t>
            </a:r>
            <a:endParaRPr b="0" lang="en-US" sz="2800" spc="-1" strike="noStrike">
              <a:latin typeface="Arial"/>
            </a:endParaRPr>
          </a:p>
          <a:p>
            <a:pPr lvl="2" marL="1296000" indent="-288000">
              <a:spcBef>
                <a:spcPts val="850"/>
              </a:spcBef>
              <a:buClr>
                <a:srgbClr val="000000"/>
              </a:buClr>
              <a:buSzPct val="45000"/>
              <a:buFont typeface="Wingdings" charset="2"/>
              <a:buChar char=""/>
            </a:pPr>
            <a:r>
              <a:rPr b="0" lang="en-US" sz="2400" spc="-1" strike="noStrike">
                <a:latin typeface="Arial"/>
              </a:rPr>
              <a:t>Third Outline Level</a:t>
            </a:r>
            <a:endParaRPr b="0" lang="en-US" sz="2400" spc="-1" strike="noStrike">
              <a:latin typeface="Arial"/>
            </a:endParaRPr>
          </a:p>
          <a:p>
            <a:pPr lvl="3" marL="1728000" indent="-216000">
              <a:spcBef>
                <a:spcPts val="567"/>
              </a:spcBef>
              <a:buClr>
                <a:srgbClr val="000000"/>
              </a:buClr>
              <a:buSzPct val="75000"/>
              <a:buFont typeface="Symbol" charset="2"/>
              <a:buChar char=""/>
            </a:pPr>
            <a:r>
              <a:rPr b="0" lang="en-US" sz="2000" spc="-1" strike="noStrike">
                <a:latin typeface="Arial"/>
              </a:rPr>
              <a:t>Fourth Outline Level</a:t>
            </a:r>
            <a:endParaRPr b="0" lang="en-US" sz="2000" spc="-1" strike="noStrike">
              <a:latin typeface="Arial"/>
            </a:endParaRPr>
          </a:p>
          <a:p>
            <a:pPr lvl="4" marL="2160000" indent="-216000">
              <a:spcBef>
                <a:spcPts val="283"/>
              </a:spcBef>
              <a:buClr>
                <a:srgbClr val="000000"/>
              </a:buClr>
              <a:buSzPct val="45000"/>
              <a:buFont typeface="Wingdings" charset="2"/>
              <a:buChar char=""/>
            </a:pPr>
            <a:r>
              <a:rPr b="0" lang="en-US" sz="2000" spc="-1" strike="noStrike">
                <a:latin typeface="Arial"/>
              </a:rPr>
              <a:t>Fifth Outline Level</a:t>
            </a:r>
            <a:endParaRPr b="0" lang="en-US" sz="2000" spc="-1" strike="noStrike">
              <a:latin typeface="Arial"/>
            </a:endParaRPr>
          </a:p>
          <a:p>
            <a:pPr lvl="5" marL="2592000" indent="-216000">
              <a:spcBef>
                <a:spcPts val="283"/>
              </a:spcBef>
              <a:buClr>
                <a:srgbClr val="000000"/>
              </a:buClr>
              <a:buSzPct val="45000"/>
              <a:buFont typeface="Wingdings" charset="2"/>
              <a:buChar char=""/>
            </a:pPr>
            <a:r>
              <a:rPr b="0" lang="en-US" sz="2000" spc="-1" strike="noStrike">
                <a:latin typeface="Arial"/>
              </a:rPr>
              <a:t>Sixth Outline Level</a:t>
            </a:r>
            <a:endParaRPr b="0" lang="en-US" sz="2000" spc="-1" strike="noStrike">
              <a:latin typeface="Arial"/>
            </a:endParaRPr>
          </a:p>
          <a:p>
            <a:pPr lvl="6" marL="3024000" indent="-216000">
              <a:spcBef>
                <a:spcPts val="283"/>
              </a:spcBef>
              <a:buClr>
                <a:srgbClr val="000000"/>
              </a:buClr>
              <a:buSzPct val="45000"/>
              <a:buFont typeface="Wingdings" charset="2"/>
              <a:buChar char=""/>
            </a:pPr>
            <a:r>
              <a:rPr b="0" lang="en-US" sz="2000" spc="-1" strike="noStrike">
                <a:latin typeface="Arial"/>
              </a:rPr>
              <a:t>Seventh Outline Level</a:t>
            </a:r>
            <a:endParaRPr b="0" lang="en-US"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9" name="Google Shape;9;p7" descr=""/>
          <p:cNvPicPr/>
          <p:nvPr/>
        </p:nvPicPr>
        <p:blipFill>
          <a:blip r:embed="rId2"/>
          <a:stretch/>
        </p:blipFill>
        <p:spPr>
          <a:xfrm>
            <a:off x="469800" y="4849920"/>
            <a:ext cx="649440" cy="169200"/>
          </a:xfrm>
          <a:prstGeom prst="rect">
            <a:avLst/>
          </a:prstGeom>
          <a:ln w="0">
            <a:noFill/>
          </a:ln>
        </p:spPr>
      </p:pic>
      <p:sp>
        <p:nvSpPr>
          <p:cNvPr id="80" name="PlaceHolder 1"/>
          <p:cNvSpPr>
            <a:spLocks noGrp="1"/>
          </p:cNvSpPr>
          <p:nvPr>
            <p:ph type="title"/>
          </p:nvPr>
        </p:nvSpPr>
        <p:spPr>
          <a:xfrm>
            <a:off x="457200" y="205200"/>
            <a:ext cx="8228880" cy="858240"/>
          </a:xfrm>
          <a:prstGeom prst="rect">
            <a:avLst/>
          </a:prstGeom>
          <a:noFill/>
          <a:ln w="0">
            <a:noFill/>
          </a:ln>
        </p:spPr>
        <p:txBody>
          <a:bodyPr lIns="0" rIns="0" tIns="0" bIns="0" anchor="ctr">
            <a:noAutofit/>
          </a:bodyPr>
          <a:p>
            <a:r>
              <a:rPr b="0" lang="en-US" sz="1800" spc="-1" strike="noStrike">
                <a:latin typeface="Arial"/>
              </a:rPr>
              <a:t>Click to edit the </a:t>
            </a:r>
            <a:r>
              <a:rPr b="0" lang="en-US" sz="1800" spc="-1" strike="noStrike">
                <a:latin typeface="Arial"/>
              </a:rPr>
              <a:t>title text format</a:t>
            </a:r>
            <a:endParaRPr b="0" lang="en-US" sz="1800" spc="-1" strike="noStrike">
              <a:latin typeface="Arial"/>
            </a:endParaRPr>
          </a:p>
        </p:txBody>
      </p:sp>
      <p:sp>
        <p:nvSpPr>
          <p:cNvPr id="81" name="PlaceHolder 2"/>
          <p:cNvSpPr>
            <a:spLocks noGrp="1"/>
          </p:cNvSpPr>
          <p:nvPr>
            <p:ph type="body"/>
          </p:nvPr>
        </p:nvSpPr>
        <p:spPr>
          <a:xfrm>
            <a:off x="457200" y="1203480"/>
            <a:ext cx="4015440" cy="2982600"/>
          </a:xfrm>
          <a:prstGeom prst="rect">
            <a:avLst/>
          </a:prstGeom>
          <a:noFill/>
          <a:ln w="0">
            <a:noFill/>
          </a:ln>
        </p:spPr>
        <p:txBody>
          <a:bodyPr lIns="0" rIns="0" tIns="0" bIns="0" anchor="t">
            <a:normAutofit fontScale="94000"/>
          </a:bodyPr>
          <a:p>
            <a:pPr marL="432000" indent="-324000">
              <a:spcBef>
                <a:spcPts val="1417"/>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
        <p:nvSpPr>
          <p:cNvPr id="82" name="PlaceHolder 3"/>
          <p:cNvSpPr>
            <a:spLocks noGrp="1"/>
          </p:cNvSpPr>
          <p:nvPr>
            <p:ph type="body"/>
          </p:nvPr>
        </p:nvSpPr>
        <p:spPr>
          <a:xfrm>
            <a:off x="4674240" y="1203480"/>
            <a:ext cx="4015440" cy="2982600"/>
          </a:xfrm>
          <a:prstGeom prst="rect">
            <a:avLst/>
          </a:prstGeom>
          <a:noFill/>
          <a:ln w="0">
            <a:noFill/>
          </a:ln>
        </p:spPr>
        <p:txBody>
          <a:bodyPr lIns="0" rIns="0" tIns="0" bIns="0" anchor="t">
            <a:normAutofit fontScale="94000"/>
          </a:bodyPr>
          <a:p>
            <a:pPr marL="432000" indent="-324000">
              <a:spcBef>
                <a:spcPts val="1417"/>
              </a:spcBef>
              <a:buClr>
                <a:srgbClr val="000000"/>
              </a:buClr>
              <a:buSzPct val="45000"/>
              <a:buFont typeface="Wingdings" charset="2"/>
              <a:buChar char=""/>
            </a:pPr>
            <a:r>
              <a:rPr b="0" lang="en-US" sz="1800" spc="-1" strike="noStrike">
                <a:latin typeface="Arial"/>
              </a:rPr>
              <a:t>Click to edit the outline text format</a:t>
            </a:r>
            <a:endParaRPr b="0" lang="en-US" sz="1800" spc="-1" strike="noStrike">
              <a:latin typeface="Arial"/>
            </a:endParaRPr>
          </a:p>
          <a:p>
            <a:pPr lvl="1" marL="864000" indent="-324000">
              <a:spcBef>
                <a:spcPts val="1134"/>
              </a:spcBef>
              <a:buClr>
                <a:srgbClr val="000000"/>
              </a:buClr>
              <a:buSzPct val="75000"/>
              <a:buFont typeface="Symbol" charset="2"/>
              <a:buChar char=""/>
            </a:pPr>
            <a:r>
              <a:rPr b="0" lang="en-US" sz="1800" spc="-1" strike="noStrike">
                <a:latin typeface="Arial"/>
              </a:rPr>
              <a:t>Second Outline Level</a:t>
            </a:r>
            <a:endParaRPr b="0" lang="en-US" sz="1800" spc="-1" strike="noStrike">
              <a:latin typeface="Arial"/>
            </a:endParaRPr>
          </a:p>
          <a:p>
            <a:pPr lvl="2" marL="1296000" indent="-288000">
              <a:spcBef>
                <a:spcPts val="850"/>
              </a:spcBef>
              <a:buClr>
                <a:srgbClr val="000000"/>
              </a:buClr>
              <a:buSzPct val="45000"/>
              <a:buFont typeface="Wingdings" charset="2"/>
              <a:buChar char=""/>
            </a:pPr>
            <a:r>
              <a:rPr b="0" lang="en-US" sz="1800" spc="-1" strike="noStrike">
                <a:latin typeface="Arial"/>
              </a:rPr>
              <a:t>Third Outline Level</a:t>
            </a:r>
            <a:endParaRPr b="0" lang="en-US" sz="1800" spc="-1" strike="noStrike">
              <a:latin typeface="Arial"/>
            </a:endParaRPr>
          </a:p>
          <a:p>
            <a:pPr lvl="3" marL="1728000" indent="-216000">
              <a:spcBef>
                <a:spcPts val="567"/>
              </a:spcBef>
              <a:buClr>
                <a:srgbClr val="000000"/>
              </a:buClr>
              <a:buSzPct val="75000"/>
              <a:buFont typeface="Symbol" charset="2"/>
              <a:buChar char=""/>
            </a:pPr>
            <a:r>
              <a:rPr b="0" lang="en-US" sz="1800" spc="-1" strike="noStrike">
                <a:latin typeface="Arial"/>
              </a:rPr>
              <a:t>Fourth Outline Level</a:t>
            </a:r>
            <a:endParaRPr b="0" lang="en-US" sz="1800" spc="-1" strike="noStrike">
              <a:latin typeface="Arial"/>
            </a:endParaRPr>
          </a:p>
          <a:p>
            <a:pPr lvl="4" marL="2160000" indent="-216000">
              <a:spcBef>
                <a:spcPts val="283"/>
              </a:spcBef>
              <a:buClr>
                <a:srgbClr val="000000"/>
              </a:buClr>
              <a:buSzPct val="45000"/>
              <a:buFont typeface="Wingdings" charset="2"/>
              <a:buChar char=""/>
            </a:pPr>
            <a:r>
              <a:rPr b="0" lang="en-US" sz="1800" spc="-1" strike="noStrike">
                <a:latin typeface="Arial"/>
              </a:rPr>
              <a:t>Fifth Outline Level</a:t>
            </a:r>
            <a:endParaRPr b="0" lang="en-US" sz="1800" spc="-1" strike="noStrike">
              <a:latin typeface="Arial"/>
            </a:endParaRPr>
          </a:p>
          <a:p>
            <a:pPr lvl="5" marL="2592000" indent="-216000">
              <a:spcBef>
                <a:spcPts val="283"/>
              </a:spcBef>
              <a:buClr>
                <a:srgbClr val="000000"/>
              </a:buClr>
              <a:buSzPct val="45000"/>
              <a:buFont typeface="Wingdings" charset="2"/>
              <a:buChar char=""/>
            </a:pPr>
            <a:r>
              <a:rPr b="0" lang="en-US" sz="1800" spc="-1" strike="noStrike">
                <a:latin typeface="Arial"/>
              </a:rPr>
              <a:t>Sixth Outline Level</a:t>
            </a:r>
            <a:endParaRPr b="0" lang="en-US" sz="1800" spc="-1" strike="noStrike">
              <a:latin typeface="Arial"/>
            </a:endParaRPr>
          </a:p>
          <a:p>
            <a:pPr lvl="6" marL="3024000" indent="-216000">
              <a:spcBef>
                <a:spcPts val="283"/>
              </a:spcBef>
              <a:buClr>
                <a:srgbClr val="000000"/>
              </a:buClr>
              <a:buSzPct val="45000"/>
              <a:buFont typeface="Wingdings" charset="2"/>
              <a:buChar char=""/>
            </a:pPr>
            <a:r>
              <a:rPr b="0" lang="en-US" sz="1800" spc="-1" strike="noStrike">
                <a:latin typeface="Arial"/>
              </a:rPr>
              <a:t>Seventh Outline Level</a:t>
            </a:r>
            <a:endParaRPr b="0" lang="en-US" sz="1800" spc="-1" strike="noStrike">
              <a:latin typeface="Arial"/>
            </a:endParaRPr>
          </a:p>
        </p:txBody>
      </p:sp>
      <p:sp>
        <p:nvSpPr>
          <p:cNvPr id="83" name="PlaceHolder 4"/>
          <p:cNvSpPr>
            <a:spLocks noGrp="1"/>
          </p:cNvSpPr>
          <p:nvPr>
            <p:ph type="sldNum" idx="2"/>
          </p:nvPr>
        </p:nvSpPr>
        <p:spPr>
          <a:xfrm>
            <a:off x="6692760" y="4754520"/>
            <a:ext cx="1982520" cy="272880"/>
          </a:xfrm>
          <a:prstGeom prst="rect">
            <a:avLst/>
          </a:prstGeom>
          <a:noFill/>
          <a:ln w="0">
            <a:noFill/>
          </a:ln>
        </p:spPr>
        <p:txBody>
          <a:bodyPr lIns="68400" rIns="68400" tIns="34200" bIns="34200" anchor="ctr">
            <a:noAutofit/>
          </a:bodyPr>
          <a:lstStyle>
            <a:lvl1pPr algn="r">
              <a:lnSpc>
                <a:spcPct val="100000"/>
              </a:lnSpc>
              <a:buNone/>
              <a:tabLst>
                <a:tab algn="l" pos="0"/>
              </a:tabLst>
              <a:defRPr b="0" lang="en" sz="800" spc="-1" strike="noStrike">
                <a:solidFill>
                  <a:srgbClr val="002e65"/>
                </a:solidFill>
                <a:latin typeface="Calibri"/>
                <a:ea typeface="Calibri"/>
              </a:defRPr>
            </a:lvl1pPr>
          </a:lstStyle>
          <a:p>
            <a:pPr algn="r">
              <a:lnSpc>
                <a:spcPct val="100000"/>
              </a:lnSpc>
              <a:buNone/>
              <a:tabLst>
                <a:tab algn="l" pos="0"/>
              </a:tabLst>
            </a:pPr>
            <a:fld id="{B39B83DD-D2C1-4398-A7D6-39E5B5EF7E55}" type="slidenum">
              <a:rPr b="0" lang="en" sz="800" spc="-1" strike="noStrike">
                <a:solidFill>
                  <a:srgbClr val="002e65"/>
                </a:solidFill>
                <a:latin typeface="Calibri"/>
                <a:ea typeface="Calibri"/>
              </a:rPr>
              <a:t>&lt;number&gt;</a:t>
            </a:fld>
            <a:endParaRPr b="0" lang="en-US" sz="8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slideLayout" Target="../slideLayouts/slideLayout13.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468000" y="2053080"/>
            <a:ext cx="8207280" cy="689400"/>
          </a:xfrm>
          <a:prstGeom prst="rect">
            <a:avLst/>
          </a:prstGeom>
          <a:noFill/>
          <a:ln w="0">
            <a:noFill/>
          </a:ln>
        </p:spPr>
        <p:txBody>
          <a:bodyPr lIns="68400" rIns="68400" tIns="34200" bIns="34200" anchor="ctr">
            <a:normAutofit fontScale="49000"/>
          </a:bodyPr>
          <a:p>
            <a:pPr algn="ctr">
              <a:lnSpc>
                <a:spcPct val="90000"/>
              </a:lnSpc>
              <a:buNone/>
              <a:tabLst>
                <a:tab algn="l" pos="0"/>
              </a:tabLst>
            </a:pPr>
            <a:r>
              <a:rPr b="1" lang="en" sz="5000" spc="-1" strike="noStrike">
                <a:solidFill>
                  <a:srgbClr val="ffffff"/>
                </a:solidFill>
                <a:latin typeface="Calibri"/>
                <a:ea typeface="Calibri"/>
              </a:rPr>
              <a:t>N</a:t>
            </a:r>
            <a:r>
              <a:rPr b="1" lang="en" sz="5000" spc="-1" strike="noStrike">
                <a:solidFill>
                  <a:srgbClr val="ffffff"/>
                </a:solidFill>
                <a:latin typeface="Calibri"/>
                <a:ea typeface="Calibri"/>
              </a:rPr>
              <a:t>o</a:t>
            </a:r>
            <a:r>
              <a:rPr b="1" lang="en" sz="5000" spc="-1" strike="noStrike">
                <a:solidFill>
                  <a:srgbClr val="ffffff"/>
                </a:solidFill>
                <a:latin typeface="Calibri"/>
                <a:ea typeface="Calibri"/>
              </a:rPr>
              <a:t>v</a:t>
            </a:r>
            <a:r>
              <a:rPr b="1" lang="en" sz="5000" spc="-1" strike="noStrike">
                <a:solidFill>
                  <a:srgbClr val="ffffff"/>
                </a:solidFill>
                <a:latin typeface="Calibri"/>
                <a:ea typeface="Calibri"/>
              </a:rPr>
              <a:t>el</a:t>
            </a:r>
            <a:r>
              <a:rPr b="1" lang="en" sz="5000" spc="-1" strike="noStrike">
                <a:solidFill>
                  <a:srgbClr val="ffffff"/>
                </a:solidFill>
                <a:latin typeface="Calibri"/>
                <a:ea typeface="Calibri"/>
              </a:rPr>
              <a:t>ty </a:t>
            </a:r>
            <a:r>
              <a:rPr b="1" lang="en" sz="5000" spc="-1" strike="noStrike">
                <a:solidFill>
                  <a:srgbClr val="ffffff"/>
                </a:solidFill>
                <a:latin typeface="Calibri"/>
                <a:ea typeface="Calibri"/>
              </a:rPr>
              <a:t>a</a:t>
            </a:r>
            <a:r>
              <a:rPr b="1" lang="en" sz="5000" spc="-1" strike="noStrike">
                <a:solidFill>
                  <a:srgbClr val="ffffff"/>
                </a:solidFill>
                <a:latin typeface="Calibri"/>
                <a:ea typeface="Calibri"/>
              </a:rPr>
              <a:t>w</a:t>
            </a:r>
            <a:r>
              <a:rPr b="1" lang="en" sz="5000" spc="-1" strike="noStrike">
                <a:solidFill>
                  <a:srgbClr val="ffffff"/>
                </a:solidFill>
                <a:latin typeface="Calibri"/>
                <a:ea typeface="Calibri"/>
              </a:rPr>
              <a:t>a</a:t>
            </a:r>
            <a:r>
              <a:rPr b="1" lang="en" sz="5000" spc="-1" strike="noStrike">
                <a:solidFill>
                  <a:srgbClr val="ffffff"/>
                </a:solidFill>
                <a:latin typeface="Calibri"/>
                <a:ea typeface="Calibri"/>
              </a:rPr>
              <a:t>r</a:t>
            </a:r>
            <a:r>
              <a:rPr b="1" lang="en" sz="5000" spc="-1" strike="noStrike">
                <a:solidFill>
                  <a:srgbClr val="ffffff"/>
                </a:solidFill>
                <a:latin typeface="Calibri"/>
                <a:ea typeface="Calibri"/>
              </a:rPr>
              <a:t>e </a:t>
            </a:r>
            <a:r>
              <a:rPr b="1" lang="en" sz="5000" spc="-1" strike="noStrike">
                <a:solidFill>
                  <a:srgbClr val="ffffff"/>
                </a:solidFill>
                <a:latin typeface="Calibri"/>
                <a:ea typeface="Calibri"/>
              </a:rPr>
              <a:t>r</a:t>
            </a:r>
            <a:r>
              <a:rPr b="1" lang="en" sz="5000" spc="-1" strike="noStrike">
                <a:solidFill>
                  <a:srgbClr val="ffffff"/>
                </a:solidFill>
                <a:latin typeface="Calibri"/>
                <a:ea typeface="Calibri"/>
              </a:rPr>
              <a:t>e</a:t>
            </a:r>
            <a:r>
              <a:rPr b="1" lang="en" sz="5000" spc="-1" strike="noStrike">
                <a:solidFill>
                  <a:srgbClr val="ffffff"/>
                </a:solidFill>
                <a:latin typeface="Calibri"/>
                <a:ea typeface="Calibri"/>
              </a:rPr>
              <a:t>c</a:t>
            </a:r>
            <a:r>
              <a:rPr b="1" lang="en" sz="5000" spc="-1" strike="noStrike">
                <a:solidFill>
                  <a:srgbClr val="ffffff"/>
                </a:solidFill>
                <a:latin typeface="Calibri"/>
                <a:ea typeface="Calibri"/>
              </a:rPr>
              <a:t>o</a:t>
            </a:r>
            <a:r>
              <a:rPr b="1" lang="en" sz="5000" spc="-1" strike="noStrike">
                <a:solidFill>
                  <a:srgbClr val="ffffff"/>
                </a:solidFill>
                <a:latin typeface="Calibri"/>
                <a:ea typeface="Calibri"/>
              </a:rPr>
              <a:t>m</a:t>
            </a:r>
            <a:r>
              <a:rPr b="1" lang="en" sz="5000" spc="-1" strike="noStrike">
                <a:solidFill>
                  <a:srgbClr val="ffffff"/>
                </a:solidFill>
                <a:latin typeface="Calibri"/>
                <a:ea typeface="Calibri"/>
              </a:rPr>
              <a:t>m</a:t>
            </a:r>
            <a:r>
              <a:rPr b="1" lang="en" sz="5000" spc="-1" strike="noStrike">
                <a:solidFill>
                  <a:srgbClr val="ffffff"/>
                </a:solidFill>
                <a:latin typeface="Calibri"/>
                <a:ea typeface="Calibri"/>
              </a:rPr>
              <a:t>e</a:t>
            </a:r>
            <a:r>
              <a:rPr b="1" lang="en" sz="5000" spc="-1" strike="noStrike">
                <a:solidFill>
                  <a:srgbClr val="ffffff"/>
                </a:solidFill>
                <a:latin typeface="Calibri"/>
                <a:ea typeface="Calibri"/>
              </a:rPr>
              <a:t>n</a:t>
            </a:r>
            <a:r>
              <a:rPr b="1" lang="en" sz="5000" spc="-1" strike="noStrike">
                <a:solidFill>
                  <a:srgbClr val="ffffff"/>
                </a:solidFill>
                <a:latin typeface="Calibri"/>
                <a:ea typeface="Calibri"/>
              </a:rPr>
              <a:t>d</a:t>
            </a:r>
            <a:r>
              <a:rPr b="1" lang="en" sz="5000" spc="-1" strike="noStrike">
                <a:solidFill>
                  <a:srgbClr val="ffffff"/>
                </a:solidFill>
                <a:latin typeface="Calibri"/>
                <a:ea typeface="Calibri"/>
              </a:rPr>
              <a:t>at</a:t>
            </a:r>
            <a:r>
              <a:rPr b="1" lang="en" sz="5000" spc="-1" strike="noStrike">
                <a:solidFill>
                  <a:srgbClr val="ffffff"/>
                </a:solidFill>
                <a:latin typeface="Calibri"/>
                <a:ea typeface="Calibri"/>
              </a:rPr>
              <a:t>io</a:t>
            </a:r>
            <a:r>
              <a:rPr b="1" lang="en" sz="5000" spc="-1" strike="noStrike">
                <a:solidFill>
                  <a:srgbClr val="ffffff"/>
                </a:solidFill>
                <a:latin typeface="Calibri"/>
                <a:ea typeface="Calibri"/>
              </a:rPr>
              <a:t>n</a:t>
            </a:r>
            <a:r>
              <a:rPr b="1" lang="en" sz="5000" spc="-1" strike="noStrike">
                <a:solidFill>
                  <a:srgbClr val="ffffff"/>
                </a:solidFill>
                <a:latin typeface="Calibri"/>
                <a:ea typeface="Calibri"/>
              </a:rPr>
              <a:t>s </a:t>
            </a:r>
            <a:r>
              <a:rPr b="1" lang="en" sz="5000" spc="-1" strike="noStrike">
                <a:solidFill>
                  <a:srgbClr val="ffffff"/>
                </a:solidFill>
                <a:latin typeface="Calibri"/>
                <a:ea typeface="Calibri"/>
              </a:rPr>
              <a:t>o</a:t>
            </a:r>
            <a:r>
              <a:rPr b="1" lang="en" sz="5000" spc="-1" strike="noStrike">
                <a:solidFill>
                  <a:srgbClr val="ffffff"/>
                </a:solidFill>
                <a:latin typeface="Calibri"/>
                <a:ea typeface="Calibri"/>
              </a:rPr>
              <a:t>n </a:t>
            </a:r>
            <a:r>
              <a:rPr b="1" lang="en" sz="5000" spc="-1" strike="noStrike">
                <a:solidFill>
                  <a:srgbClr val="ffffff"/>
                </a:solidFill>
                <a:latin typeface="Calibri"/>
                <a:ea typeface="Calibri"/>
              </a:rPr>
              <a:t>S</a:t>
            </a:r>
            <a:r>
              <a:rPr b="1" lang="en" sz="5000" spc="-1" strike="noStrike">
                <a:solidFill>
                  <a:srgbClr val="ffffff"/>
                </a:solidFill>
                <a:latin typeface="Calibri"/>
                <a:ea typeface="Calibri"/>
              </a:rPr>
              <a:t>te</a:t>
            </a:r>
            <a:r>
              <a:rPr b="1" lang="en" sz="5000" spc="-1" strike="noStrike">
                <a:solidFill>
                  <a:srgbClr val="ffffff"/>
                </a:solidFill>
                <a:latin typeface="Calibri"/>
                <a:ea typeface="Calibri"/>
              </a:rPr>
              <a:t>a</a:t>
            </a:r>
            <a:r>
              <a:rPr b="1" lang="en" sz="5000" spc="-1" strike="noStrike">
                <a:solidFill>
                  <a:srgbClr val="ffffff"/>
                </a:solidFill>
                <a:latin typeface="Calibri"/>
                <a:ea typeface="Calibri"/>
              </a:rPr>
              <a:t>m</a:t>
            </a:r>
            <a:endParaRPr b="0" lang="en-US" sz="5000" spc="-1" strike="noStrike">
              <a:latin typeface="Arial"/>
            </a:endParaRPr>
          </a:p>
        </p:txBody>
      </p:sp>
      <p:sp>
        <p:nvSpPr>
          <p:cNvPr id="127" name="PlaceHolder 2"/>
          <p:cNvSpPr>
            <a:spLocks noGrp="1"/>
          </p:cNvSpPr>
          <p:nvPr>
            <p:ph/>
          </p:nvPr>
        </p:nvSpPr>
        <p:spPr>
          <a:xfrm>
            <a:off x="478800" y="3547080"/>
            <a:ext cx="8207280" cy="795600"/>
          </a:xfrm>
          <a:prstGeom prst="rect">
            <a:avLst/>
          </a:prstGeom>
          <a:noFill/>
          <a:ln w="0">
            <a:noFill/>
          </a:ln>
        </p:spPr>
        <p:txBody>
          <a:bodyPr lIns="68400" rIns="68400" tIns="34200" bIns="34200" anchor="t">
            <a:noAutofit/>
          </a:bodyPr>
          <a:p>
            <a:pPr marL="177840" indent="-177840" algn="ctr">
              <a:lnSpc>
                <a:spcPct val="90000"/>
              </a:lnSpc>
              <a:spcBef>
                <a:spcPts val="1001"/>
              </a:spcBef>
              <a:buNone/>
              <a:tabLst>
                <a:tab algn="l" pos="0"/>
              </a:tabLst>
            </a:pPr>
            <a:r>
              <a:rPr b="1" lang="en" sz="2100" spc="-1" strike="noStrike">
                <a:solidFill>
                  <a:srgbClr val="ffffff"/>
                </a:solidFill>
                <a:latin typeface="Calibri"/>
                <a:ea typeface="Calibri"/>
              </a:rPr>
              <a:t>Nabil El Ouaamari</a:t>
            </a:r>
            <a:endParaRPr b="0" lang="en-US" sz="2100" spc="-1" strike="noStrike">
              <a:latin typeface="Arial"/>
            </a:endParaRPr>
          </a:p>
        </p:txBody>
      </p:sp>
      <p:sp>
        <p:nvSpPr>
          <p:cNvPr id="128" name="Google Shape;153;p 1"/>
          <p:cNvSpPr/>
          <p:nvPr/>
        </p:nvSpPr>
        <p:spPr>
          <a:xfrm>
            <a:off x="468000" y="2743560"/>
            <a:ext cx="8207280" cy="689400"/>
          </a:xfrm>
          <a:prstGeom prst="rect">
            <a:avLst/>
          </a:prstGeom>
          <a:noFill/>
          <a:ln w="0">
            <a:noFill/>
          </a:ln>
        </p:spPr>
        <p:style>
          <a:lnRef idx="0"/>
          <a:fillRef idx="0"/>
          <a:effectRef idx="0"/>
          <a:fontRef idx="minor"/>
        </p:style>
        <p:txBody>
          <a:bodyPr lIns="68400" rIns="68400" tIns="34200" bIns="34200" anchor="ctr">
            <a:normAutofit/>
          </a:bodyPr>
          <a:p>
            <a:pPr algn="ctr">
              <a:lnSpc>
                <a:spcPct val="90000"/>
              </a:lnSpc>
              <a:buNone/>
              <a:tabLst>
                <a:tab algn="l" pos="0"/>
              </a:tabLst>
            </a:pPr>
            <a:r>
              <a:rPr b="0" lang="en" sz="1800" spc="-1" strike="noStrike">
                <a:solidFill>
                  <a:srgbClr val="ffffff"/>
                </a:solidFill>
                <a:latin typeface="Calibri"/>
                <a:ea typeface="Calibri"/>
              </a:rPr>
              <a:t>Studying the tradeoff between accuracy and novelty using EASE reranking</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 name="Google Shape;160;p3"/>
          <p:cNvSpPr/>
          <p:nvPr/>
        </p:nvSpPr>
        <p:spPr>
          <a:xfrm rot="10800600">
            <a:off x="189720" y="485640"/>
            <a:ext cx="8551800" cy="787320"/>
          </a:xfrm>
          <a:prstGeom prst="round1Rect">
            <a:avLst>
              <a:gd name="adj" fmla="val 16667"/>
            </a:avLst>
          </a:prstGeom>
          <a:solidFill>
            <a:schemeClr val="accent2"/>
          </a:solidFill>
          <a:ln w="0">
            <a:noFill/>
          </a:ln>
        </p:spPr>
        <p:style>
          <a:lnRef idx="0"/>
          <a:fillRef idx="0"/>
          <a:effectRef idx="0"/>
          <a:fontRef idx="minor"/>
        </p:style>
      </p:sp>
      <p:sp>
        <p:nvSpPr>
          <p:cNvPr id="130" name="PlaceHolder 1"/>
          <p:cNvSpPr>
            <a:spLocks noGrp="1"/>
          </p:cNvSpPr>
          <p:nvPr>
            <p:ph type="title"/>
          </p:nvPr>
        </p:nvSpPr>
        <p:spPr>
          <a:xfrm>
            <a:off x="468000" y="583200"/>
            <a:ext cx="8207280" cy="592560"/>
          </a:xfrm>
          <a:prstGeom prst="rect">
            <a:avLst/>
          </a:prstGeom>
          <a:noFill/>
          <a:ln w="0">
            <a:noFill/>
          </a:ln>
        </p:spPr>
        <p:txBody>
          <a:bodyPr lIns="0" rIns="0" tIns="0" bIns="0" anchor="ctr">
            <a:normAutofit/>
          </a:bodyPr>
          <a:p>
            <a:pPr>
              <a:lnSpc>
                <a:spcPct val="100000"/>
              </a:lnSpc>
              <a:buNone/>
              <a:tabLst>
                <a:tab algn="l" pos="0"/>
              </a:tabLst>
            </a:pPr>
            <a:r>
              <a:rPr b="1" lang="en" sz="2900" spc="-1" strike="noStrike">
                <a:solidFill>
                  <a:srgbClr val="ffffff"/>
                </a:solidFill>
                <a:latin typeface="Calibri"/>
                <a:ea typeface="Calibri"/>
              </a:rPr>
              <a:t>Re</a:t>
            </a:r>
            <a:r>
              <a:rPr b="1" lang="en" sz="2900" spc="-1" strike="noStrike">
                <a:solidFill>
                  <a:srgbClr val="ffffff"/>
                </a:solidFill>
                <a:latin typeface="Calibri"/>
                <a:ea typeface="Calibri"/>
              </a:rPr>
              <a:t>sea</a:t>
            </a:r>
            <a:r>
              <a:rPr b="1" lang="en" sz="2900" spc="-1" strike="noStrike">
                <a:solidFill>
                  <a:srgbClr val="ffffff"/>
                </a:solidFill>
                <a:latin typeface="Calibri"/>
                <a:ea typeface="Calibri"/>
              </a:rPr>
              <a:t>rch </a:t>
            </a:r>
            <a:r>
              <a:rPr b="1" lang="en" sz="2900" spc="-1" strike="noStrike">
                <a:solidFill>
                  <a:srgbClr val="ffffff"/>
                </a:solidFill>
                <a:latin typeface="Calibri"/>
                <a:ea typeface="Calibri"/>
              </a:rPr>
              <a:t>Qu</a:t>
            </a:r>
            <a:r>
              <a:rPr b="1" lang="en" sz="2900" spc="-1" strike="noStrike">
                <a:solidFill>
                  <a:srgbClr val="ffffff"/>
                </a:solidFill>
                <a:latin typeface="Calibri"/>
                <a:ea typeface="Calibri"/>
              </a:rPr>
              <a:t>est</a:t>
            </a:r>
            <a:r>
              <a:rPr b="1" lang="en" sz="2900" spc="-1" strike="noStrike">
                <a:solidFill>
                  <a:srgbClr val="ffffff"/>
                </a:solidFill>
                <a:latin typeface="Calibri"/>
                <a:ea typeface="Calibri"/>
              </a:rPr>
              <a:t>ion</a:t>
            </a:r>
            <a:r>
              <a:rPr b="1" lang="en" sz="2900" spc="-1" strike="noStrike">
                <a:solidFill>
                  <a:srgbClr val="ffffff"/>
                </a:solidFill>
                <a:latin typeface="Calibri"/>
                <a:ea typeface="Calibri"/>
              </a:rPr>
              <a:t>s</a:t>
            </a:r>
            <a:endParaRPr b="0" lang="en-US" sz="2900" spc="-1" strike="noStrike">
              <a:latin typeface="Arial"/>
            </a:endParaRPr>
          </a:p>
        </p:txBody>
      </p:sp>
      <p:sp>
        <p:nvSpPr>
          <p:cNvPr id="131" name="Tekstvak 90"/>
          <p:cNvSpPr/>
          <p:nvPr/>
        </p:nvSpPr>
        <p:spPr>
          <a:xfrm>
            <a:off x="201600" y="1454760"/>
            <a:ext cx="8539200" cy="168156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pPr>
            <a:r>
              <a:rPr b="0" i="1" lang="en" sz="2000" spc="-1" strike="noStrike">
                <a:solidFill>
                  <a:srgbClr val="002e65"/>
                </a:solidFill>
                <a:latin typeface="Calibri"/>
                <a:ea typeface="Calibri"/>
              </a:rPr>
              <a:t>How does re-ranking EASE recommendations using genre-based item-to-history cosine novelty affect the accuracy-novelty trade-off?</a:t>
            </a:r>
            <a:endParaRPr b="0" lang="en-US" sz="2000" spc="-1" strike="noStrike">
              <a:latin typeface="Arial"/>
            </a:endParaRPr>
          </a:p>
          <a:p>
            <a:pPr>
              <a:lnSpc>
                <a:spcPct val="100000"/>
              </a:lnSpc>
              <a:buNone/>
            </a:pPr>
            <a:endParaRPr b="0" lang="en-US" sz="2000" spc="-1" strike="noStrike">
              <a:latin typeface="Arial"/>
            </a:endParaRPr>
          </a:p>
          <a:p>
            <a:pPr marL="216000" indent="-216000">
              <a:lnSpc>
                <a:spcPct val="100000"/>
              </a:lnSpc>
              <a:buClr>
                <a:srgbClr val="000000"/>
              </a:buClr>
              <a:buSzPct val="45000"/>
              <a:buFont typeface="Wingdings" charset="2"/>
              <a:buChar char=""/>
            </a:pPr>
            <a:r>
              <a:rPr b="0" i="1" lang="en" sz="2000" spc="-1" strike="noStrike">
                <a:solidFill>
                  <a:srgbClr val="002e65"/>
                </a:solidFill>
                <a:latin typeface="Calibri"/>
                <a:ea typeface="Calibri"/>
              </a:rPr>
              <a:t>Can user-specific novelty weighting, where users are grouped based on profile characteristics, improve the accuracy-novelty trade-off compared to a single global novelty weight?</a:t>
            </a:r>
            <a:endParaRPr b="0" lang="en-US" sz="2000" spc="-1" strike="noStrike">
              <a:latin typeface="Arial"/>
            </a:endParaRPr>
          </a:p>
        </p:txBody>
      </p:sp>
      <p:sp>
        <p:nvSpPr>
          <p:cNvPr id="132" name="Google Shape;167;p 2"/>
          <p:cNvSpPr/>
          <p:nvPr/>
        </p:nvSpPr>
        <p:spPr>
          <a:xfrm>
            <a:off x="6693120" y="4754520"/>
            <a:ext cx="1982520" cy="272880"/>
          </a:xfrm>
          <a:prstGeom prst="rect">
            <a:avLst/>
          </a:prstGeom>
          <a:noFill/>
          <a:ln w="0">
            <a:noFill/>
          </a:ln>
        </p:spPr>
        <p:style>
          <a:lnRef idx="0"/>
          <a:fillRef idx="0"/>
          <a:effectRef idx="0"/>
          <a:fontRef idx="minor"/>
        </p:style>
        <p:txBody>
          <a:bodyPr lIns="68400" rIns="68400" tIns="34200" bIns="34200" anchor="ctr">
            <a:noAutofit/>
          </a:bodyPr>
          <a:p>
            <a:pPr algn="r">
              <a:lnSpc>
                <a:spcPct val="100000"/>
              </a:lnSpc>
              <a:buNone/>
              <a:tabLst>
                <a:tab algn="l" pos="0"/>
              </a:tabLst>
            </a:pPr>
            <a:fld id="{E9096B51-00F0-4D8C-892A-A7C1BEA8A4E7}" type="slidenum">
              <a:rPr b="0" lang="en" sz="800" spc="-1" strike="noStrike">
                <a:solidFill>
                  <a:srgbClr val="002e65"/>
                </a:solidFill>
                <a:latin typeface="Calibri"/>
                <a:ea typeface="Calibri"/>
              </a:rPr>
              <a:t>2</a:t>
            </a:fld>
            <a:endParaRPr b="0" lang="en-US" sz="8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sldNum" idx="6"/>
          </p:nvPr>
        </p:nvSpPr>
        <p:spPr>
          <a:xfrm>
            <a:off x="6692760" y="4754520"/>
            <a:ext cx="1982520" cy="272880"/>
          </a:xfrm>
          <a:prstGeom prst="rect">
            <a:avLst/>
          </a:prstGeom>
          <a:noFill/>
          <a:ln w="0">
            <a:noFill/>
          </a:ln>
        </p:spPr>
        <p:txBody>
          <a:bodyPr lIns="68400" rIns="68400" tIns="34200" bIns="34200" anchor="ctr">
            <a:noAutofit/>
          </a:bodyPr>
          <a:lstStyle>
            <a:lvl1pPr algn="r">
              <a:lnSpc>
                <a:spcPct val="100000"/>
              </a:lnSpc>
              <a:buNone/>
              <a:tabLst>
                <a:tab algn="l" pos="0"/>
              </a:tabLst>
              <a:defRPr b="0" lang="en" sz="800" spc="-1" strike="noStrike">
                <a:solidFill>
                  <a:srgbClr val="002e65"/>
                </a:solidFill>
                <a:latin typeface="Calibri"/>
                <a:ea typeface="Calibri"/>
              </a:defRPr>
            </a:lvl1pPr>
          </a:lstStyle>
          <a:p>
            <a:pPr algn="r">
              <a:lnSpc>
                <a:spcPct val="100000"/>
              </a:lnSpc>
              <a:buNone/>
              <a:tabLst>
                <a:tab algn="l" pos="0"/>
              </a:tabLst>
            </a:pPr>
            <a:fld id="{7E1BFCE0-B841-4011-A350-5BC5C9E80A6C}" type="slidenum">
              <a:rPr b="0" lang="en" sz="800" spc="-1" strike="noStrike">
                <a:solidFill>
                  <a:srgbClr val="002e65"/>
                </a:solidFill>
                <a:latin typeface="Calibri"/>
                <a:ea typeface="Calibri"/>
              </a:rPr>
              <a:t>2</a:t>
            </a:fld>
            <a:endParaRPr b="0" lang="en-US" sz="800" spc="-1" strike="noStrike">
              <a:latin typeface="Times New Roman"/>
            </a:endParaRPr>
          </a:p>
        </p:txBody>
      </p:sp>
      <p:sp>
        <p:nvSpPr>
          <p:cNvPr id="134" name="Google Shape;168;p4"/>
          <p:cNvSpPr/>
          <p:nvPr/>
        </p:nvSpPr>
        <p:spPr>
          <a:xfrm rot="10800600">
            <a:off x="189720" y="485640"/>
            <a:ext cx="8551800" cy="787320"/>
          </a:xfrm>
          <a:prstGeom prst="round1Rect">
            <a:avLst>
              <a:gd name="adj" fmla="val 16667"/>
            </a:avLst>
          </a:prstGeom>
          <a:solidFill>
            <a:schemeClr val="accent2"/>
          </a:solidFill>
          <a:ln w="0">
            <a:noFill/>
          </a:ln>
        </p:spPr>
        <p:style>
          <a:lnRef idx="0"/>
          <a:fillRef idx="0"/>
          <a:effectRef idx="0"/>
          <a:fontRef idx="minor"/>
        </p:style>
      </p:sp>
      <p:sp>
        <p:nvSpPr>
          <p:cNvPr id="135" name="PlaceHolder 2"/>
          <p:cNvSpPr>
            <a:spLocks noGrp="1"/>
          </p:cNvSpPr>
          <p:nvPr>
            <p:ph type="title"/>
          </p:nvPr>
        </p:nvSpPr>
        <p:spPr>
          <a:xfrm>
            <a:off x="468000" y="583200"/>
            <a:ext cx="8207280" cy="592560"/>
          </a:xfrm>
          <a:prstGeom prst="rect">
            <a:avLst/>
          </a:prstGeom>
          <a:noFill/>
          <a:ln w="0">
            <a:noFill/>
          </a:ln>
        </p:spPr>
        <p:txBody>
          <a:bodyPr lIns="0" rIns="0" tIns="0" bIns="0" anchor="ctr">
            <a:normAutofit/>
          </a:bodyPr>
          <a:p>
            <a:pPr>
              <a:lnSpc>
                <a:spcPct val="100000"/>
              </a:lnSpc>
              <a:buNone/>
              <a:tabLst>
                <a:tab algn="l" pos="0"/>
              </a:tabLst>
            </a:pPr>
            <a:r>
              <a:rPr b="1" lang="en" sz="2900" spc="-1" strike="noStrike">
                <a:solidFill>
                  <a:srgbClr val="ffffff"/>
                </a:solidFill>
                <a:latin typeface="Calibri"/>
                <a:ea typeface="Calibri"/>
              </a:rPr>
              <a:t>Me</a:t>
            </a:r>
            <a:r>
              <a:rPr b="1" lang="en" sz="2900" spc="-1" strike="noStrike">
                <a:solidFill>
                  <a:srgbClr val="ffffff"/>
                </a:solidFill>
                <a:latin typeface="Calibri"/>
                <a:ea typeface="Calibri"/>
              </a:rPr>
              <a:t>tho</a:t>
            </a:r>
            <a:r>
              <a:rPr b="1" lang="en" sz="2900" spc="-1" strike="noStrike">
                <a:solidFill>
                  <a:srgbClr val="ffffff"/>
                </a:solidFill>
                <a:latin typeface="Calibri"/>
                <a:ea typeface="Calibri"/>
              </a:rPr>
              <a:t>dol</a:t>
            </a:r>
            <a:r>
              <a:rPr b="1" lang="en" sz="2900" spc="-1" strike="noStrike">
                <a:solidFill>
                  <a:srgbClr val="ffffff"/>
                </a:solidFill>
                <a:latin typeface="Calibri"/>
                <a:ea typeface="Calibri"/>
              </a:rPr>
              <a:t>og</a:t>
            </a:r>
            <a:r>
              <a:rPr b="1" lang="en" sz="2900" spc="-1" strike="noStrike">
                <a:solidFill>
                  <a:srgbClr val="ffffff"/>
                </a:solidFill>
                <a:latin typeface="Calibri"/>
                <a:ea typeface="Calibri"/>
              </a:rPr>
              <a:t>y</a:t>
            </a:r>
            <a:endParaRPr b="0" lang="en-US" sz="2900" spc="-1" strike="noStrike">
              <a:latin typeface="Arial"/>
            </a:endParaRPr>
          </a:p>
        </p:txBody>
      </p:sp>
      <p:sp>
        <p:nvSpPr>
          <p:cNvPr id="136" name="Google Shape;170;p4"/>
          <p:cNvSpPr/>
          <p:nvPr/>
        </p:nvSpPr>
        <p:spPr>
          <a:xfrm>
            <a:off x="261360" y="1514520"/>
            <a:ext cx="8479080" cy="3231720"/>
          </a:xfrm>
          <a:prstGeom prst="rect">
            <a:avLst/>
          </a:prstGeom>
          <a:noFill/>
          <a:ln w="0">
            <a:noFill/>
          </a:ln>
        </p:spPr>
        <p:style>
          <a:lnRef idx="0"/>
          <a:fillRef idx="0"/>
          <a:effectRef idx="0"/>
          <a:fontRef idx="minor"/>
        </p:style>
        <p:txBody>
          <a:bodyPr lIns="90000" rIns="90000" tIns="91440" bIns="91440" anchor="t">
            <a:spAutoFit/>
          </a:bodyPr>
          <a:p>
            <a:pPr marL="216000" indent="-216000">
              <a:lnSpc>
                <a:spcPct val="100000"/>
              </a:lnSpc>
              <a:buNone/>
              <a:tabLst>
                <a:tab algn="l" pos="0"/>
              </a:tabLst>
            </a:pPr>
            <a:r>
              <a:rPr b="0" lang="en" sz="2000" spc="-1" strike="noStrike">
                <a:solidFill>
                  <a:srgbClr val="002e65"/>
                </a:solidFill>
                <a:latin typeface="Calibri"/>
                <a:ea typeface="Calibri"/>
              </a:rPr>
              <a:t>1. Build user-item interaction matrix from implicit data</a:t>
            </a:r>
            <a:endParaRPr b="0" lang="en-US" sz="2000" spc="-1" strike="noStrike">
              <a:latin typeface="Arial"/>
            </a:endParaRPr>
          </a:p>
          <a:p>
            <a:pPr marL="216000" indent="-216000">
              <a:lnSpc>
                <a:spcPct val="100000"/>
              </a:lnSpc>
              <a:buNone/>
              <a:tabLst>
                <a:tab algn="l" pos="0"/>
              </a:tabLst>
            </a:pPr>
            <a:r>
              <a:rPr b="0" lang="en" sz="2000" spc="-1" strike="noStrike">
                <a:solidFill>
                  <a:srgbClr val="002e65"/>
                </a:solidFill>
                <a:latin typeface="Calibri"/>
                <a:ea typeface="Calibri"/>
              </a:rPr>
              <a:t>2. Train EASE baseline, tune regularization λ, pick λ = 300</a:t>
            </a:r>
            <a:endParaRPr b="0" lang="en-US" sz="2000" spc="-1" strike="noStrike">
              <a:latin typeface="Arial"/>
            </a:endParaRPr>
          </a:p>
          <a:p>
            <a:pPr marL="216000" indent="-216000">
              <a:lnSpc>
                <a:spcPct val="100000"/>
              </a:lnSpc>
              <a:buNone/>
              <a:tabLst>
                <a:tab algn="l" pos="0"/>
              </a:tabLst>
            </a:pPr>
            <a:r>
              <a:rPr b="0" lang="en" sz="2000" spc="-1" strike="noStrike">
                <a:solidFill>
                  <a:srgbClr val="002e65"/>
                </a:solidFill>
                <a:latin typeface="Calibri"/>
                <a:ea typeface="Calibri"/>
              </a:rPr>
              <a:t>3. Compute genre based item-item similarities and distances</a:t>
            </a:r>
            <a:endParaRPr b="0" lang="en-US" sz="2000" spc="-1" strike="noStrike">
              <a:latin typeface="Arial"/>
            </a:endParaRPr>
          </a:p>
          <a:p>
            <a:pPr marL="216000" indent="-216000">
              <a:lnSpc>
                <a:spcPct val="100000"/>
              </a:lnSpc>
              <a:buNone/>
              <a:tabLst>
                <a:tab algn="l" pos="0"/>
              </a:tabLst>
            </a:pPr>
            <a:r>
              <a:rPr b="0" lang="en" sz="2000" spc="-1" strike="noStrike">
                <a:solidFill>
                  <a:srgbClr val="002e65"/>
                </a:solidFill>
                <a:latin typeface="Calibri"/>
                <a:ea typeface="Calibri"/>
              </a:rPr>
              <a:t>4. Compute item to history novelty scores for each user and candidate item</a:t>
            </a:r>
            <a:endParaRPr b="0" lang="en-US" sz="2000" spc="-1" strike="noStrike">
              <a:latin typeface="Arial"/>
            </a:endParaRPr>
          </a:p>
          <a:p>
            <a:pPr marL="216000" indent="-216000">
              <a:lnSpc>
                <a:spcPct val="100000"/>
              </a:lnSpc>
              <a:buNone/>
              <a:tabLst>
                <a:tab algn="l" pos="0"/>
              </a:tabLst>
            </a:pPr>
            <a:r>
              <a:rPr b="0" lang="en" sz="2000" spc="-1" strike="noStrike">
                <a:solidFill>
                  <a:srgbClr val="002e65"/>
                </a:solidFill>
                <a:latin typeface="Calibri"/>
                <a:ea typeface="Calibri"/>
              </a:rPr>
              <a:t>5. Rerank EASE scores</a:t>
            </a:r>
            <a:endParaRPr b="0" lang="en-US" sz="2000" spc="-1" strike="noStrike">
              <a:latin typeface="Arial"/>
            </a:endParaRPr>
          </a:p>
          <a:p>
            <a:pPr lvl="2" marL="648000" indent="-216000">
              <a:lnSpc>
                <a:spcPct val="100000"/>
              </a:lnSpc>
              <a:buClr>
                <a:srgbClr val="000000"/>
              </a:buClr>
              <a:buSzPct val="45000"/>
              <a:buFont typeface="Wingdings" charset="2"/>
              <a:buChar char=""/>
              <a:tabLst>
                <a:tab algn="l" pos="0"/>
              </a:tabLst>
            </a:pPr>
            <a:r>
              <a:rPr b="0" lang="en" sz="2000" spc="-1" strike="noStrike">
                <a:solidFill>
                  <a:srgbClr val="002e65"/>
                </a:solidFill>
                <a:latin typeface="Calibri"/>
                <a:ea typeface="Calibri"/>
              </a:rPr>
              <a:t>Global novelty weight</a:t>
            </a:r>
            <a:endParaRPr b="0" lang="en-US" sz="2000" spc="-1" strike="noStrike">
              <a:latin typeface="Arial"/>
            </a:endParaRPr>
          </a:p>
          <a:p>
            <a:pPr lvl="2" marL="648000" indent="-216000">
              <a:lnSpc>
                <a:spcPct val="100000"/>
              </a:lnSpc>
              <a:buClr>
                <a:srgbClr val="000000"/>
              </a:buClr>
              <a:buSzPct val="45000"/>
              <a:buFont typeface="Wingdings" charset="2"/>
              <a:buChar char=""/>
              <a:tabLst>
                <a:tab algn="l" pos="0"/>
              </a:tabLst>
            </a:pPr>
            <a:r>
              <a:rPr b="0" lang="en" sz="2000" spc="-1" strike="noStrike">
                <a:solidFill>
                  <a:srgbClr val="002e65"/>
                </a:solidFill>
                <a:latin typeface="Calibri"/>
                <a:ea typeface="Calibri"/>
              </a:rPr>
              <a:t>User specific novelty weight (profile, genre, combined)</a:t>
            </a:r>
            <a:endParaRPr b="0" lang="en-US" sz="2000" spc="-1" strike="noStrike">
              <a:latin typeface="Arial"/>
            </a:endParaRPr>
          </a:p>
          <a:p>
            <a:pPr marL="216000" indent="-216000">
              <a:lnSpc>
                <a:spcPct val="100000"/>
              </a:lnSpc>
              <a:buNone/>
              <a:tabLst>
                <a:tab algn="l" pos="0"/>
              </a:tabLst>
            </a:pPr>
            <a:r>
              <a:rPr b="0" lang="en" sz="2000" spc="-1" strike="noStrike">
                <a:solidFill>
                  <a:srgbClr val="002e65"/>
                </a:solidFill>
                <a:latin typeface="Calibri"/>
                <a:ea typeface="Calibri"/>
              </a:rPr>
              <a:t>6. Evaluate accuracy and novelty metrics</a:t>
            </a:r>
            <a:endParaRPr b="0" lang="en-US" sz="2000" spc="-1" strike="noStrike">
              <a:latin typeface="Arial"/>
            </a:endParaRPr>
          </a:p>
          <a:p>
            <a:pPr marL="216000" indent="-216000">
              <a:lnSpc>
                <a:spcPct val="100000"/>
              </a:lnSpc>
              <a:buNone/>
              <a:tabLst>
                <a:tab algn="l" pos="0"/>
              </a:tabLst>
            </a:pPr>
            <a:r>
              <a:rPr b="0" lang="en" sz="2000" spc="-1" strike="noStrike">
                <a:solidFill>
                  <a:srgbClr val="002e65"/>
                </a:solidFill>
                <a:latin typeface="Calibri"/>
                <a:ea typeface="Calibri"/>
              </a:rPr>
              <a:t>7. Discuss tradeoffs and answer RQs</a:t>
            </a:r>
            <a:endParaRPr b="0" lang="en-US" sz="20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sldNum" idx="7"/>
          </p:nvPr>
        </p:nvSpPr>
        <p:spPr>
          <a:xfrm>
            <a:off x="6692760" y="4754520"/>
            <a:ext cx="1982520" cy="272880"/>
          </a:xfrm>
          <a:prstGeom prst="rect">
            <a:avLst/>
          </a:prstGeom>
          <a:noFill/>
          <a:ln w="0">
            <a:noFill/>
          </a:ln>
        </p:spPr>
        <p:txBody>
          <a:bodyPr lIns="68400" rIns="68400" tIns="34200" bIns="34200" anchor="ctr">
            <a:noAutofit/>
          </a:bodyPr>
          <a:lstStyle>
            <a:lvl1pPr algn="r">
              <a:lnSpc>
                <a:spcPct val="100000"/>
              </a:lnSpc>
              <a:buNone/>
              <a:tabLst>
                <a:tab algn="l" pos="0"/>
              </a:tabLst>
              <a:defRPr b="0" lang="en" sz="800" spc="-1" strike="noStrike">
                <a:solidFill>
                  <a:srgbClr val="002e65"/>
                </a:solidFill>
                <a:latin typeface="Calibri"/>
                <a:ea typeface="Calibri"/>
              </a:defRPr>
            </a:lvl1pPr>
          </a:lstStyle>
          <a:p>
            <a:pPr algn="r">
              <a:lnSpc>
                <a:spcPct val="100000"/>
              </a:lnSpc>
              <a:buNone/>
              <a:tabLst>
                <a:tab algn="l" pos="0"/>
              </a:tabLst>
            </a:pPr>
            <a:fld id="{E00D2B7A-769B-400B-BBE7-8FDD5C4325D9}" type="slidenum">
              <a:rPr b="0" lang="en" sz="800" spc="-1" strike="noStrike">
                <a:solidFill>
                  <a:srgbClr val="002e65"/>
                </a:solidFill>
                <a:latin typeface="Calibri"/>
                <a:ea typeface="Calibri"/>
              </a:rPr>
              <a:t>3</a:t>
            </a:fld>
            <a:endParaRPr b="0" lang="en-US" sz="800" spc="-1" strike="noStrike">
              <a:latin typeface="Times New Roman"/>
            </a:endParaRPr>
          </a:p>
        </p:txBody>
      </p:sp>
      <p:sp>
        <p:nvSpPr>
          <p:cNvPr id="138" name="Google Shape;184;p 5"/>
          <p:cNvSpPr/>
          <p:nvPr/>
        </p:nvSpPr>
        <p:spPr>
          <a:xfrm rot="10800600">
            <a:off x="189720" y="485640"/>
            <a:ext cx="8551800" cy="787320"/>
          </a:xfrm>
          <a:prstGeom prst="round1Rect">
            <a:avLst>
              <a:gd name="adj" fmla="val 16667"/>
            </a:avLst>
          </a:prstGeom>
          <a:solidFill>
            <a:schemeClr val="accent2"/>
          </a:solidFill>
          <a:ln w="0">
            <a:noFill/>
          </a:ln>
        </p:spPr>
        <p:style>
          <a:lnRef idx="0"/>
          <a:fillRef idx="0"/>
          <a:effectRef idx="0"/>
          <a:fontRef idx="minor"/>
        </p:style>
      </p:sp>
      <p:sp>
        <p:nvSpPr>
          <p:cNvPr id="139" name="PlaceHolder 2"/>
          <p:cNvSpPr>
            <a:spLocks noGrp="1"/>
          </p:cNvSpPr>
          <p:nvPr>
            <p:ph type="title"/>
          </p:nvPr>
        </p:nvSpPr>
        <p:spPr>
          <a:xfrm>
            <a:off x="468000" y="583200"/>
            <a:ext cx="8207280" cy="592560"/>
          </a:xfrm>
          <a:prstGeom prst="rect">
            <a:avLst/>
          </a:prstGeom>
          <a:noFill/>
          <a:ln w="0">
            <a:noFill/>
          </a:ln>
        </p:spPr>
        <p:txBody>
          <a:bodyPr lIns="0" rIns="0" tIns="0" bIns="0" anchor="ctr">
            <a:normAutofit/>
          </a:bodyPr>
          <a:p>
            <a:pPr>
              <a:lnSpc>
                <a:spcPct val="100000"/>
              </a:lnSpc>
              <a:buNone/>
              <a:tabLst>
                <a:tab algn="l" pos="0"/>
              </a:tabLst>
            </a:pPr>
            <a:r>
              <a:rPr b="1" lang="en" sz="2900" spc="-1" strike="noStrike">
                <a:solidFill>
                  <a:srgbClr val="ffffff"/>
                </a:solidFill>
                <a:latin typeface="Calibri"/>
                <a:ea typeface="Calibri"/>
              </a:rPr>
              <a:t>Re</a:t>
            </a:r>
            <a:r>
              <a:rPr b="1" lang="en" sz="2900" spc="-1" strike="noStrike">
                <a:solidFill>
                  <a:srgbClr val="ffffff"/>
                </a:solidFill>
                <a:latin typeface="Calibri"/>
                <a:ea typeface="Calibri"/>
              </a:rPr>
              <a:t>sul</a:t>
            </a:r>
            <a:r>
              <a:rPr b="1" lang="en" sz="2900" spc="-1" strike="noStrike">
                <a:solidFill>
                  <a:srgbClr val="ffffff"/>
                </a:solidFill>
                <a:latin typeface="Calibri"/>
                <a:ea typeface="Calibri"/>
              </a:rPr>
              <a:t>ts: </a:t>
            </a:r>
            <a:r>
              <a:rPr b="1" lang="en" sz="2900" spc="-1" strike="noStrike">
                <a:solidFill>
                  <a:srgbClr val="ffffff"/>
                </a:solidFill>
                <a:latin typeface="Calibri"/>
                <a:ea typeface="Calibri"/>
              </a:rPr>
              <a:t>EA</a:t>
            </a:r>
            <a:r>
              <a:rPr b="1" lang="en" sz="2900" spc="-1" strike="noStrike">
                <a:solidFill>
                  <a:srgbClr val="ffffff"/>
                </a:solidFill>
                <a:latin typeface="Calibri"/>
                <a:ea typeface="Calibri"/>
              </a:rPr>
              <a:t>SE </a:t>
            </a:r>
            <a:r>
              <a:rPr b="1" lang="en" sz="2900" spc="-1" strike="noStrike">
                <a:solidFill>
                  <a:srgbClr val="ffffff"/>
                </a:solidFill>
                <a:latin typeface="Calibri"/>
                <a:ea typeface="Calibri"/>
              </a:rPr>
              <a:t>sw</a:t>
            </a:r>
            <a:r>
              <a:rPr b="1" lang="en" sz="2900" spc="-1" strike="noStrike">
                <a:solidFill>
                  <a:srgbClr val="ffffff"/>
                </a:solidFill>
                <a:latin typeface="Calibri"/>
                <a:ea typeface="Calibri"/>
              </a:rPr>
              <a:t>ee</a:t>
            </a:r>
            <a:r>
              <a:rPr b="1" lang="en" sz="2900" spc="-1" strike="noStrike">
                <a:solidFill>
                  <a:srgbClr val="ffffff"/>
                </a:solidFill>
                <a:latin typeface="Calibri"/>
                <a:ea typeface="Calibri"/>
              </a:rPr>
              <a:t>p </a:t>
            </a:r>
            <a:r>
              <a:rPr b="1" lang="en" sz="2900" spc="-1" strike="noStrike">
                <a:solidFill>
                  <a:srgbClr val="ffffff"/>
                </a:solidFill>
                <a:latin typeface="Calibri"/>
                <a:ea typeface="Calibri"/>
              </a:rPr>
              <a:t>(o</a:t>
            </a:r>
            <a:r>
              <a:rPr b="1" lang="en" sz="2900" spc="-1" strike="noStrike">
                <a:solidFill>
                  <a:srgbClr val="ffffff"/>
                </a:solidFill>
                <a:latin typeface="Calibri"/>
                <a:ea typeface="Calibri"/>
              </a:rPr>
              <a:t>ffli</a:t>
            </a:r>
            <a:r>
              <a:rPr b="1" lang="en" sz="2900" spc="-1" strike="noStrike">
                <a:solidFill>
                  <a:srgbClr val="ffffff"/>
                </a:solidFill>
                <a:latin typeface="Calibri"/>
                <a:ea typeface="Calibri"/>
              </a:rPr>
              <a:t>ne)</a:t>
            </a:r>
            <a:endParaRPr b="0" lang="en-US" sz="2900" spc="-1" strike="noStrike">
              <a:latin typeface="Arial"/>
            </a:endParaRPr>
          </a:p>
        </p:txBody>
      </p:sp>
      <p:pic>
        <p:nvPicPr>
          <p:cNvPr id="140" name="Afbeelding 126" descr=""/>
          <p:cNvPicPr/>
          <p:nvPr/>
        </p:nvPicPr>
        <p:blipFill>
          <a:blip r:embed="rId1"/>
          <a:stretch/>
        </p:blipFill>
        <p:spPr>
          <a:xfrm>
            <a:off x="457200" y="1371600"/>
            <a:ext cx="8000280" cy="32961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1" name="PlaceHolder 1"/>
          <p:cNvSpPr>
            <a:spLocks noGrp="1"/>
          </p:cNvSpPr>
          <p:nvPr>
            <p:ph type="sldNum" idx="8"/>
          </p:nvPr>
        </p:nvSpPr>
        <p:spPr>
          <a:xfrm>
            <a:off x="6692760" y="4754520"/>
            <a:ext cx="1982520" cy="272880"/>
          </a:xfrm>
          <a:prstGeom prst="rect">
            <a:avLst/>
          </a:prstGeom>
          <a:noFill/>
          <a:ln w="0">
            <a:noFill/>
          </a:ln>
        </p:spPr>
        <p:txBody>
          <a:bodyPr lIns="68400" rIns="68400" tIns="34200" bIns="34200" anchor="ctr">
            <a:noAutofit/>
          </a:bodyPr>
          <a:lstStyle>
            <a:lvl1pPr algn="r">
              <a:lnSpc>
                <a:spcPct val="100000"/>
              </a:lnSpc>
              <a:buNone/>
              <a:tabLst>
                <a:tab algn="l" pos="0"/>
              </a:tabLst>
              <a:defRPr b="0" lang="en" sz="800" spc="-1" strike="noStrike">
                <a:solidFill>
                  <a:srgbClr val="002e65"/>
                </a:solidFill>
                <a:latin typeface="Calibri"/>
                <a:ea typeface="Calibri"/>
              </a:defRPr>
            </a:lvl1pPr>
          </a:lstStyle>
          <a:p>
            <a:pPr algn="r">
              <a:lnSpc>
                <a:spcPct val="100000"/>
              </a:lnSpc>
              <a:buNone/>
              <a:tabLst>
                <a:tab algn="l" pos="0"/>
              </a:tabLst>
            </a:pPr>
            <a:fld id="{0CBE27DD-D24A-409F-8E26-154540671CB9}" type="slidenum">
              <a:rPr b="0" lang="en" sz="800" spc="-1" strike="noStrike">
                <a:solidFill>
                  <a:srgbClr val="002e65"/>
                </a:solidFill>
                <a:latin typeface="Calibri"/>
                <a:ea typeface="Calibri"/>
              </a:rPr>
              <a:t>4</a:t>
            </a:fld>
            <a:endParaRPr b="0" lang="en-US" sz="800" spc="-1" strike="noStrike">
              <a:latin typeface="Times New Roman"/>
            </a:endParaRPr>
          </a:p>
        </p:txBody>
      </p:sp>
      <p:sp>
        <p:nvSpPr>
          <p:cNvPr id="142" name="Google Shape;184;p 4"/>
          <p:cNvSpPr/>
          <p:nvPr/>
        </p:nvSpPr>
        <p:spPr>
          <a:xfrm rot="10800600">
            <a:off x="189720" y="485640"/>
            <a:ext cx="8551800" cy="787320"/>
          </a:xfrm>
          <a:prstGeom prst="round1Rect">
            <a:avLst>
              <a:gd name="adj" fmla="val 16667"/>
            </a:avLst>
          </a:prstGeom>
          <a:solidFill>
            <a:schemeClr val="accent2"/>
          </a:solidFill>
          <a:ln w="0">
            <a:noFill/>
          </a:ln>
        </p:spPr>
        <p:style>
          <a:lnRef idx="0"/>
          <a:fillRef idx="0"/>
          <a:effectRef idx="0"/>
          <a:fontRef idx="minor"/>
        </p:style>
      </p:sp>
      <p:sp>
        <p:nvSpPr>
          <p:cNvPr id="143" name="PlaceHolder 2"/>
          <p:cNvSpPr>
            <a:spLocks noGrp="1"/>
          </p:cNvSpPr>
          <p:nvPr>
            <p:ph type="title"/>
          </p:nvPr>
        </p:nvSpPr>
        <p:spPr>
          <a:xfrm>
            <a:off x="468000" y="583200"/>
            <a:ext cx="8207280" cy="592560"/>
          </a:xfrm>
          <a:prstGeom prst="rect">
            <a:avLst/>
          </a:prstGeom>
          <a:noFill/>
          <a:ln w="0">
            <a:noFill/>
          </a:ln>
        </p:spPr>
        <p:txBody>
          <a:bodyPr lIns="0" rIns="0" tIns="0" bIns="0" anchor="ctr">
            <a:normAutofit/>
          </a:bodyPr>
          <a:p>
            <a:pPr>
              <a:lnSpc>
                <a:spcPct val="100000"/>
              </a:lnSpc>
              <a:buNone/>
              <a:tabLst>
                <a:tab algn="l" pos="0"/>
              </a:tabLst>
            </a:pPr>
            <a:r>
              <a:rPr b="1" lang="en" sz="2900" spc="-1" strike="noStrike">
                <a:solidFill>
                  <a:srgbClr val="ffffff"/>
                </a:solidFill>
                <a:latin typeface="Calibri"/>
                <a:ea typeface="Calibri"/>
              </a:rPr>
              <a:t>EA</a:t>
            </a:r>
            <a:r>
              <a:rPr b="1" lang="en" sz="2900" spc="-1" strike="noStrike">
                <a:solidFill>
                  <a:srgbClr val="ffffff"/>
                </a:solidFill>
                <a:latin typeface="Calibri"/>
                <a:ea typeface="Calibri"/>
              </a:rPr>
              <a:t>SE </a:t>
            </a:r>
            <a:r>
              <a:rPr b="1" lang="en" sz="2900" spc="-1" strike="noStrike">
                <a:solidFill>
                  <a:srgbClr val="ffffff"/>
                </a:solidFill>
                <a:latin typeface="Calibri"/>
                <a:ea typeface="Calibri"/>
              </a:rPr>
              <a:t>un</a:t>
            </a:r>
            <a:r>
              <a:rPr b="1" lang="en" sz="2900" spc="-1" strike="noStrike">
                <a:solidFill>
                  <a:srgbClr val="ffffff"/>
                </a:solidFill>
                <a:latin typeface="Calibri"/>
                <a:ea typeface="Calibri"/>
              </a:rPr>
              <a:t>der </a:t>
            </a:r>
            <a:r>
              <a:rPr b="1" lang="en" sz="2900" spc="-1" strike="noStrike">
                <a:solidFill>
                  <a:srgbClr val="ffffff"/>
                </a:solidFill>
                <a:latin typeface="Calibri"/>
                <a:ea typeface="Calibri"/>
              </a:rPr>
              <a:t>the </a:t>
            </a:r>
            <a:r>
              <a:rPr b="1" lang="en" sz="2900" spc="-1" strike="noStrike">
                <a:solidFill>
                  <a:srgbClr val="ffffff"/>
                </a:solidFill>
                <a:latin typeface="Calibri"/>
                <a:ea typeface="Calibri"/>
              </a:rPr>
              <a:t>ho</a:t>
            </a:r>
            <a:r>
              <a:rPr b="1" lang="en" sz="2900" spc="-1" strike="noStrike">
                <a:solidFill>
                  <a:srgbClr val="ffffff"/>
                </a:solidFill>
                <a:latin typeface="Calibri"/>
                <a:ea typeface="Calibri"/>
              </a:rPr>
              <a:t>od</a:t>
            </a:r>
            <a:endParaRPr b="0" lang="en-US" sz="2900" spc="-1" strike="noStrike">
              <a:latin typeface="Arial"/>
            </a:endParaRPr>
          </a:p>
        </p:txBody>
      </p:sp>
      <p:graphicFrame>
        <p:nvGraphicFramePr>
          <p:cNvPr id="144" name="Tabel 107"/>
          <p:cNvGraphicFramePr/>
          <p:nvPr/>
        </p:nvGraphicFramePr>
        <p:xfrm>
          <a:off x="241920" y="1315080"/>
          <a:ext cx="3470760" cy="1052280"/>
        </p:xfrm>
        <a:graphic>
          <a:graphicData uri="http://schemas.openxmlformats.org/drawingml/2006/table">
            <a:tbl>
              <a:tblPr/>
              <a:tblGrid>
                <a:gridCol w="693720"/>
                <a:gridCol w="693720"/>
                <a:gridCol w="693720"/>
                <a:gridCol w="693720"/>
                <a:gridCol w="696240"/>
              </a:tblGrid>
              <a:tr h="392760">
                <a:tc>
                  <a:txBody>
                    <a:bodyPr lIns="90000" rIns="90000" anchor="t">
                      <a:noAutofit/>
                    </a:bodyPr>
                    <a:p>
                      <a:pPr>
                        <a:lnSpc>
                          <a:spcPct val="100000"/>
                        </a:lnSpc>
                        <a:buNone/>
                      </a:pPr>
                      <a:r>
                        <a:rPr b="1" lang="en-US" sz="900" spc="-1" strike="noStrike">
                          <a:solidFill>
                            <a:srgbClr val="000000"/>
                          </a:solidFill>
                          <a:latin typeface="Arial"/>
                          <a:ea typeface="DejaVu Sans"/>
                        </a:rPr>
                        <a:t>user</a:t>
                      </a:r>
                      <a:endParaRPr b="0" lang="en-US" sz="900" spc="-1" strike="noStrike">
                        <a:latin typeface="Arial"/>
                      </a:endParaRPr>
                    </a:p>
                  </a:txBody>
                  <a:tcPr anchor="t" marL="90000" marR="90000">
                    <a:lnL w="12240">
                      <a:solidFill>
                        <a:srgbClr val="006ca9"/>
                      </a:solid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1" lang="en-US" sz="900" spc="-1" strike="noStrike">
                          <a:solidFill>
                            <a:srgbClr val="000000"/>
                          </a:solidFill>
                          <a:latin typeface="Arial"/>
                          <a:ea typeface="DejaVu Sans"/>
                        </a:rPr>
                        <a:t>Half Life 2</a:t>
                      </a:r>
                      <a:endParaRPr b="0" lang="en-US" sz="9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1" lang="en-US" sz="900" spc="-1" strike="noStrike">
                          <a:solidFill>
                            <a:srgbClr val="000000"/>
                          </a:solidFill>
                          <a:latin typeface="Arial"/>
                          <a:ea typeface="DejaVu Sans"/>
                        </a:rPr>
                        <a:t>Portal</a:t>
                      </a:r>
                      <a:endParaRPr b="0" lang="en-US" sz="9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1" lang="en-US" sz="900" spc="-1" strike="noStrike">
                          <a:solidFill>
                            <a:srgbClr val="000000"/>
                          </a:solidFill>
                          <a:latin typeface="Arial"/>
                          <a:ea typeface="DejaVu Sans"/>
                        </a:rPr>
                        <a:t>Terraria</a:t>
                      </a:r>
                      <a:endParaRPr b="0" lang="en-US" sz="9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1" lang="en-US" sz="900" spc="-1" strike="noStrike">
                          <a:solidFill>
                            <a:srgbClr val="000000"/>
                          </a:solidFill>
                          <a:latin typeface="Arial"/>
                          <a:ea typeface="DejaVu Sans"/>
                        </a:rPr>
                        <a:t>Killing Floor</a:t>
                      </a:r>
                      <a:endParaRPr b="0" lang="en-US" sz="900" spc="-1" strike="noStrike">
                        <a:latin typeface="Arial"/>
                      </a:endParaRPr>
                    </a:p>
                  </a:txBody>
                  <a:tcPr anchor="t" marL="90000" marR="90000">
                    <a:lnL>
                      <a:noFill/>
                    </a:lnL>
                    <a:lnR w="12240">
                      <a:solidFill>
                        <a:srgbClr val="006ca9"/>
                      </a:solidFill>
                    </a:lnR>
                    <a:lnT w="12240">
                      <a:solidFill>
                        <a:srgbClr val="006ca9"/>
                      </a:solidFill>
                    </a:lnT>
                    <a:lnB w="12240">
                      <a:solidFill>
                        <a:srgbClr val="006ca9"/>
                      </a:solidFill>
                    </a:lnB>
                    <a:solidFill>
                      <a:srgbClr val="ffffff"/>
                    </a:solidFill>
                  </a:tcPr>
                </a:tc>
              </a:tr>
              <a:tr h="219960">
                <a:tc>
                  <a:txBody>
                    <a:bodyPr lIns="90000" rIns="90000" anchor="t">
                      <a:noAutofit/>
                    </a:bodyPr>
                    <a:p>
                      <a:pPr>
                        <a:lnSpc>
                          <a:spcPct val="100000"/>
                        </a:lnSpc>
                        <a:buNone/>
                      </a:pPr>
                      <a:r>
                        <a:rPr b="0" lang="en-US" sz="900" spc="-1" strike="noStrike">
                          <a:solidFill>
                            <a:srgbClr val="000000"/>
                          </a:solidFill>
                          <a:latin typeface="Arial"/>
                          <a:ea typeface="DejaVu Sans"/>
                        </a:rPr>
                        <a:t>u0</a:t>
                      </a:r>
                      <a:endParaRPr b="0" lang="en-US" sz="900" spc="-1" strike="noStrike">
                        <a:latin typeface="Arial"/>
                      </a:endParaRPr>
                    </a:p>
                  </a:txBody>
                  <a:tcPr anchor="t" marL="90000" marR="90000">
                    <a:lnL w="12240">
                      <a:solidFill>
                        <a:srgbClr val="006ca9"/>
                      </a:solid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900" spc="-1" strike="noStrike">
                          <a:solidFill>
                            <a:srgbClr val="000000"/>
                          </a:solidFill>
                          <a:latin typeface="Arial"/>
                          <a:ea typeface="DejaVu Sans"/>
                        </a:rPr>
                        <a:t>1</a:t>
                      </a:r>
                      <a:endParaRPr b="0" lang="en-US" sz="9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900" spc="-1" strike="noStrike">
                          <a:solidFill>
                            <a:srgbClr val="000000"/>
                          </a:solidFill>
                          <a:latin typeface="Arial"/>
                          <a:ea typeface="DejaVu Sans"/>
                        </a:rPr>
                        <a:t>1</a:t>
                      </a:r>
                      <a:endParaRPr b="0" lang="en-US" sz="9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900" spc="-1" strike="noStrike">
                          <a:solidFill>
                            <a:srgbClr val="000000"/>
                          </a:solidFill>
                          <a:latin typeface="Arial"/>
                          <a:ea typeface="DejaVu Sans"/>
                        </a:rPr>
                        <a:t>1</a:t>
                      </a:r>
                      <a:endParaRPr b="0" lang="en-US" sz="9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900" spc="-1" strike="noStrike">
                          <a:solidFill>
                            <a:srgbClr val="000000"/>
                          </a:solidFill>
                          <a:latin typeface="Arial"/>
                          <a:ea typeface="DejaVu Sans"/>
                        </a:rPr>
                        <a:t>0</a:t>
                      </a:r>
                      <a:endParaRPr b="0" lang="en-US" sz="900" spc="-1" strike="noStrike">
                        <a:latin typeface="Arial"/>
                      </a:endParaRPr>
                    </a:p>
                  </a:txBody>
                  <a:tcPr anchor="t" marL="90000" marR="90000">
                    <a:lnL>
                      <a:noFill/>
                    </a:lnL>
                    <a:lnR w="12240">
                      <a:solidFill>
                        <a:srgbClr val="006ca9"/>
                      </a:solidFill>
                    </a:lnR>
                    <a:lnT w="12240">
                      <a:solidFill>
                        <a:srgbClr val="006ca9"/>
                      </a:solidFill>
                    </a:lnT>
                    <a:lnB w="12240">
                      <a:solidFill>
                        <a:srgbClr val="006ca9"/>
                      </a:solidFill>
                    </a:lnB>
                    <a:solidFill>
                      <a:srgbClr val="ffffff"/>
                    </a:solidFill>
                  </a:tcPr>
                </a:tc>
              </a:tr>
              <a:tr h="219960">
                <a:tc>
                  <a:txBody>
                    <a:bodyPr lIns="90000" rIns="90000" anchor="t">
                      <a:noAutofit/>
                    </a:bodyPr>
                    <a:p>
                      <a:pPr>
                        <a:lnSpc>
                          <a:spcPct val="100000"/>
                        </a:lnSpc>
                        <a:buNone/>
                      </a:pPr>
                      <a:r>
                        <a:rPr b="0" lang="en-US" sz="900" spc="-1" strike="noStrike">
                          <a:solidFill>
                            <a:srgbClr val="000000"/>
                          </a:solidFill>
                          <a:latin typeface="Arial"/>
                          <a:ea typeface="DejaVu Sans"/>
                        </a:rPr>
                        <a:t>u1</a:t>
                      </a:r>
                      <a:endParaRPr b="0" lang="en-US" sz="900" spc="-1" strike="noStrike">
                        <a:latin typeface="Arial"/>
                      </a:endParaRPr>
                    </a:p>
                  </a:txBody>
                  <a:tcPr anchor="t" marL="90000" marR="90000">
                    <a:lnL w="12240">
                      <a:solidFill>
                        <a:srgbClr val="006ca9"/>
                      </a:solid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900" spc="-1" strike="noStrike">
                          <a:solidFill>
                            <a:srgbClr val="000000"/>
                          </a:solidFill>
                          <a:latin typeface="Arial"/>
                          <a:ea typeface="DejaVu Sans"/>
                        </a:rPr>
                        <a:t>1</a:t>
                      </a:r>
                      <a:endParaRPr b="0" lang="en-US" sz="9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900" spc="-1" strike="noStrike">
                          <a:solidFill>
                            <a:srgbClr val="000000"/>
                          </a:solidFill>
                          <a:latin typeface="Arial"/>
                          <a:ea typeface="DejaVu Sans"/>
                        </a:rPr>
                        <a:t>0</a:t>
                      </a:r>
                      <a:endParaRPr b="0" lang="en-US" sz="9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900" spc="-1" strike="noStrike">
                          <a:solidFill>
                            <a:srgbClr val="000000"/>
                          </a:solidFill>
                          <a:latin typeface="Arial"/>
                          <a:ea typeface="DejaVu Sans"/>
                        </a:rPr>
                        <a:t>1</a:t>
                      </a:r>
                      <a:endParaRPr b="0" lang="en-US" sz="9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900" spc="-1" strike="noStrike">
                          <a:solidFill>
                            <a:srgbClr val="000000"/>
                          </a:solidFill>
                          <a:latin typeface="Arial"/>
                          <a:ea typeface="DejaVu Sans"/>
                        </a:rPr>
                        <a:t>1</a:t>
                      </a:r>
                      <a:endParaRPr b="0" lang="en-US" sz="900" spc="-1" strike="noStrike">
                        <a:latin typeface="Arial"/>
                      </a:endParaRPr>
                    </a:p>
                  </a:txBody>
                  <a:tcPr anchor="t" marL="90000" marR="90000">
                    <a:lnL>
                      <a:noFill/>
                    </a:lnL>
                    <a:lnR w="12240">
                      <a:solidFill>
                        <a:srgbClr val="006ca9"/>
                      </a:solidFill>
                    </a:lnR>
                    <a:lnT w="12240">
                      <a:solidFill>
                        <a:srgbClr val="006ca9"/>
                      </a:solidFill>
                    </a:lnT>
                    <a:lnB w="12240">
                      <a:solidFill>
                        <a:srgbClr val="006ca9"/>
                      </a:solidFill>
                    </a:lnB>
                    <a:solidFill>
                      <a:srgbClr val="ffffff"/>
                    </a:solidFill>
                  </a:tcPr>
                </a:tc>
              </a:tr>
              <a:tr h="219960">
                <a:tc>
                  <a:txBody>
                    <a:bodyPr lIns="90000" rIns="90000" anchor="t">
                      <a:noAutofit/>
                    </a:bodyPr>
                    <a:p>
                      <a:pPr>
                        <a:lnSpc>
                          <a:spcPct val="100000"/>
                        </a:lnSpc>
                        <a:buNone/>
                      </a:pPr>
                      <a:r>
                        <a:rPr b="0" lang="en-US" sz="900" spc="-1" strike="noStrike">
                          <a:solidFill>
                            <a:srgbClr val="000000"/>
                          </a:solidFill>
                          <a:latin typeface="Arial"/>
                          <a:ea typeface="DejaVu Sans"/>
                        </a:rPr>
                        <a:t>u2</a:t>
                      </a:r>
                      <a:endParaRPr b="0" lang="en-US" sz="900" spc="-1" strike="noStrike">
                        <a:latin typeface="Arial"/>
                      </a:endParaRPr>
                    </a:p>
                  </a:txBody>
                  <a:tcPr anchor="t" marL="90000" marR="90000">
                    <a:lnL w="12240">
                      <a:solidFill>
                        <a:srgbClr val="006ca9"/>
                      </a:solid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900" spc="-1" strike="noStrike">
                          <a:solidFill>
                            <a:srgbClr val="000000"/>
                          </a:solidFill>
                          <a:latin typeface="Arial"/>
                          <a:ea typeface="DejaVu Sans"/>
                        </a:rPr>
                        <a:t>1</a:t>
                      </a:r>
                      <a:endParaRPr b="0" lang="en-US" sz="9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900" spc="-1" strike="noStrike">
                          <a:solidFill>
                            <a:srgbClr val="000000"/>
                          </a:solidFill>
                          <a:latin typeface="Arial"/>
                          <a:ea typeface="DejaVu Sans"/>
                        </a:rPr>
                        <a:t>0</a:t>
                      </a:r>
                      <a:endParaRPr b="0" lang="en-US" sz="9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900" spc="-1" strike="noStrike">
                          <a:solidFill>
                            <a:srgbClr val="000000"/>
                          </a:solidFill>
                          <a:latin typeface="Arial"/>
                          <a:ea typeface="DejaVu Sans"/>
                        </a:rPr>
                        <a:t>0</a:t>
                      </a:r>
                      <a:endParaRPr b="0" lang="en-US" sz="9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900" spc="-1" strike="noStrike">
                          <a:solidFill>
                            <a:srgbClr val="000000"/>
                          </a:solidFill>
                          <a:latin typeface="Arial"/>
                          <a:ea typeface="DejaVu Sans"/>
                        </a:rPr>
                        <a:t>1</a:t>
                      </a:r>
                      <a:endParaRPr b="0" lang="en-US" sz="900" spc="-1" strike="noStrike">
                        <a:latin typeface="Arial"/>
                      </a:endParaRPr>
                    </a:p>
                  </a:txBody>
                  <a:tcPr anchor="t" marL="90000" marR="90000">
                    <a:lnL>
                      <a:noFill/>
                    </a:lnL>
                    <a:lnR w="12240">
                      <a:solidFill>
                        <a:srgbClr val="006ca9"/>
                      </a:solidFill>
                    </a:lnR>
                    <a:lnT w="12240">
                      <a:solidFill>
                        <a:srgbClr val="006ca9"/>
                      </a:solidFill>
                    </a:lnT>
                    <a:lnB w="12240">
                      <a:solidFill>
                        <a:srgbClr val="006ca9"/>
                      </a:solidFill>
                    </a:lnB>
                    <a:solidFill>
                      <a:srgbClr val="ffffff"/>
                    </a:solidFill>
                  </a:tcPr>
                </a:tc>
              </a:tr>
            </a:tbl>
          </a:graphicData>
        </a:graphic>
      </p:graphicFrame>
      <mc:AlternateContent>
        <mc:Choice xmlns:a14="http://schemas.microsoft.com/office/drawing/2010/main" Requires="a14">
          <p:sp>
            <p:nvSpPr>
              <p:cNvPr id="145" name="Tekstvak 108"/>
              <p:cNvSpPr txBox="1"/>
              <p:nvPr/>
            </p:nvSpPr>
            <p:spPr>
              <a:xfrm>
                <a:off x="3633840" y="1502640"/>
                <a:ext cx="2347560" cy="855000"/>
              </a:xfrm>
              <a:prstGeom prst="rect">
                <a:avLst/>
              </a:prstGeom>
            </p:spPr>
            <p:txBody>
              <a:bodyPr/>
              <a:p>
                <a14:m>
                  <m:oMath xmlns:m="http://schemas.openxmlformats.org/officeDocument/2006/math">
                    <m:r>
                      <m:t xml:space="preserve">𝑋</m:t>
                    </m:r>
                    <m:r>
                      <m:t xml:space="preserve">=</m:t>
                    </m:r>
                    <m:d>
                      <m:dPr>
                        <m:begChr m:val="["/>
                        <m:endChr m:val="]"/>
                      </m:dPr>
                      <m:e>
                        <m:m>
                          <m:mr>
                            <m:e>
                              <m:r>
                                <m:t xml:space="preserve">1</m:t>
                              </m:r>
                            </m:e>
                            <m:e>
                              <m:r>
                                <m:t xml:space="preserve">1</m:t>
                              </m:r>
                            </m:e>
                            <m:e>
                              <m:r>
                                <m:t xml:space="preserve">1</m:t>
                              </m:r>
                            </m:e>
                            <m:e>
                              <m:r>
                                <m:t xml:space="preserve">0</m:t>
                              </m:r>
                            </m:e>
                          </m:mr>
                          <m:mr>
                            <m:e>
                              <m:r>
                                <m:t xml:space="preserve">1</m:t>
                              </m:r>
                            </m:e>
                            <m:e>
                              <m:r>
                                <m:t xml:space="preserve">0</m:t>
                              </m:r>
                            </m:e>
                            <m:e>
                              <m:r>
                                <m:t xml:space="preserve">1</m:t>
                              </m:r>
                            </m:e>
                            <m:e>
                              <m:r>
                                <m:t xml:space="preserve">1</m:t>
                              </m:r>
                            </m:e>
                          </m:mr>
                          <m:mr>
                            <m:e>
                              <m:r>
                                <m:t xml:space="preserve">1</m:t>
                              </m:r>
                            </m:e>
                            <m:e>
                              <m:r>
                                <m:t xml:space="preserve">0</m:t>
                              </m:r>
                            </m:e>
                            <m:e>
                              <m:r>
                                <m:t xml:space="preserve">0</m:t>
                              </m:r>
                            </m:e>
                            <m:e>
                              <m:r>
                                <m:t xml:space="preserve">1</m:t>
                              </m:r>
                            </m:e>
                          </m:mr>
                        </m:m>
                      </m:e>
                    </m:d>
                  </m:oMath>
                </a14:m>
              </a:p>
            </p:txBody>
          </p:sp>
        </mc:Choice>
        <mc:Fallback/>
      </mc:AlternateContent>
      <mc:AlternateContent>
        <mc:Choice xmlns:a14="http://schemas.microsoft.com/office/drawing/2010/main" Requires="a14">
          <p:sp>
            <p:nvSpPr>
              <p:cNvPr id="146" name="Tekstvak 109"/>
              <p:cNvSpPr txBox="1"/>
              <p:nvPr/>
            </p:nvSpPr>
            <p:spPr>
              <a:xfrm>
                <a:off x="5755320" y="1347480"/>
                <a:ext cx="3315240" cy="1165680"/>
              </a:xfrm>
              <a:prstGeom prst="rect">
                <a:avLst/>
              </a:prstGeom>
            </p:spPr>
            <p:txBody>
              <a:bodyPr/>
              <a:p>
                <a14:m>
                  <m:oMath xmlns:m="http://schemas.openxmlformats.org/officeDocument/2006/math">
                    <m:r>
                      <m:t xml:space="preserve">𝐺</m:t>
                    </m:r>
                    <m:r>
                      <m:t xml:space="preserve">=</m:t>
                    </m:r>
                    <m:sSup>
                      <m:e>
                        <m:r>
                          <m:t xml:space="preserve">𝑋</m:t>
                        </m:r>
                      </m:e>
                      <m:sup>
                        <m:r>
                          <m:t xml:space="preserve">𝑇</m:t>
                        </m:r>
                      </m:sup>
                    </m:sSup>
                    <m:r>
                      <m:t xml:space="preserve">𝑋</m:t>
                    </m:r>
                    <m:r>
                      <m:t xml:space="preserve">=</m:t>
                    </m:r>
                    <m:d>
                      <m:dPr>
                        <m:begChr m:val="["/>
                        <m:endChr m:val="]"/>
                      </m:dPr>
                      <m:e>
                        <m:m>
                          <m:mr>
                            <m:e>
                              <m:r>
                                <m:t xml:space="preserve">3</m:t>
                              </m:r>
                            </m:e>
                            <m:e>
                              <m:r>
                                <m:t xml:space="preserve">1</m:t>
                              </m:r>
                            </m:e>
                            <m:e>
                              <m:r>
                                <m:t xml:space="preserve">2</m:t>
                              </m:r>
                            </m:e>
                            <m:e>
                              <m:r>
                                <m:t xml:space="preserve">2</m:t>
                              </m:r>
                            </m:e>
                          </m:mr>
                          <m:mr>
                            <m:e>
                              <m:r>
                                <m:t xml:space="preserve">1</m:t>
                              </m:r>
                            </m:e>
                            <m:e>
                              <m:r>
                                <m:t xml:space="preserve">1</m:t>
                              </m:r>
                            </m:e>
                            <m:e>
                              <m:r>
                                <m:t xml:space="preserve">1</m:t>
                              </m:r>
                            </m:e>
                            <m:e>
                              <m:r>
                                <m:t xml:space="preserve">0</m:t>
                              </m:r>
                            </m:e>
                          </m:mr>
                          <m:mr>
                            <m:e>
                              <m:r>
                                <m:t xml:space="preserve">2</m:t>
                              </m:r>
                            </m:e>
                            <m:e>
                              <m:r>
                                <m:t xml:space="preserve">1</m:t>
                              </m:r>
                            </m:e>
                            <m:e>
                              <m:r>
                                <m:t xml:space="preserve">2</m:t>
                              </m:r>
                            </m:e>
                            <m:e>
                              <m:r>
                                <m:t xml:space="preserve">1</m:t>
                              </m:r>
                            </m:e>
                          </m:mr>
                          <m:mr>
                            <m:e>
                              <m:r>
                                <m:t xml:space="preserve">2</m:t>
                              </m:r>
                            </m:e>
                            <m:e>
                              <m:r>
                                <m:t xml:space="preserve">0</m:t>
                              </m:r>
                            </m:e>
                            <m:e>
                              <m:r>
                                <m:t xml:space="preserve">1</m:t>
                              </m:r>
                            </m:e>
                            <m:e>
                              <m:r>
                                <m:t xml:space="preserve">2</m:t>
                              </m:r>
                            </m:e>
                          </m:mr>
                        </m:m>
                      </m:e>
                    </m:d>
                  </m:oMath>
                </a14:m>
              </a:p>
            </p:txBody>
          </p:sp>
        </mc:Choice>
        <mc:Fallback/>
      </mc:AlternateContent>
      <mc:AlternateContent>
        <mc:Choice xmlns:a14="http://schemas.microsoft.com/office/drawing/2010/main" Requires="a14">
          <p:sp>
            <p:nvSpPr>
              <p:cNvPr id="147" name="Tekstvak 110"/>
              <p:cNvSpPr txBox="1"/>
              <p:nvPr/>
            </p:nvSpPr>
            <p:spPr>
              <a:xfrm>
                <a:off x="100080" y="2749680"/>
                <a:ext cx="3911400" cy="1129680"/>
              </a:xfrm>
              <a:prstGeom prst="rect">
                <a:avLst/>
              </a:prstGeom>
            </p:spPr>
            <p:txBody>
              <a:bodyPr/>
              <a:p>
                <a14:m>
                  <m:oMath xmlns:m="http://schemas.openxmlformats.org/officeDocument/2006/math">
                    <m:sSub>
                      <m:e>
                        <m:r>
                          <m:t xml:space="preserve">𝐺</m:t>
                        </m:r>
                      </m:e>
                      <m:sub>
                        <m:r>
                          <m:t xml:space="preserve">𝜆</m:t>
                        </m:r>
                        <m:r>
                          <m:t xml:space="preserve">=</m:t>
                        </m:r>
                        <m:r>
                          <m:t xml:space="preserve">10</m:t>
                        </m:r>
                      </m:sub>
                    </m:sSub>
                    <m:r>
                      <m:t xml:space="preserve">=</m:t>
                    </m:r>
                    <m:r>
                      <m:t xml:space="preserve">𝐺</m:t>
                    </m:r>
                    <m:r>
                      <m:t xml:space="preserve">+</m:t>
                    </m:r>
                    <m:r>
                      <m:t xml:space="preserve">𝜆</m:t>
                    </m:r>
                    <m:r>
                      <m:t xml:space="preserve">𝐼</m:t>
                    </m:r>
                    <m:r>
                      <m:t xml:space="preserve">=</m:t>
                    </m:r>
                    <m:d>
                      <m:dPr>
                        <m:begChr m:val="["/>
                        <m:endChr m:val="]"/>
                      </m:dPr>
                      <m:e>
                        <m:m>
                          <m:mr>
                            <m:e>
                              <m:r>
                                <m:t xml:space="preserve">13</m:t>
                              </m:r>
                            </m:e>
                            <m:e>
                              <m:r>
                                <m:t xml:space="preserve">1</m:t>
                              </m:r>
                            </m:e>
                            <m:e>
                              <m:r>
                                <m:t xml:space="preserve">2</m:t>
                              </m:r>
                            </m:e>
                            <m:e>
                              <m:r>
                                <m:t xml:space="preserve">2</m:t>
                              </m:r>
                            </m:e>
                          </m:mr>
                          <m:mr>
                            <m:e>
                              <m:r>
                                <m:t xml:space="preserve">1</m:t>
                              </m:r>
                            </m:e>
                            <m:e>
                              <m:r>
                                <m:t xml:space="preserve">11</m:t>
                              </m:r>
                            </m:e>
                            <m:e>
                              <m:r>
                                <m:t xml:space="preserve">1</m:t>
                              </m:r>
                            </m:e>
                            <m:e>
                              <m:r>
                                <m:t xml:space="preserve">0</m:t>
                              </m:r>
                            </m:e>
                          </m:mr>
                          <m:mr>
                            <m:e>
                              <m:r>
                                <m:t xml:space="preserve">2</m:t>
                              </m:r>
                            </m:e>
                            <m:e>
                              <m:r>
                                <m:t xml:space="preserve">1</m:t>
                              </m:r>
                            </m:e>
                            <m:e>
                              <m:r>
                                <m:t xml:space="preserve">12</m:t>
                              </m:r>
                            </m:e>
                            <m:e>
                              <m:r>
                                <m:t xml:space="preserve">1</m:t>
                              </m:r>
                            </m:e>
                          </m:mr>
                          <m:mr>
                            <m:e>
                              <m:r>
                                <m:t xml:space="preserve">2</m:t>
                              </m:r>
                            </m:e>
                            <m:e>
                              <m:r>
                                <m:t xml:space="preserve">0</m:t>
                              </m:r>
                            </m:e>
                            <m:e>
                              <m:r>
                                <m:t xml:space="preserve">1</m:t>
                              </m:r>
                            </m:e>
                            <m:e>
                              <m:r>
                                <m:t xml:space="preserve">12</m:t>
                              </m:r>
                            </m:e>
                          </m:mr>
                        </m:m>
                      </m:e>
                    </m:d>
                  </m:oMath>
                </a14:m>
              </a:p>
            </p:txBody>
          </p:sp>
        </mc:Choice>
        <mc:Fallback/>
      </mc:AlternateContent>
      <mc:AlternateContent>
        <mc:Choice xmlns:a14="http://schemas.microsoft.com/office/drawing/2010/main" Requires="a14">
          <p:sp>
            <p:nvSpPr>
              <p:cNvPr id="148" name="Tekstvak 111"/>
              <p:cNvSpPr txBox="1"/>
              <p:nvPr/>
            </p:nvSpPr>
            <p:spPr>
              <a:xfrm>
                <a:off x="-92520" y="4114440"/>
                <a:ext cx="1463040" cy="483480"/>
              </a:xfrm>
              <a:prstGeom prst="rect">
                <a:avLst/>
              </a:prstGeom>
            </p:spPr>
            <p:txBody>
              <a:bodyPr/>
              <a:p>
                <a14:m>
                  <m:oMath xmlns:m="http://schemas.openxmlformats.org/officeDocument/2006/math">
                    <m:r>
                      <m:t xml:space="preserve">𝑃</m:t>
                    </m:r>
                    <m:r>
                      <m:t xml:space="preserve">=</m:t>
                    </m:r>
                    <m:sSubSup>
                      <m:e>
                        <m:r>
                          <m:t xml:space="preserve">𝐺</m:t>
                        </m:r>
                      </m:e>
                      <m:sub>
                        <m:r>
                          <m:t xml:space="preserve">𝜆</m:t>
                        </m:r>
                      </m:sub>
                      <m:sup>
                        <m:r>
                          <m:t xml:space="preserve">−</m:t>
                        </m:r>
                        <m:r>
                          <m:t xml:space="preserve">1</m:t>
                        </m:r>
                      </m:sup>
                    </m:sSubSup>
                  </m:oMath>
                </a14:m>
              </a:p>
            </p:txBody>
          </p:sp>
        </mc:Choice>
        <mc:Fallback/>
      </mc:AlternateContent>
      <mc:AlternateContent>
        <mc:Choice xmlns:a14="http://schemas.microsoft.com/office/drawing/2010/main" Requires="a14">
          <p:sp>
            <p:nvSpPr>
              <p:cNvPr id="149" name="Tekstvak 113"/>
              <p:cNvSpPr txBox="1"/>
              <p:nvPr/>
            </p:nvSpPr>
            <p:spPr>
              <a:xfrm>
                <a:off x="3753360" y="3619080"/>
                <a:ext cx="5000760" cy="1213200"/>
              </a:xfrm>
              <a:prstGeom prst="rect">
                <a:avLst/>
              </a:prstGeom>
            </p:spPr>
            <p:txBody>
              <a:bodyPr/>
              <a:p>
                <a14:m>
                  <m:oMath xmlns:m="http://schemas.openxmlformats.org/officeDocument/2006/math">
                    <m:r>
                      <m:t xml:space="preserve">𝐵</m:t>
                    </m:r>
                    <m:r>
                      <m:t xml:space="preserve">=</m:t>
                    </m:r>
                    <m:r>
                      <m:t xml:space="preserve">−</m:t>
                    </m:r>
                    <m:f>
                      <m:num>
                        <m:r>
                          <m:t xml:space="preserve">𝑃</m:t>
                        </m:r>
                      </m:num>
                      <m:den>
                        <m:r>
                          <m:t xml:space="preserve">𝑑𝑖𝑎𝑔</m:t>
                        </m:r>
                        <m:d>
                          <m:dPr>
                            <m:begChr m:val="("/>
                            <m:endChr m:val=")"/>
                          </m:dPr>
                          <m:e>
                            <m:r>
                              <m:t xml:space="preserve">𝑃</m:t>
                            </m:r>
                          </m:e>
                        </m:d>
                      </m:den>
                    </m:f>
                    <m:r>
                      <m:t xml:space="preserve">≈</m:t>
                    </m:r>
                    <m:d>
                      <m:dPr>
                        <m:begChr m:val="["/>
                        <m:endChr m:val="]"/>
                      </m:dPr>
                      <m:e>
                        <m:m>
                          <m:mr>
                            <m:e>
                              <m:r>
                                <m:t xml:space="preserve">0</m:t>
                              </m:r>
                            </m:e>
                            <m:e>
                              <m:r>
                                <m:t xml:space="preserve">0</m:t>
                              </m:r>
                              <m:r>
                                <m:t xml:space="preserve">.</m:t>
                              </m:r>
                              <m:r>
                                <m:t xml:space="preserve">06</m:t>
                              </m:r>
                            </m:e>
                            <m:e>
                              <m:r>
                                <m:t xml:space="preserve">0</m:t>
                              </m:r>
                              <m:r>
                                <m:t xml:space="preserve">.</m:t>
                              </m:r>
                              <m:r>
                                <m:t xml:space="preserve">11</m:t>
                              </m:r>
                            </m:e>
                            <m:e>
                              <m:r>
                                <m:t xml:space="preserve">0</m:t>
                              </m:r>
                              <m:r>
                                <m:t xml:space="preserve">.</m:t>
                              </m:r>
                              <m:r>
                                <m:t xml:space="preserve">12</m:t>
                              </m:r>
                            </m:e>
                          </m:mr>
                          <m:mr>
                            <m:e>
                              <m:r>
                                <m:t xml:space="preserve">0</m:t>
                              </m:r>
                              <m:r>
                                <m:t xml:space="preserve">.</m:t>
                              </m:r>
                              <m:r>
                                <m:t xml:space="preserve">08</m:t>
                              </m:r>
                            </m:e>
                            <m:e>
                              <m:r>
                                <m:t xml:space="preserve">0</m:t>
                              </m:r>
                            </m:e>
                            <m:e>
                              <m:r>
                                <m:t xml:space="preserve">0</m:t>
                              </m:r>
                              <m:r>
                                <m:t xml:space="preserve">.</m:t>
                              </m:r>
                              <m:r>
                                <m:t xml:space="preserve">08</m:t>
                              </m:r>
                            </m:e>
                            <m:e>
                              <m:r>
                                <m:t xml:space="preserve">−</m:t>
                              </m:r>
                              <m:r>
                                <m:t xml:space="preserve">0</m:t>
                              </m:r>
                              <m:r>
                                <m:t xml:space="preserve">.</m:t>
                              </m:r>
                              <m:r>
                                <m:t xml:space="preserve">03</m:t>
                              </m:r>
                            </m:e>
                          </m:mr>
                          <m:mr>
                            <m:e>
                              <m:r>
                                <m:t xml:space="preserve">0</m:t>
                              </m:r>
                              <m:r>
                                <m:t xml:space="preserve">.</m:t>
                              </m:r>
                              <m:r>
                                <m:t xml:space="preserve">11</m:t>
                              </m:r>
                            </m:e>
                            <m:e>
                              <m:r>
                                <m:t xml:space="preserve">0</m:t>
                              </m:r>
                              <m:r>
                                <m:t xml:space="preserve">.</m:t>
                              </m:r>
                              <m:r>
                                <m:t xml:space="preserve">11</m:t>
                              </m:r>
                            </m:e>
                            <m:e>
                              <m:r>
                                <m:t xml:space="preserve">0</m:t>
                              </m:r>
                            </m:e>
                            <m:e>
                              <m:r>
                                <m:t xml:space="preserve">0</m:t>
                              </m:r>
                              <m:r>
                                <m:t xml:space="preserve">.</m:t>
                              </m:r>
                              <m:r>
                                <m:t xml:space="preserve">10</m:t>
                              </m:r>
                            </m:e>
                          </m:mr>
                          <m:mr>
                            <m:e>
                              <m:r>
                                <m:t xml:space="preserve">0</m:t>
                              </m:r>
                              <m:r>
                                <m:t xml:space="preserve">.</m:t>
                              </m:r>
                              <m:r>
                                <m:t xml:space="preserve">12</m:t>
                              </m:r>
                            </m:e>
                            <m:e>
                              <m:r>
                                <m:t xml:space="preserve">−</m:t>
                              </m:r>
                              <m:r>
                                <m:t xml:space="preserve">0</m:t>
                              </m:r>
                              <m:r>
                                <m:t xml:space="preserve">.</m:t>
                              </m:r>
                              <m:r>
                                <m:t xml:space="preserve">03</m:t>
                              </m:r>
                            </m:e>
                            <m:e>
                              <m:r>
                                <m:t xml:space="preserve">0</m:t>
                              </m:r>
                              <m:r>
                                <m:t xml:space="preserve">.</m:t>
                              </m:r>
                              <m:r>
                                <m:t xml:space="preserve">10</m:t>
                              </m:r>
                            </m:e>
                            <m:e>
                              <m:r>
                                <m:t xml:space="preserve">0</m:t>
                              </m:r>
                            </m:e>
                          </m:mr>
                        </m:m>
                      </m:e>
                    </m:d>
                  </m:oMath>
                </a14:m>
              </a:p>
            </p:txBody>
          </p:sp>
        </mc:Choice>
        <mc:Fallback/>
      </mc:AlternateContent>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14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14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14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14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1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ldNum" idx="9"/>
          </p:nvPr>
        </p:nvSpPr>
        <p:spPr>
          <a:xfrm>
            <a:off x="6692760" y="4754520"/>
            <a:ext cx="1982520" cy="272880"/>
          </a:xfrm>
          <a:prstGeom prst="rect">
            <a:avLst/>
          </a:prstGeom>
          <a:noFill/>
          <a:ln w="0">
            <a:noFill/>
          </a:ln>
        </p:spPr>
        <p:txBody>
          <a:bodyPr lIns="68400" rIns="68400" tIns="34200" bIns="34200" anchor="ctr">
            <a:noAutofit/>
          </a:bodyPr>
          <a:lstStyle>
            <a:lvl1pPr algn="r">
              <a:lnSpc>
                <a:spcPct val="100000"/>
              </a:lnSpc>
              <a:buNone/>
              <a:tabLst>
                <a:tab algn="l" pos="0"/>
              </a:tabLst>
              <a:defRPr b="0" lang="en" sz="800" spc="-1" strike="noStrike">
                <a:solidFill>
                  <a:srgbClr val="002e65"/>
                </a:solidFill>
                <a:latin typeface="Calibri"/>
                <a:ea typeface="Calibri"/>
              </a:defRPr>
            </a:lvl1pPr>
          </a:lstStyle>
          <a:p>
            <a:pPr algn="r">
              <a:lnSpc>
                <a:spcPct val="100000"/>
              </a:lnSpc>
              <a:buNone/>
              <a:tabLst>
                <a:tab algn="l" pos="0"/>
              </a:tabLst>
            </a:pPr>
            <a:fld id="{0964763B-A45B-43BF-BF43-63710D5F1C95}" type="slidenum">
              <a:rPr b="0" lang="en" sz="800" spc="-1" strike="noStrike">
                <a:solidFill>
                  <a:srgbClr val="002e65"/>
                </a:solidFill>
                <a:latin typeface="Calibri"/>
                <a:ea typeface="Calibri"/>
              </a:rPr>
              <a:t>5</a:t>
            </a:fld>
            <a:endParaRPr b="0" lang="en-US" sz="800" spc="-1" strike="noStrike">
              <a:latin typeface="Times New Roman"/>
            </a:endParaRPr>
          </a:p>
        </p:txBody>
      </p:sp>
      <p:sp>
        <p:nvSpPr>
          <p:cNvPr id="151" name="Google Shape;184;p 4"/>
          <p:cNvSpPr/>
          <p:nvPr/>
        </p:nvSpPr>
        <p:spPr>
          <a:xfrm rot="10800600">
            <a:off x="189720" y="485640"/>
            <a:ext cx="8551800" cy="787320"/>
          </a:xfrm>
          <a:prstGeom prst="round1Rect">
            <a:avLst>
              <a:gd name="adj" fmla="val 16667"/>
            </a:avLst>
          </a:prstGeom>
          <a:solidFill>
            <a:schemeClr val="accent2"/>
          </a:solidFill>
          <a:ln w="0">
            <a:noFill/>
          </a:ln>
        </p:spPr>
        <p:style>
          <a:lnRef idx="0"/>
          <a:fillRef idx="0"/>
          <a:effectRef idx="0"/>
          <a:fontRef idx="minor"/>
        </p:style>
      </p:sp>
      <p:sp>
        <p:nvSpPr>
          <p:cNvPr id="152" name="PlaceHolder 2"/>
          <p:cNvSpPr>
            <a:spLocks noGrp="1"/>
          </p:cNvSpPr>
          <p:nvPr>
            <p:ph type="title"/>
          </p:nvPr>
        </p:nvSpPr>
        <p:spPr>
          <a:xfrm>
            <a:off x="468000" y="583200"/>
            <a:ext cx="8207280" cy="592560"/>
          </a:xfrm>
          <a:prstGeom prst="rect">
            <a:avLst/>
          </a:prstGeom>
          <a:noFill/>
          <a:ln w="0">
            <a:noFill/>
          </a:ln>
        </p:spPr>
        <p:txBody>
          <a:bodyPr lIns="0" rIns="0" tIns="0" bIns="0" anchor="ctr">
            <a:normAutofit/>
          </a:bodyPr>
          <a:p>
            <a:pPr>
              <a:lnSpc>
                <a:spcPct val="100000"/>
              </a:lnSpc>
              <a:buNone/>
              <a:tabLst>
                <a:tab algn="l" pos="0"/>
              </a:tabLst>
            </a:pPr>
            <a:r>
              <a:rPr b="1" lang="en" sz="2900" spc="-1" strike="noStrike">
                <a:solidFill>
                  <a:srgbClr val="ffffff"/>
                </a:solidFill>
                <a:latin typeface="Calibri"/>
                <a:ea typeface="Calibri"/>
              </a:rPr>
              <a:t>EA</a:t>
            </a:r>
            <a:r>
              <a:rPr b="1" lang="en" sz="2900" spc="-1" strike="noStrike">
                <a:solidFill>
                  <a:srgbClr val="ffffff"/>
                </a:solidFill>
                <a:latin typeface="Calibri"/>
                <a:ea typeface="Calibri"/>
              </a:rPr>
              <a:t>SE </a:t>
            </a:r>
            <a:r>
              <a:rPr b="1" lang="en" sz="2900" spc="-1" strike="noStrike">
                <a:solidFill>
                  <a:srgbClr val="ffffff"/>
                </a:solidFill>
                <a:latin typeface="Calibri"/>
                <a:ea typeface="Calibri"/>
              </a:rPr>
              <a:t>un</a:t>
            </a:r>
            <a:r>
              <a:rPr b="1" lang="en" sz="2900" spc="-1" strike="noStrike">
                <a:solidFill>
                  <a:srgbClr val="ffffff"/>
                </a:solidFill>
                <a:latin typeface="Calibri"/>
                <a:ea typeface="Calibri"/>
              </a:rPr>
              <a:t>der </a:t>
            </a:r>
            <a:r>
              <a:rPr b="1" lang="en" sz="2900" spc="-1" strike="noStrike">
                <a:solidFill>
                  <a:srgbClr val="ffffff"/>
                </a:solidFill>
                <a:latin typeface="Calibri"/>
                <a:ea typeface="Calibri"/>
              </a:rPr>
              <a:t>the </a:t>
            </a:r>
            <a:r>
              <a:rPr b="1" lang="en" sz="2900" spc="-1" strike="noStrike">
                <a:solidFill>
                  <a:srgbClr val="ffffff"/>
                </a:solidFill>
                <a:latin typeface="Calibri"/>
                <a:ea typeface="Calibri"/>
              </a:rPr>
              <a:t>ho</a:t>
            </a:r>
            <a:r>
              <a:rPr b="1" lang="en" sz="2900" spc="-1" strike="noStrike">
                <a:solidFill>
                  <a:srgbClr val="ffffff"/>
                </a:solidFill>
                <a:latin typeface="Calibri"/>
                <a:ea typeface="Calibri"/>
              </a:rPr>
              <a:t>od</a:t>
            </a:r>
            <a:endParaRPr b="0" lang="en-US" sz="2900" spc="-1" strike="noStrike">
              <a:latin typeface="Arial"/>
            </a:endParaRPr>
          </a:p>
        </p:txBody>
      </p:sp>
      <p:graphicFrame>
        <p:nvGraphicFramePr>
          <p:cNvPr id="153" name="Tabel 107"/>
          <p:cNvGraphicFramePr/>
          <p:nvPr/>
        </p:nvGraphicFramePr>
        <p:xfrm>
          <a:off x="326160" y="1356840"/>
          <a:ext cx="4604760" cy="1459800"/>
        </p:xfrm>
        <a:graphic>
          <a:graphicData uri="http://schemas.openxmlformats.org/drawingml/2006/table">
            <a:tbl>
              <a:tblPr/>
              <a:tblGrid>
                <a:gridCol w="918720"/>
                <a:gridCol w="920880"/>
                <a:gridCol w="920880"/>
                <a:gridCol w="920880"/>
                <a:gridCol w="923760"/>
              </a:tblGrid>
              <a:tr h="433080">
                <a:tc>
                  <a:txBody>
                    <a:bodyPr lIns="90000" rIns="90000" anchor="t">
                      <a:noAutofit/>
                    </a:bodyPr>
                    <a:p>
                      <a:pPr>
                        <a:lnSpc>
                          <a:spcPct val="100000"/>
                        </a:lnSpc>
                        <a:buNone/>
                      </a:pPr>
                      <a:r>
                        <a:rPr b="1" lang="en-US" sz="1200" spc="-1" strike="noStrike">
                          <a:solidFill>
                            <a:srgbClr val="000000"/>
                          </a:solidFill>
                          <a:latin typeface="Arial"/>
                          <a:ea typeface="DejaVu Sans"/>
                        </a:rPr>
                        <a:t>user</a:t>
                      </a:r>
                      <a:endParaRPr b="0" lang="en-US" sz="1200" spc="-1" strike="noStrike">
                        <a:latin typeface="Arial"/>
                      </a:endParaRPr>
                    </a:p>
                  </a:txBody>
                  <a:tcPr anchor="t" marL="90000" marR="90000">
                    <a:lnL w="12240">
                      <a:solidFill>
                        <a:srgbClr val="006ca9"/>
                      </a:solid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1" lang="en-US" sz="1200" spc="-1" strike="noStrike">
                          <a:solidFill>
                            <a:srgbClr val="000000"/>
                          </a:solidFill>
                          <a:latin typeface="Arial"/>
                          <a:ea typeface="DejaVu Sans"/>
                        </a:rPr>
                        <a:t>Half Life 2</a:t>
                      </a:r>
                      <a:endParaRPr b="0" lang="en-US" sz="12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1" lang="en-US" sz="1200" spc="-1" strike="noStrike">
                          <a:solidFill>
                            <a:srgbClr val="000000"/>
                          </a:solidFill>
                          <a:latin typeface="Arial"/>
                          <a:ea typeface="DejaVu Sans"/>
                        </a:rPr>
                        <a:t>Portal</a:t>
                      </a:r>
                      <a:endParaRPr b="0" lang="en-US" sz="12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1" lang="en-US" sz="1200" spc="-1" strike="noStrike">
                          <a:solidFill>
                            <a:srgbClr val="000000"/>
                          </a:solidFill>
                          <a:latin typeface="Arial"/>
                          <a:ea typeface="DejaVu Sans"/>
                        </a:rPr>
                        <a:t>Terraria</a:t>
                      </a:r>
                      <a:endParaRPr b="0" lang="en-US" sz="12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1" lang="en-US" sz="1200" spc="-1" strike="noStrike">
                          <a:solidFill>
                            <a:srgbClr val="000000"/>
                          </a:solidFill>
                          <a:latin typeface="Arial"/>
                          <a:ea typeface="DejaVu Sans"/>
                        </a:rPr>
                        <a:t>Killing Floor</a:t>
                      </a:r>
                      <a:endParaRPr b="0" lang="en-US" sz="1200" spc="-1" strike="noStrike">
                        <a:latin typeface="Arial"/>
                      </a:endParaRPr>
                    </a:p>
                  </a:txBody>
                  <a:tcPr anchor="t" marL="90000" marR="90000">
                    <a:lnL>
                      <a:noFill/>
                    </a:lnL>
                    <a:lnR w="12240">
                      <a:solidFill>
                        <a:srgbClr val="006ca9"/>
                      </a:solidFill>
                    </a:lnR>
                    <a:lnT w="12240">
                      <a:solidFill>
                        <a:srgbClr val="006ca9"/>
                      </a:solidFill>
                    </a:lnT>
                    <a:lnB w="12240">
                      <a:solidFill>
                        <a:srgbClr val="006ca9"/>
                      </a:solidFill>
                    </a:lnB>
                    <a:solidFill>
                      <a:srgbClr val="ffffff"/>
                    </a:solidFill>
                  </a:tcPr>
                </a:tc>
              </a:tr>
              <a:tr h="342360">
                <a:tc>
                  <a:txBody>
                    <a:bodyPr lIns="90000" rIns="90000" anchor="t">
                      <a:noAutofit/>
                    </a:bodyPr>
                    <a:p>
                      <a:pPr>
                        <a:lnSpc>
                          <a:spcPct val="100000"/>
                        </a:lnSpc>
                        <a:buNone/>
                      </a:pPr>
                      <a:r>
                        <a:rPr b="0" lang="en-US" sz="1200" spc="-1" strike="noStrike">
                          <a:solidFill>
                            <a:srgbClr val="000000"/>
                          </a:solidFill>
                          <a:latin typeface="Arial"/>
                          <a:ea typeface="DejaVu Sans"/>
                        </a:rPr>
                        <a:t>u0</a:t>
                      </a:r>
                      <a:endParaRPr b="0" lang="en-US" sz="1200" spc="-1" strike="noStrike">
                        <a:latin typeface="Arial"/>
                      </a:endParaRPr>
                    </a:p>
                  </a:txBody>
                  <a:tcPr anchor="t" marL="90000" marR="90000">
                    <a:lnL w="12240">
                      <a:solidFill>
                        <a:srgbClr val="006ca9"/>
                      </a:solid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1200" spc="-1" strike="noStrike">
                          <a:solidFill>
                            <a:srgbClr val="000000"/>
                          </a:solidFill>
                          <a:latin typeface="Arial"/>
                          <a:ea typeface="DejaVu Sans"/>
                        </a:rPr>
                        <a:t>1</a:t>
                      </a:r>
                      <a:endParaRPr b="0" lang="en-US" sz="12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1200" spc="-1" strike="noStrike">
                          <a:solidFill>
                            <a:srgbClr val="000000"/>
                          </a:solidFill>
                          <a:latin typeface="Arial"/>
                          <a:ea typeface="DejaVu Sans"/>
                        </a:rPr>
                        <a:t>1</a:t>
                      </a:r>
                      <a:endParaRPr b="0" lang="en-US" sz="12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1200" spc="-1" strike="noStrike">
                          <a:solidFill>
                            <a:srgbClr val="000000"/>
                          </a:solidFill>
                          <a:latin typeface="Arial"/>
                          <a:ea typeface="DejaVu Sans"/>
                        </a:rPr>
                        <a:t>1</a:t>
                      </a:r>
                      <a:endParaRPr b="0" lang="en-US" sz="12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1200" spc="-1" strike="noStrike">
                          <a:solidFill>
                            <a:srgbClr val="000000"/>
                          </a:solidFill>
                          <a:latin typeface="Arial"/>
                          <a:ea typeface="DejaVu Sans"/>
                        </a:rPr>
                        <a:t>0</a:t>
                      </a:r>
                      <a:endParaRPr b="0" lang="en-US" sz="1200" spc="-1" strike="noStrike">
                        <a:latin typeface="Arial"/>
                      </a:endParaRPr>
                    </a:p>
                  </a:txBody>
                  <a:tcPr anchor="t" marL="90000" marR="90000">
                    <a:lnL>
                      <a:noFill/>
                    </a:lnL>
                    <a:lnR w="12240">
                      <a:solidFill>
                        <a:srgbClr val="006ca9"/>
                      </a:solidFill>
                    </a:lnR>
                    <a:lnT w="12240">
                      <a:solidFill>
                        <a:srgbClr val="006ca9"/>
                      </a:solidFill>
                    </a:lnT>
                    <a:lnB w="12240">
                      <a:solidFill>
                        <a:srgbClr val="006ca9"/>
                      </a:solidFill>
                    </a:lnB>
                    <a:solidFill>
                      <a:srgbClr val="ffffff"/>
                    </a:solidFill>
                  </a:tcPr>
                </a:tc>
              </a:tr>
              <a:tr h="342360">
                <a:tc>
                  <a:txBody>
                    <a:bodyPr lIns="90000" rIns="90000" anchor="t">
                      <a:noAutofit/>
                    </a:bodyPr>
                    <a:p>
                      <a:pPr>
                        <a:lnSpc>
                          <a:spcPct val="100000"/>
                        </a:lnSpc>
                        <a:buNone/>
                      </a:pPr>
                      <a:r>
                        <a:rPr b="0" lang="en-US" sz="1200" spc="-1" strike="noStrike">
                          <a:solidFill>
                            <a:srgbClr val="000000"/>
                          </a:solidFill>
                          <a:latin typeface="Arial"/>
                          <a:ea typeface="DejaVu Sans"/>
                        </a:rPr>
                        <a:t>u1</a:t>
                      </a:r>
                      <a:endParaRPr b="0" lang="en-US" sz="1200" spc="-1" strike="noStrike">
                        <a:latin typeface="Arial"/>
                      </a:endParaRPr>
                    </a:p>
                  </a:txBody>
                  <a:tcPr anchor="t" marL="90000" marR="90000">
                    <a:lnL w="12240">
                      <a:solidFill>
                        <a:srgbClr val="006ca9"/>
                      </a:solid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1200" spc="-1" strike="noStrike">
                          <a:solidFill>
                            <a:srgbClr val="000000"/>
                          </a:solidFill>
                          <a:latin typeface="Arial"/>
                          <a:ea typeface="DejaVu Sans"/>
                        </a:rPr>
                        <a:t>1</a:t>
                      </a:r>
                      <a:endParaRPr b="0" lang="en-US" sz="12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1200" spc="-1" strike="noStrike">
                          <a:solidFill>
                            <a:srgbClr val="000000"/>
                          </a:solidFill>
                          <a:latin typeface="Arial"/>
                          <a:ea typeface="DejaVu Sans"/>
                        </a:rPr>
                        <a:t>0</a:t>
                      </a:r>
                      <a:endParaRPr b="0" lang="en-US" sz="12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1200" spc="-1" strike="noStrike">
                          <a:solidFill>
                            <a:srgbClr val="000000"/>
                          </a:solidFill>
                          <a:latin typeface="Arial"/>
                          <a:ea typeface="DejaVu Sans"/>
                        </a:rPr>
                        <a:t>1</a:t>
                      </a:r>
                      <a:endParaRPr b="0" lang="en-US" sz="12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1200" spc="-1" strike="noStrike">
                          <a:solidFill>
                            <a:srgbClr val="000000"/>
                          </a:solidFill>
                          <a:latin typeface="Arial"/>
                          <a:ea typeface="DejaVu Sans"/>
                        </a:rPr>
                        <a:t>1</a:t>
                      </a:r>
                      <a:endParaRPr b="0" lang="en-US" sz="1200" spc="-1" strike="noStrike">
                        <a:latin typeface="Arial"/>
                      </a:endParaRPr>
                    </a:p>
                  </a:txBody>
                  <a:tcPr anchor="t" marL="90000" marR="90000">
                    <a:lnL>
                      <a:noFill/>
                    </a:lnL>
                    <a:lnR w="12240">
                      <a:solidFill>
                        <a:srgbClr val="006ca9"/>
                      </a:solidFill>
                    </a:lnR>
                    <a:lnT w="12240">
                      <a:solidFill>
                        <a:srgbClr val="006ca9"/>
                      </a:solidFill>
                    </a:lnT>
                    <a:lnB w="12240">
                      <a:solidFill>
                        <a:srgbClr val="006ca9"/>
                      </a:solidFill>
                    </a:lnB>
                    <a:solidFill>
                      <a:srgbClr val="ffffff"/>
                    </a:solidFill>
                  </a:tcPr>
                </a:tc>
              </a:tr>
              <a:tr h="342360">
                <a:tc>
                  <a:txBody>
                    <a:bodyPr lIns="90000" rIns="90000" anchor="t">
                      <a:noAutofit/>
                    </a:bodyPr>
                    <a:p>
                      <a:pPr>
                        <a:lnSpc>
                          <a:spcPct val="100000"/>
                        </a:lnSpc>
                        <a:buNone/>
                      </a:pPr>
                      <a:r>
                        <a:rPr b="0" lang="en-US" sz="1200" spc="-1" strike="noStrike">
                          <a:solidFill>
                            <a:srgbClr val="000000"/>
                          </a:solidFill>
                          <a:latin typeface="Arial"/>
                          <a:ea typeface="DejaVu Sans"/>
                        </a:rPr>
                        <a:t>u2</a:t>
                      </a:r>
                      <a:endParaRPr b="0" lang="en-US" sz="1200" spc="-1" strike="noStrike">
                        <a:latin typeface="Arial"/>
                      </a:endParaRPr>
                    </a:p>
                  </a:txBody>
                  <a:tcPr anchor="t" marL="90000" marR="90000">
                    <a:lnL w="12240">
                      <a:solidFill>
                        <a:srgbClr val="006ca9"/>
                      </a:solid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1200" spc="-1" strike="noStrike">
                          <a:solidFill>
                            <a:srgbClr val="000000"/>
                          </a:solidFill>
                          <a:latin typeface="Arial"/>
                          <a:ea typeface="DejaVu Sans"/>
                        </a:rPr>
                        <a:t>1</a:t>
                      </a:r>
                      <a:endParaRPr b="0" lang="en-US" sz="12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1200" spc="-1" strike="noStrike">
                          <a:solidFill>
                            <a:srgbClr val="000000"/>
                          </a:solidFill>
                          <a:latin typeface="Arial"/>
                          <a:ea typeface="DejaVu Sans"/>
                        </a:rPr>
                        <a:t>0</a:t>
                      </a:r>
                      <a:endParaRPr b="0" lang="en-US" sz="12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1200" spc="-1" strike="noStrike">
                          <a:solidFill>
                            <a:srgbClr val="000000"/>
                          </a:solidFill>
                          <a:latin typeface="Arial"/>
                          <a:ea typeface="DejaVu Sans"/>
                        </a:rPr>
                        <a:t>0</a:t>
                      </a:r>
                      <a:endParaRPr b="0" lang="en-US" sz="1200" spc="-1" strike="noStrike">
                        <a:latin typeface="Arial"/>
                      </a:endParaRPr>
                    </a:p>
                  </a:txBody>
                  <a:tcPr anchor="t" marL="90000" marR="90000">
                    <a:lnL>
                      <a:noFill/>
                    </a:lnL>
                    <a:lnR>
                      <a:noFill/>
                    </a:lnR>
                    <a:lnT w="12240">
                      <a:solidFill>
                        <a:srgbClr val="006ca9"/>
                      </a:solidFill>
                    </a:lnT>
                    <a:lnB w="12240">
                      <a:solidFill>
                        <a:srgbClr val="006ca9"/>
                      </a:solidFill>
                    </a:lnB>
                    <a:solidFill>
                      <a:srgbClr val="ffffff"/>
                    </a:solidFill>
                  </a:tcPr>
                </a:tc>
                <a:tc>
                  <a:txBody>
                    <a:bodyPr lIns="90000" rIns="90000" anchor="t">
                      <a:noAutofit/>
                    </a:bodyPr>
                    <a:p>
                      <a:pPr>
                        <a:lnSpc>
                          <a:spcPct val="100000"/>
                        </a:lnSpc>
                        <a:buNone/>
                      </a:pPr>
                      <a:r>
                        <a:rPr b="0" lang="en-US" sz="1200" spc="-1" strike="noStrike">
                          <a:solidFill>
                            <a:srgbClr val="000000"/>
                          </a:solidFill>
                          <a:latin typeface="Arial"/>
                          <a:ea typeface="DejaVu Sans"/>
                        </a:rPr>
                        <a:t>1</a:t>
                      </a:r>
                      <a:endParaRPr b="0" lang="en-US" sz="1200" spc="-1" strike="noStrike">
                        <a:latin typeface="Arial"/>
                      </a:endParaRPr>
                    </a:p>
                  </a:txBody>
                  <a:tcPr anchor="t" marL="90000" marR="90000">
                    <a:lnL>
                      <a:noFill/>
                    </a:lnL>
                    <a:lnR w="12240">
                      <a:solidFill>
                        <a:srgbClr val="006ca9"/>
                      </a:solidFill>
                    </a:lnR>
                    <a:lnT w="12240">
                      <a:solidFill>
                        <a:srgbClr val="006ca9"/>
                      </a:solidFill>
                    </a:lnT>
                    <a:lnB w="12240">
                      <a:solidFill>
                        <a:srgbClr val="006ca9"/>
                      </a:solidFill>
                    </a:lnB>
                    <a:solidFill>
                      <a:srgbClr val="ffffff"/>
                    </a:solidFill>
                  </a:tcPr>
                </a:tc>
              </a:tr>
            </a:tbl>
          </a:graphicData>
        </a:graphic>
      </p:graphicFrame>
      <p:sp>
        <p:nvSpPr>
          <p:cNvPr id="154" name="Tekstvak 114"/>
          <p:cNvSpPr/>
          <p:nvPr/>
        </p:nvSpPr>
        <p:spPr>
          <a:xfrm>
            <a:off x="4212000" y="2394720"/>
            <a:ext cx="718920" cy="358920"/>
          </a:xfrm>
          <a:prstGeom prst="rect">
            <a:avLst/>
          </a:prstGeom>
          <a:noFill/>
          <a:ln w="0">
            <a:noFill/>
          </a:ln>
        </p:spPr>
        <p:style>
          <a:lnRef idx="0"/>
          <a:fillRef idx="0"/>
          <a:effectRef idx="0"/>
          <a:fontRef idx="minor"/>
        </p:style>
      </p:sp>
      <mc:AlternateContent>
        <mc:Choice xmlns:a14="http://schemas.microsoft.com/office/drawing/2010/main" Requires="a14">
          <p:sp>
            <p:nvSpPr>
              <p:cNvPr id="155" name="Tekstvak 115"/>
              <p:cNvSpPr txBox="1"/>
              <p:nvPr/>
            </p:nvSpPr>
            <p:spPr>
              <a:xfrm>
                <a:off x="4974120" y="1423080"/>
                <a:ext cx="2056680" cy="499320"/>
              </a:xfrm>
              <a:prstGeom prst="rect">
                <a:avLst/>
              </a:prstGeom>
            </p:spPr>
            <p:txBody>
              <a:bodyPr/>
              <a:p>
                <a14:m>
                  <m:oMath xmlns:m="http://schemas.openxmlformats.org/officeDocument/2006/math">
                    <m:sSub>
                      <m:e>
                        <m:r>
                          <m:t xml:space="preserve">𝑥</m:t>
                        </m:r>
                      </m:e>
                      <m:sub>
                        <m:r>
                          <m:t xml:space="preserve">𝑢</m:t>
                        </m:r>
                        <m:r>
                          <m:t xml:space="preserve">2</m:t>
                        </m:r>
                      </m:sub>
                    </m:sSub>
                    <m:r>
                      <m:t xml:space="preserve">=</m:t>
                    </m:r>
                    <m:d>
                      <m:dPr>
                        <m:begChr m:val="["/>
                        <m:endChr m:val="]"/>
                      </m:dPr>
                      <m:e>
                        <m:r>
                          <m:t xml:space="preserve">1,0,0,1</m:t>
                        </m:r>
                      </m:e>
                    </m:d>
                  </m:oMath>
                </a14:m>
              </a:p>
            </p:txBody>
          </p:sp>
        </mc:Choice>
        <mc:Fallback/>
      </mc:AlternateContent>
      <mc:AlternateContent>
        <mc:Choice xmlns:a14="http://schemas.microsoft.com/office/drawing/2010/main" Requires="a14">
          <p:sp>
            <p:nvSpPr>
              <p:cNvPr id="156" name="Tekstvak 116"/>
              <p:cNvSpPr txBox="1"/>
              <p:nvPr/>
            </p:nvSpPr>
            <p:spPr>
              <a:xfrm>
                <a:off x="4931640" y="2071800"/>
                <a:ext cx="2283480" cy="463680"/>
              </a:xfrm>
              <a:prstGeom prst="rect">
                <a:avLst/>
              </a:prstGeom>
            </p:spPr>
            <p:txBody>
              <a:bodyPr/>
              <a:p>
                <a14:m>
                  <m:oMath xmlns:m="http://schemas.openxmlformats.org/officeDocument/2006/math">
                    <m:sSub>
                      <m:e>
                        <m:r>
                          <m:t xml:space="preserve">𝑠𝑐𝑜𝑟𝑒𝑠</m:t>
                        </m:r>
                      </m:e>
                      <m:sub>
                        <m:r>
                          <m:t xml:space="preserve">𝑢</m:t>
                        </m:r>
                      </m:sub>
                    </m:sSub>
                    <m:r>
                      <m:t xml:space="preserve">=</m:t>
                    </m:r>
                    <m:sSub>
                      <m:e>
                        <m:r>
                          <m:t xml:space="preserve">𝑥</m:t>
                        </m:r>
                      </m:e>
                      <m:sub>
                        <m:r>
                          <m:t xml:space="preserve">𝑢</m:t>
                        </m:r>
                      </m:sub>
                    </m:sSub>
                    <m:r>
                      <m:t xml:space="preserve">⋅</m:t>
                    </m:r>
                    <m:r>
                      <m:t xml:space="preserve">𝐵</m:t>
                    </m:r>
                  </m:oMath>
                </a14:m>
              </a:p>
            </p:txBody>
          </p:sp>
        </mc:Choice>
        <mc:Fallback/>
      </mc:AlternateContent>
      <p:graphicFrame>
        <p:nvGraphicFramePr>
          <p:cNvPr id="157" name="Tabel 117"/>
          <p:cNvGraphicFramePr/>
          <p:nvPr/>
        </p:nvGraphicFramePr>
        <p:xfrm>
          <a:off x="335880" y="3000600"/>
          <a:ext cx="4637520" cy="1484640"/>
        </p:xfrm>
        <a:graphic>
          <a:graphicData uri="http://schemas.openxmlformats.org/drawingml/2006/table">
            <a:tbl>
              <a:tblPr/>
              <a:tblGrid>
                <a:gridCol w="1914840"/>
                <a:gridCol w="1176120"/>
                <a:gridCol w="1546920"/>
              </a:tblGrid>
              <a:tr h="290880">
                <a:tc>
                  <a:txBody>
                    <a:bodyPr lIns="90000" rIns="90000" anchor="t">
                      <a:noAutofit/>
                    </a:bodyPr>
                    <a:p>
                      <a:pPr>
                        <a:lnSpc>
                          <a:spcPct val="100000"/>
                        </a:lnSpc>
                        <a:buNone/>
                      </a:pPr>
                      <a:r>
                        <a:rPr b="1" lang="en-US" sz="1200" spc="-1" strike="noStrike">
                          <a:solidFill>
                            <a:srgbClr val="000000"/>
                          </a:solidFill>
                          <a:latin typeface="Arial"/>
                          <a:ea typeface="DejaVu Sans"/>
                        </a:rPr>
                        <a:t>Item</a:t>
                      </a:r>
                      <a:endParaRPr b="0" lang="en-US" sz="1200" spc="-1" strike="noStrike">
                        <a:latin typeface="Arial"/>
                      </a:endParaRPr>
                    </a:p>
                  </a:txBody>
                  <a:tcPr anchor="t" marL="90000" marR="90000">
                    <a:lnL>
                      <a:noFill/>
                    </a:lnL>
                    <a:lnR>
                      <a:noFill/>
                    </a:lnR>
                    <a:lnT w="12240">
                      <a:solidFill>
                        <a:srgbClr val="006ca9"/>
                      </a:solidFill>
                    </a:lnT>
                    <a:lnB>
                      <a:noFill/>
                    </a:lnB>
                    <a:noFill/>
                  </a:tcPr>
                </a:tc>
                <a:tc>
                  <a:txBody>
                    <a:bodyPr lIns="90000" rIns="90000" anchor="t">
                      <a:noAutofit/>
                    </a:bodyPr>
                    <a:p>
                      <a:pPr>
                        <a:lnSpc>
                          <a:spcPct val="100000"/>
                        </a:lnSpc>
                        <a:buNone/>
                      </a:pPr>
                      <a:r>
                        <a:rPr b="1" lang="en-US" sz="1200" spc="-1" strike="noStrike">
                          <a:solidFill>
                            <a:srgbClr val="000000"/>
                          </a:solidFill>
                          <a:latin typeface="Arial"/>
                          <a:ea typeface="DejaVu Sans"/>
                        </a:rPr>
                        <a:t>score</a:t>
                      </a:r>
                      <a:endParaRPr b="0" lang="en-US" sz="1200" spc="-1" strike="noStrike">
                        <a:latin typeface="Arial"/>
                      </a:endParaRPr>
                    </a:p>
                  </a:txBody>
                  <a:tcPr anchor="t" marL="90000" marR="90000">
                    <a:lnL>
                      <a:noFill/>
                    </a:lnL>
                    <a:lnR>
                      <a:noFill/>
                    </a:lnR>
                    <a:lnT w="12240">
                      <a:solidFill>
                        <a:srgbClr val="006ca9"/>
                      </a:solidFill>
                    </a:lnT>
                    <a:lnB>
                      <a:noFill/>
                    </a:lnB>
                    <a:noFill/>
                  </a:tcPr>
                </a:tc>
                <a:tc>
                  <a:txBody>
                    <a:bodyPr lIns="90000" rIns="90000" anchor="t">
                      <a:noAutofit/>
                    </a:bodyPr>
                    <a:p>
                      <a:pPr>
                        <a:lnSpc>
                          <a:spcPct val="100000"/>
                        </a:lnSpc>
                        <a:buNone/>
                      </a:pPr>
                      <a:r>
                        <a:rPr b="1" lang="en-US" sz="1200" spc="-1" strike="noStrike">
                          <a:solidFill>
                            <a:srgbClr val="000000"/>
                          </a:solidFill>
                          <a:latin typeface="Arial"/>
                          <a:ea typeface="DejaVu Sans"/>
                        </a:rPr>
                        <a:t>Seen by u2</a:t>
                      </a:r>
                      <a:endParaRPr b="0" lang="en-US" sz="1200" spc="-1" strike="noStrike">
                        <a:latin typeface="Arial"/>
                      </a:endParaRPr>
                    </a:p>
                  </a:txBody>
                  <a:tcPr anchor="t" marL="90000" marR="90000">
                    <a:lnL>
                      <a:noFill/>
                    </a:lnL>
                    <a:lnR>
                      <a:noFill/>
                    </a:lnR>
                    <a:lnT w="12240">
                      <a:solidFill>
                        <a:srgbClr val="006ca9"/>
                      </a:solidFill>
                    </a:lnT>
                    <a:lnB>
                      <a:noFill/>
                    </a:lnB>
                    <a:noFill/>
                  </a:tcPr>
                </a:tc>
              </a:tr>
              <a:tr h="295560">
                <a:tc>
                  <a:txBody>
                    <a:bodyPr lIns="90000" rIns="90000" anchor="t">
                      <a:noAutofit/>
                    </a:bodyPr>
                    <a:p>
                      <a:pPr>
                        <a:lnSpc>
                          <a:spcPct val="100000"/>
                        </a:lnSpc>
                        <a:buNone/>
                      </a:pPr>
                      <a:r>
                        <a:rPr b="0" lang="en-US" sz="1200" spc="-1" strike="noStrike">
                          <a:solidFill>
                            <a:srgbClr val="000000"/>
                          </a:solidFill>
                          <a:latin typeface="Arial"/>
                          <a:ea typeface="DejaVu Sans"/>
                        </a:rPr>
                        <a:t>Half life 2</a:t>
                      </a:r>
                      <a:endParaRPr b="0" lang="en-US" sz="1200" spc="-1" strike="noStrike">
                        <a:latin typeface="Arial"/>
                      </a:endParaRPr>
                    </a:p>
                  </a:txBody>
                  <a:tcPr anchor="t" marL="90000" marR="90000">
                    <a:lnL>
                      <a:noFill/>
                    </a:lnL>
                    <a:lnR>
                      <a:noFill/>
                    </a:lnR>
                    <a:lnT>
                      <a:noFill/>
                    </a:lnT>
                    <a:lnB>
                      <a:noFill/>
                    </a:lnB>
                    <a:noFill/>
                  </a:tcPr>
                </a:tc>
                <a:tc>
                  <a:txBody>
                    <a:bodyPr lIns="90000" rIns="90000" anchor="t">
                      <a:noAutofit/>
                    </a:bodyPr>
                    <a:p>
                      <a:pPr>
                        <a:lnSpc>
                          <a:spcPct val="100000"/>
                        </a:lnSpc>
                        <a:buNone/>
                      </a:pPr>
                      <a:r>
                        <a:rPr b="0" lang="en-US" sz="1200" spc="-1" strike="noStrike">
                          <a:solidFill>
                            <a:srgbClr val="000000"/>
                          </a:solidFill>
                          <a:latin typeface="Arial"/>
                          <a:ea typeface="DejaVu Sans"/>
                        </a:rPr>
                        <a:t>0.225</a:t>
                      </a:r>
                      <a:endParaRPr b="0" lang="en-US" sz="1200" spc="-1" strike="noStrike">
                        <a:latin typeface="Arial"/>
                      </a:endParaRPr>
                    </a:p>
                  </a:txBody>
                  <a:tcPr anchor="t" marL="90000" marR="90000">
                    <a:lnL>
                      <a:noFill/>
                    </a:lnL>
                    <a:lnR>
                      <a:noFill/>
                    </a:lnR>
                    <a:lnT>
                      <a:noFill/>
                    </a:lnT>
                    <a:lnB>
                      <a:noFill/>
                    </a:lnB>
                    <a:noFill/>
                  </a:tcPr>
                </a:tc>
                <a:tc>
                  <a:txBody>
                    <a:bodyPr lIns="90000" rIns="90000" anchor="t">
                      <a:noAutofit/>
                    </a:bodyPr>
                    <a:p>
                      <a:pPr>
                        <a:lnSpc>
                          <a:spcPct val="100000"/>
                        </a:lnSpc>
                        <a:buNone/>
                      </a:pPr>
                      <a:r>
                        <a:rPr b="0" lang="en-US" sz="1200" spc="-1" strike="noStrike">
                          <a:solidFill>
                            <a:srgbClr val="000000"/>
                          </a:solidFill>
                          <a:latin typeface="Arial"/>
                          <a:ea typeface="DejaVu Sans"/>
                        </a:rPr>
                        <a:t>yes</a:t>
                      </a:r>
                      <a:endParaRPr b="0" lang="en-US" sz="1200" spc="-1" strike="noStrike">
                        <a:latin typeface="Arial"/>
                      </a:endParaRPr>
                    </a:p>
                  </a:txBody>
                  <a:tcPr anchor="t" marL="90000" marR="90000">
                    <a:lnL>
                      <a:noFill/>
                    </a:lnL>
                    <a:lnR>
                      <a:noFill/>
                    </a:lnR>
                    <a:lnT>
                      <a:noFill/>
                    </a:lnT>
                    <a:lnB>
                      <a:noFill/>
                    </a:lnB>
                    <a:noFill/>
                  </a:tcPr>
                </a:tc>
              </a:tr>
              <a:tr h="307800">
                <a:tc>
                  <a:txBody>
                    <a:bodyPr lIns="90000" rIns="90000" anchor="t">
                      <a:noAutofit/>
                    </a:bodyPr>
                    <a:p>
                      <a:pPr>
                        <a:lnSpc>
                          <a:spcPct val="100000"/>
                        </a:lnSpc>
                        <a:buNone/>
                      </a:pPr>
                      <a:r>
                        <a:rPr b="0" lang="en-US" sz="1200" spc="-1" strike="noStrike">
                          <a:solidFill>
                            <a:srgbClr val="000000"/>
                          </a:solidFill>
                          <a:latin typeface="Arial"/>
                          <a:ea typeface="DejaVu Sans"/>
                        </a:rPr>
                        <a:t>Portal</a:t>
                      </a:r>
                      <a:endParaRPr b="0" lang="en-US" sz="1200" spc="-1" strike="noStrike">
                        <a:latin typeface="Arial"/>
                      </a:endParaRPr>
                    </a:p>
                  </a:txBody>
                  <a:tcPr anchor="t" marL="90000" marR="90000">
                    <a:lnL>
                      <a:noFill/>
                    </a:lnL>
                    <a:lnR>
                      <a:noFill/>
                    </a:lnR>
                    <a:lnT>
                      <a:noFill/>
                    </a:lnT>
                    <a:lnB>
                      <a:noFill/>
                    </a:lnB>
                    <a:noFill/>
                  </a:tcPr>
                </a:tc>
                <a:tc>
                  <a:txBody>
                    <a:bodyPr lIns="90000" rIns="90000" anchor="t">
                      <a:noAutofit/>
                    </a:bodyPr>
                    <a:p>
                      <a:pPr>
                        <a:lnSpc>
                          <a:spcPct val="100000"/>
                        </a:lnSpc>
                        <a:buNone/>
                      </a:pPr>
                      <a:r>
                        <a:rPr b="0" lang="en-US" sz="1200" spc="-1" strike="noStrike">
                          <a:solidFill>
                            <a:srgbClr val="000000"/>
                          </a:solidFill>
                          <a:latin typeface="Arial"/>
                          <a:ea typeface="DejaVu Sans"/>
                        </a:rPr>
                        <a:t>0.142</a:t>
                      </a:r>
                      <a:endParaRPr b="0" lang="en-US" sz="1200" spc="-1" strike="noStrike">
                        <a:latin typeface="Arial"/>
                      </a:endParaRPr>
                    </a:p>
                  </a:txBody>
                  <a:tcPr anchor="t" marL="90000" marR="90000">
                    <a:lnL>
                      <a:noFill/>
                    </a:lnL>
                    <a:lnR>
                      <a:noFill/>
                    </a:lnR>
                    <a:lnT>
                      <a:noFill/>
                    </a:lnT>
                    <a:lnB>
                      <a:noFill/>
                    </a:lnB>
                    <a:noFill/>
                  </a:tcPr>
                </a:tc>
                <a:tc>
                  <a:txBody>
                    <a:bodyPr lIns="90000" rIns="90000" anchor="t">
                      <a:noAutofit/>
                    </a:bodyPr>
                    <a:p>
                      <a:pPr>
                        <a:lnSpc>
                          <a:spcPct val="100000"/>
                        </a:lnSpc>
                        <a:buNone/>
                      </a:pPr>
                      <a:r>
                        <a:rPr b="0" lang="en-US" sz="1200" spc="-1" strike="noStrike">
                          <a:solidFill>
                            <a:srgbClr val="000000"/>
                          </a:solidFill>
                          <a:latin typeface="Arial"/>
                          <a:ea typeface="DejaVu Sans"/>
                        </a:rPr>
                        <a:t>no</a:t>
                      </a:r>
                      <a:endParaRPr b="0" lang="en-US" sz="1200" spc="-1" strike="noStrike">
                        <a:latin typeface="Arial"/>
                      </a:endParaRPr>
                    </a:p>
                  </a:txBody>
                  <a:tcPr anchor="t" marL="90000" marR="90000">
                    <a:lnL>
                      <a:noFill/>
                    </a:lnL>
                    <a:lnR>
                      <a:noFill/>
                    </a:lnR>
                    <a:lnT>
                      <a:noFill/>
                    </a:lnT>
                    <a:lnB>
                      <a:noFill/>
                    </a:lnB>
                    <a:noFill/>
                  </a:tcPr>
                </a:tc>
              </a:tr>
              <a:tr h="299160">
                <a:tc>
                  <a:txBody>
                    <a:bodyPr lIns="90000" rIns="90000" anchor="t">
                      <a:noAutofit/>
                    </a:bodyPr>
                    <a:p>
                      <a:pPr>
                        <a:lnSpc>
                          <a:spcPct val="100000"/>
                        </a:lnSpc>
                        <a:buNone/>
                      </a:pPr>
                      <a:r>
                        <a:rPr b="0" lang="en-US" sz="1200" spc="-1" strike="noStrike">
                          <a:solidFill>
                            <a:srgbClr val="000000"/>
                          </a:solidFill>
                          <a:latin typeface="Arial"/>
                          <a:ea typeface="DejaVu Sans"/>
                        </a:rPr>
                        <a:t>Terraria</a:t>
                      </a:r>
                      <a:endParaRPr b="0" lang="en-US" sz="1200" spc="-1" strike="noStrike">
                        <a:latin typeface="Arial"/>
                      </a:endParaRPr>
                    </a:p>
                  </a:txBody>
                  <a:tcPr anchor="t" marL="90000" marR="90000">
                    <a:lnL>
                      <a:noFill/>
                    </a:lnL>
                    <a:lnR>
                      <a:noFill/>
                    </a:lnR>
                    <a:lnT>
                      <a:noFill/>
                    </a:lnT>
                    <a:lnB>
                      <a:noFill/>
                    </a:lnB>
                    <a:noFill/>
                  </a:tcPr>
                </a:tc>
                <a:tc>
                  <a:txBody>
                    <a:bodyPr lIns="90000" rIns="90000" anchor="t">
                      <a:noAutofit/>
                    </a:bodyPr>
                    <a:p>
                      <a:pPr>
                        <a:lnSpc>
                          <a:spcPct val="100000"/>
                        </a:lnSpc>
                        <a:buNone/>
                      </a:pPr>
                      <a:r>
                        <a:rPr b="0" lang="en-US" sz="1200" spc="-1" strike="noStrike">
                          <a:solidFill>
                            <a:srgbClr val="000000"/>
                          </a:solidFill>
                          <a:latin typeface="Arial"/>
                          <a:ea typeface="DejaVu Sans"/>
                        </a:rPr>
                        <a:t>0.217</a:t>
                      </a:r>
                      <a:endParaRPr b="0" lang="en-US" sz="1200" spc="-1" strike="noStrike">
                        <a:latin typeface="Arial"/>
                      </a:endParaRPr>
                    </a:p>
                  </a:txBody>
                  <a:tcPr anchor="t" marL="90000" marR="90000">
                    <a:lnL>
                      <a:noFill/>
                    </a:lnL>
                    <a:lnR>
                      <a:noFill/>
                    </a:lnR>
                    <a:lnT>
                      <a:noFill/>
                    </a:lnT>
                    <a:lnB>
                      <a:noFill/>
                    </a:lnB>
                    <a:noFill/>
                  </a:tcPr>
                </a:tc>
                <a:tc>
                  <a:txBody>
                    <a:bodyPr lIns="90000" rIns="90000" anchor="t">
                      <a:noAutofit/>
                    </a:bodyPr>
                    <a:p>
                      <a:pPr>
                        <a:lnSpc>
                          <a:spcPct val="100000"/>
                        </a:lnSpc>
                        <a:buNone/>
                      </a:pPr>
                      <a:r>
                        <a:rPr b="0" lang="en-US" sz="1200" spc="-1" strike="noStrike">
                          <a:solidFill>
                            <a:srgbClr val="000000"/>
                          </a:solidFill>
                          <a:latin typeface="Arial"/>
                          <a:ea typeface="DejaVu Sans"/>
                        </a:rPr>
                        <a:t>No</a:t>
                      </a:r>
                      <a:endParaRPr b="0" lang="en-US" sz="1200" spc="-1" strike="noStrike">
                        <a:latin typeface="Arial"/>
                      </a:endParaRPr>
                    </a:p>
                  </a:txBody>
                  <a:tcPr anchor="t" marL="90000" marR="90000">
                    <a:lnL>
                      <a:noFill/>
                    </a:lnL>
                    <a:lnR>
                      <a:noFill/>
                    </a:lnR>
                    <a:lnT>
                      <a:noFill/>
                    </a:lnT>
                    <a:lnB>
                      <a:noFill/>
                    </a:lnB>
                    <a:noFill/>
                  </a:tcPr>
                </a:tc>
              </a:tr>
              <a:tr h="291600">
                <a:tc>
                  <a:txBody>
                    <a:bodyPr lIns="90000" rIns="90000" anchor="t">
                      <a:noAutofit/>
                    </a:bodyPr>
                    <a:p>
                      <a:pPr>
                        <a:lnSpc>
                          <a:spcPct val="100000"/>
                        </a:lnSpc>
                        <a:buNone/>
                      </a:pPr>
                      <a:r>
                        <a:rPr b="0" lang="en-US" sz="1200" spc="-1" strike="noStrike">
                          <a:solidFill>
                            <a:srgbClr val="000000"/>
                          </a:solidFill>
                          <a:latin typeface="Arial"/>
                          <a:ea typeface="DejaVu Sans"/>
                        </a:rPr>
                        <a:t>Killing floor</a:t>
                      </a:r>
                      <a:endParaRPr b="0" lang="en-US" sz="1200" spc="-1" strike="noStrike">
                        <a:latin typeface="Arial"/>
                      </a:endParaRPr>
                    </a:p>
                  </a:txBody>
                  <a:tcPr anchor="t" marL="90000" marR="90000">
                    <a:lnL>
                      <a:noFill/>
                    </a:lnL>
                    <a:lnR>
                      <a:noFill/>
                    </a:lnR>
                    <a:lnT>
                      <a:noFill/>
                    </a:lnT>
                    <a:lnB w="12240">
                      <a:solidFill>
                        <a:srgbClr val="006ca9"/>
                      </a:solidFill>
                    </a:lnB>
                    <a:noFill/>
                  </a:tcPr>
                </a:tc>
                <a:tc>
                  <a:txBody>
                    <a:bodyPr lIns="90000" rIns="90000" anchor="t">
                      <a:noAutofit/>
                    </a:bodyPr>
                    <a:p>
                      <a:pPr>
                        <a:lnSpc>
                          <a:spcPct val="100000"/>
                        </a:lnSpc>
                        <a:buNone/>
                      </a:pPr>
                      <a:r>
                        <a:rPr b="0" lang="en-US" sz="1200" spc="-1" strike="noStrike">
                          <a:solidFill>
                            <a:srgbClr val="000000"/>
                          </a:solidFill>
                          <a:latin typeface="Arial"/>
                          <a:ea typeface="DejaVu Sans"/>
                        </a:rPr>
                        <a:t>0.188</a:t>
                      </a:r>
                      <a:endParaRPr b="0" lang="en-US" sz="1200" spc="-1" strike="noStrike">
                        <a:latin typeface="Arial"/>
                      </a:endParaRPr>
                    </a:p>
                  </a:txBody>
                  <a:tcPr anchor="t" marL="90000" marR="90000">
                    <a:lnL>
                      <a:noFill/>
                    </a:lnL>
                    <a:lnR>
                      <a:noFill/>
                    </a:lnR>
                    <a:lnT>
                      <a:noFill/>
                    </a:lnT>
                    <a:lnB w="12240">
                      <a:solidFill>
                        <a:srgbClr val="006ca9"/>
                      </a:solidFill>
                    </a:lnB>
                    <a:noFill/>
                  </a:tcPr>
                </a:tc>
                <a:tc>
                  <a:txBody>
                    <a:bodyPr lIns="90000" rIns="90000" anchor="t">
                      <a:noAutofit/>
                    </a:bodyPr>
                    <a:p>
                      <a:pPr>
                        <a:lnSpc>
                          <a:spcPct val="100000"/>
                        </a:lnSpc>
                        <a:buNone/>
                      </a:pPr>
                      <a:r>
                        <a:rPr b="0" lang="en-US" sz="1200" spc="-1" strike="noStrike">
                          <a:solidFill>
                            <a:srgbClr val="000000"/>
                          </a:solidFill>
                          <a:latin typeface="Arial"/>
                          <a:ea typeface="DejaVu Sans"/>
                        </a:rPr>
                        <a:t>yes</a:t>
                      </a:r>
                      <a:endParaRPr b="0" lang="en-US" sz="1200" spc="-1" strike="noStrike">
                        <a:latin typeface="Arial"/>
                      </a:endParaRPr>
                    </a:p>
                  </a:txBody>
                  <a:tcPr anchor="t" marL="90000" marR="90000">
                    <a:lnL>
                      <a:noFill/>
                    </a:lnL>
                    <a:lnR>
                      <a:noFill/>
                    </a:lnR>
                    <a:lnT>
                      <a:noFill/>
                    </a:lnT>
                    <a:lnB w="12240">
                      <a:solidFill>
                        <a:srgbClr val="006ca9"/>
                      </a:solidFill>
                    </a:lnB>
                    <a:no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Google Shape;168;p 1"/>
          <p:cNvSpPr/>
          <p:nvPr/>
        </p:nvSpPr>
        <p:spPr>
          <a:xfrm rot="10800600">
            <a:off x="189720" y="485640"/>
            <a:ext cx="8551800" cy="787320"/>
          </a:xfrm>
          <a:prstGeom prst="round1Rect">
            <a:avLst>
              <a:gd name="adj" fmla="val 16667"/>
            </a:avLst>
          </a:prstGeom>
          <a:solidFill>
            <a:schemeClr val="accent2"/>
          </a:solidFill>
          <a:ln w="0">
            <a:noFill/>
          </a:ln>
        </p:spPr>
        <p:style>
          <a:lnRef idx="0"/>
          <a:fillRef idx="0"/>
          <a:effectRef idx="0"/>
          <a:fontRef idx="minor"/>
        </p:style>
      </p:sp>
      <p:sp>
        <p:nvSpPr>
          <p:cNvPr id="159" name="PlaceHolder 1"/>
          <p:cNvSpPr>
            <a:spLocks noGrp="1"/>
          </p:cNvSpPr>
          <p:nvPr>
            <p:ph type="title"/>
          </p:nvPr>
        </p:nvSpPr>
        <p:spPr>
          <a:xfrm>
            <a:off x="478800" y="579960"/>
            <a:ext cx="8207280" cy="592560"/>
          </a:xfrm>
          <a:prstGeom prst="rect">
            <a:avLst/>
          </a:prstGeom>
          <a:noFill/>
          <a:ln w="0">
            <a:noFill/>
          </a:ln>
        </p:spPr>
        <p:txBody>
          <a:bodyPr lIns="0" rIns="0" tIns="0" bIns="0" anchor="ctr">
            <a:normAutofit fontScale="81000"/>
          </a:bodyPr>
          <a:p>
            <a:pPr>
              <a:lnSpc>
                <a:spcPct val="100000"/>
              </a:lnSpc>
              <a:buNone/>
              <a:tabLst>
                <a:tab algn="l" pos="0"/>
              </a:tabLst>
            </a:pPr>
            <a:r>
              <a:rPr b="1" lang="en" sz="2900" spc="-1" strike="noStrike">
                <a:solidFill>
                  <a:srgbClr val="ffffff"/>
                </a:solidFill>
                <a:latin typeface="Calibri"/>
                <a:ea typeface="Calibri"/>
              </a:rPr>
              <a:t>No</a:t>
            </a:r>
            <a:r>
              <a:rPr b="1" lang="en" sz="2900" spc="-1" strike="noStrike">
                <a:solidFill>
                  <a:srgbClr val="ffffff"/>
                </a:solidFill>
                <a:latin typeface="Calibri"/>
                <a:ea typeface="Calibri"/>
              </a:rPr>
              <a:t>vel</a:t>
            </a:r>
            <a:r>
              <a:rPr b="1" lang="en" sz="2900" spc="-1" strike="noStrike">
                <a:solidFill>
                  <a:srgbClr val="ffffff"/>
                </a:solidFill>
                <a:latin typeface="Calibri"/>
                <a:ea typeface="Calibri"/>
              </a:rPr>
              <a:t>ty: </a:t>
            </a:r>
            <a:r>
              <a:rPr b="1" lang="en" sz="2900" spc="-1" strike="noStrike">
                <a:solidFill>
                  <a:srgbClr val="ffffff"/>
                </a:solidFill>
                <a:latin typeface="Calibri"/>
                <a:ea typeface="Calibri"/>
              </a:rPr>
              <a:t>ge</a:t>
            </a:r>
            <a:r>
              <a:rPr b="1" lang="en" sz="2900" spc="-1" strike="noStrike">
                <a:solidFill>
                  <a:srgbClr val="ffffff"/>
                </a:solidFill>
                <a:latin typeface="Calibri"/>
                <a:ea typeface="Calibri"/>
              </a:rPr>
              <a:t>nre </a:t>
            </a:r>
            <a:r>
              <a:rPr b="1" lang="en" sz="2900" spc="-1" strike="noStrike">
                <a:solidFill>
                  <a:srgbClr val="ffffff"/>
                </a:solidFill>
                <a:latin typeface="Calibri"/>
                <a:ea typeface="Calibri"/>
              </a:rPr>
              <a:t>bas</a:t>
            </a:r>
            <a:r>
              <a:rPr b="1" lang="en" sz="2900" spc="-1" strike="noStrike">
                <a:solidFill>
                  <a:srgbClr val="ffffff"/>
                </a:solidFill>
                <a:latin typeface="Calibri"/>
                <a:ea typeface="Calibri"/>
              </a:rPr>
              <a:t>ed </a:t>
            </a:r>
            <a:r>
              <a:rPr b="1" lang="en" sz="2900" spc="-1" strike="noStrike">
                <a:solidFill>
                  <a:srgbClr val="ffffff"/>
                </a:solidFill>
                <a:latin typeface="Calibri"/>
                <a:ea typeface="Calibri"/>
              </a:rPr>
              <a:t>ite</a:t>
            </a:r>
            <a:r>
              <a:rPr b="1" lang="en" sz="2900" spc="-1" strike="noStrike">
                <a:solidFill>
                  <a:srgbClr val="ffffff"/>
                </a:solidFill>
                <a:latin typeface="Calibri"/>
                <a:ea typeface="Calibri"/>
              </a:rPr>
              <a:t>m </a:t>
            </a:r>
            <a:r>
              <a:rPr b="1" lang="en" sz="2900" spc="-1" strike="noStrike">
                <a:solidFill>
                  <a:srgbClr val="ffffff"/>
                </a:solidFill>
                <a:latin typeface="Calibri"/>
                <a:ea typeface="Calibri"/>
              </a:rPr>
              <a:t>to </a:t>
            </a:r>
            <a:r>
              <a:rPr b="1" lang="en" sz="2900" spc="-1" strike="noStrike">
                <a:solidFill>
                  <a:srgbClr val="ffffff"/>
                </a:solidFill>
                <a:latin typeface="Calibri"/>
                <a:ea typeface="Calibri"/>
              </a:rPr>
              <a:t>his</a:t>
            </a:r>
            <a:r>
              <a:rPr b="1" lang="en" sz="2900" spc="-1" strike="noStrike">
                <a:solidFill>
                  <a:srgbClr val="ffffff"/>
                </a:solidFill>
                <a:latin typeface="Calibri"/>
                <a:ea typeface="Calibri"/>
              </a:rPr>
              <a:t>tor</a:t>
            </a:r>
            <a:r>
              <a:rPr b="1" lang="en" sz="2900" spc="-1" strike="noStrike">
                <a:solidFill>
                  <a:srgbClr val="ffffff"/>
                </a:solidFill>
                <a:latin typeface="Calibri"/>
                <a:ea typeface="Calibri"/>
              </a:rPr>
              <a:t>y </a:t>
            </a:r>
            <a:r>
              <a:rPr b="1" lang="en" sz="2900" spc="-1" strike="noStrike">
                <a:solidFill>
                  <a:srgbClr val="ffffff"/>
                </a:solidFill>
                <a:latin typeface="Calibri"/>
                <a:ea typeface="Calibri"/>
              </a:rPr>
              <a:t>sco</a:t>
            </a:r>
            <a:r>
              <a:rPr b="1" lang="en" sz="2900" spc="-1" strike="noStrike">
                <a:solidFill>
                  <a:srgbClr val="ffffff"/>
                </a:solidFill>
                <a:latin typeface="Calibri"/>
                <a:ea typeface="Calibri"/>
              </a:rPr>
              <a:t>re</a:t>
            </a:r>
            <a:endParaRPr b="0" lang="en-US" sz="2900" spc="-1" strike="noStrike">
              <a:latin typeface="Arial"/>
            </a:endParaRPr>
          </a:p>
        </p:txBody>
      </p:sp>
      <p:sp>
        <p:nvSpPr>
          <p:cNvPr id="160" name="Google Shape;175;p 3"/>
          <p:cNvSpPr/>
          <p:nvPr/>
        </p:nvSpPr>
        <p:spPr>
          <a:xfrm>
            <a:off x="6693120" y="4754520"/>
            <a:ext cx="1982520" cy="272880"/>
          </a:xfrm>
          <a:prstGeom prst="rect">
            <a:avLst/>
          </a:prstGeom>
          <a:noFill/>
          <a:ln w="0">
            <a:noFill/>
          </a:ln>
        </p:spPr>
        <p:style>
          <a:lnRef idx="0"/>
          <a:fillRef idx="0"/>
          <a:effectRef idx="0"/>
          <a:fontRef idx="minor"/>
        </p:style>
        <p:txBody>
          <a:bodyPr lIns="68400" rIns="68400" tIns="34200" bIns="34200" anchor="ctr">
            <a:noAutofit/>
          </a:bodyPr>
          <a:p>
            <a:pPr algn="r">
              <a:lnSpc>
                <a:spcPct val="100000"/>
              </a:lnSpc>
              <a:buNone/>
              <a:tabLst>
                <a:tab algn="l" pos="0"/>
              </a:tabLst>
            </a:pPr>
            <a:fld id="{D01E7384-5787-434E-B065-D5B57F81C687}" type="slidenum">
              <a:rPr b="0" lang="en" sz="800" spc="-1" strike="noStrike">
                <a:solidFill>
                  <a:srgbClr val="002e65"/>
                </a:solidFill>
                <a:latin typeface="Calibri"/>
                <a:ea typeface="Calibri"/>
              </a:rPr>
              <a:t>7</a:t>
            </a:fld>
            <a:endParaRPr b="0" lang="en-US" sz="800" spc="-1" strike="noStrike">
              <a:latin typeface="Arial"/>
            </a:endParaRPr>
          </a:p>
        </p:txBody>
      </p:sp>
      <p:sp>
        <p:nvSpPr>
          <p:cNvPr id="161" name="TextBox 2"/>
          <p:cNvSpPr/>
          <p:nvPr/>
        </p:nvSpPr>
        <p:spPr>
          <a:xfrm>
            <a:off x="189000" y="1553400"/>
            <a:ext cx="8954280" cy="3107160"/>
          </a:xfrm>
          <a:prstGeom prst="rect">
            <a:avLst/>
          </a:prstGeom>
          <a:noFill/>
          <a:ln w="0">
            <a:noFill/>
          </a:ln>
        </p:spPr>
        <p:style>
          <a:lnRef idx="0"/>
          <a:fillRef idx="0"/>
          <a:effectRef idx="0"/>
          <a:fontRef idx="minor"/>
        </p:style>
        <p:txBody>
          <a:bodyPr lIns="90000" rIns="90000" tIns="45000" bIns="45000" anchor="t">
            <a:spAutoFit/>
          </a:bodyPr>
          <a:p>
            <a:pPr marL="285840" indent="-285840">
              <a:lnSpc>
                <a:spcPct val="100000"/>
              </a:lnSpc>
              <a:buClr>
                <a:srgbClr val="000000"/>
              </a:buClr>
              <a:buFont typeface="Arial"/>
              <a:buChar char="•"/>
              <a:tabLst>
                <a:tab algn="l" pos="0"/>
              </a:tabLst>
            </a:pPr>
            <a:r>
              <a:rPr b="0" lang="en" sz="1800" spc="-1" strike="noStrike">
                <a:solidFill>
                  <a:srgbClr val="002e65"/>
                </a:solidFill>
                <a:latin typeface="Calibri"/>
                <a:ea typeface="Calibri"/>
              </a:rPr>
              <a:t>Represent each game with a multi hot genre vector (Action, RPG, Strategy, …)</a:t>
            </a:r>
            <a:endParaRPr b="0" lang="en-US" sz="1800" spc="-1" strike="noStrike">
              <a:latin typeface="Arial"/>
            </a:endParaRPr>
          </a:p>
          <a:p>
            <a:pPr marL="285840" indent="-285840">
              <a:lnSpc>
                <a:spcPct val="100000"/>
              </a:lnSpc>
              <a:buClr>
                <a:srgbClr val="000000"/>
              </a:buClr>
              <a:buFont typeface="Arial"/>
              <a:buChar char="•"/>
              <a:tabLst>
                <a:tab algn="l" pos="0"/>
              </a:tabLst>
            </a:pPr>
            <a:r>
              <a:rPr b="0" lang="en" sz="1800" spc="-1" strike="noStrike">
                <a:solidFill>
                  <a:srgbClr val="002e65"/>
                </a:solidFill>
                <a:latin typeface="Calibri"/>
                <a:ea typeface="Calibri"/>
              </a:rPr>
              <a:t>For a user and a candidate game:</a:t>
            </a:r>
            <a:endParaRPr b="0" lang="en-US" sz="1800" spc="-1" strike="noStrike">
              <a:latin typeface="Arial"/>
            </a:endParaRPr>
          </a:p>
          <a:p>
            <a:pPr lvl="1" marL="743040" indent="-285840">
              <a:lnSpc>
                <a:spcPct val="100000"/>
              </a:lnSpc>
              <a:buClr>
                <a:srgbClr val="000000"/>
              </a:buClr>
              <a:buFont typeface="Arial"/>
              <a:buChar char="•"/>
              <a:tabLst>
                <a:tab algn="l" pos="0"/>
              </a:tabLst>
            </a:pPr>
            <a:r>
              <a:rPr b="0" lang="en" sz="1800" spc="-1" strike="noStrike">
                <a:solidFill>
                  <a:srgbClr val="002e65"/>
                </a:solidFill>
                <a:latin typeface="Calibri"/>
                <a:ea typeface="Calibri"/>
              </a:rPr>
              <a:t>compare the candidate’s genres to each game in the user’s history using cosine similarity</a:t>
            </a:r>
            <a:endParaRPr b="0" lang="en-US" sz="1800" spc="-1" strike="noStrike">
              <a:latin typeface="Arial"/>
            </a:endParaRPr>
          </a:p>
          <a:p>
            <a:pPr lvl="1" marL="743040" indent="-285840">
              <a:lnSpc>
                <a:spcPct val="100000"/>
              </a:lnSpc>
              <a:buClr>
                <a:srgbClr val="000000"/>
              </a:buClr>
              <a:buFont typeface="Arial"/>
              <a:buChar char="•"/>
              <a:tabLst>
                <a:tab algn="l" pos="0"/>
              </a:tabLst>
            </a:pPr>
            <a:r>
              <a:rPr b="0" lang="nl-BE" sz="1800" spc="-1" strike="noStrike">
                <a:solidFill>
                  <a:srgbClr val="002e65"/>
                </a:solidFill>
                <a:latin typeface="Calibri"/>
                <a:ea typeface="Calibri"/>
              </a:rPr>
              <a:t>G</a:t>
            </a:r>
            <a:r>
              <a:rPr b="0" lang="en" sz="1800" spc="-1" strike="noStrike">
                <a:solidFill>
                  <a:srgbClr val="002e65"/>
                </a:solidFill>
                <a:latin typeface="Calibri"/>
                <a:ea typeface="Calibri"/>
              </a:rPr>
              <a:t>enres overlap → high similarity</a:t>
            </a:r>
            <a:endParaRPr b="0" lang="en-US" sz="1800" spc="-1" strike="noStrike">
              <a:latin typeface="Arial"/>
            </a:endParaRPr>
          </a:p>
          <a:p>
            <a:pPr lvl="1" marL="743040" indent="-285840">
              <a:lnSpc>
                <a:spcPct val="100000"/>
              </a:lnSpc>
              <a:buClr>
                <a:srgbClr val="000000"/>
              </a:buClr>
              <a:buFont typeface="Arial"/>
              <a:buChar char="•"/>
              <a:tabLst>
                <a:tab algn="l" pos="0"/>
              </a:tabLst>
            </a:pPr>
            <a:r>
              <a:rPr b="0" lang="en" sz="1800" spc="-1" strike="noStrike">
                <a:solidFill>
                  <a:srgbClr val="002e65"/>
                </a:solidFill>
                <a:latin typeface="Calibri"/>
                <a:ea typeface="Calibri"/>
              </a:rPr>
              <a:t>convert similarity to distance: </a:t>
            </a:r>
            <a:r>
              <a:rPr b="1" lang="en" sz="1800" spc="-1" strike="noStrike">
                <a:solidFill>
                  <a:srgbClr val="002e65"/>
                </a:solidFill>
                <a:latin typeface="Calibri"/>
                <a:ea typeface="Calibri"/>
              </a:rPr>
              <a:t>Distance = 1 − similarity</a:t>
            </a:r>
            <a:endParaRPr b="0" lang="en-US" sz="1800" spc="-1" strike="noStrike">
              <a:latin typeface="Arial"/>
            </a:endParaRPr>
          </a:p>
          <a:p>
            <a:pPr lvl="1" marL="743040" indent="-285840">
              <a:lnSpc>
                <a:spcPct val="100000"/>
              </a:lnSpc>
              <a:buClr>
                <a:srgbClr val="000000"/>
              </a:buClr>
              <a:buFont typeface="Arial"/>
              <a:buChar char="•"/>
              <a:tabLst>
                <a:tab algn="l" pos="0"/>
              </a:tabLst>
            </a:pPr>
            <a:r>
              <a:rPr b="0" lang="en" sz="1800" spc="-1" strike="noStrike">
                <a:solidFill>
                  <a:srgbClr val="002e65"/>
                </a:solidFill>
                <a:latin typeface="Calibri"/>
                <a:ea typeface="Calibri"/>
              </a:rPr>
              <a:t>Distance close to 1 → genres different from what the user usually plays → more novel</a:t>
            </a:r>
            <a:endParaRPr b="0" lang="en-US" sz="1800" spc="-1" strike="noStrike">
              <a:latin typeface="Arial"/>
            </a:endParaRPr>
          </a:p>
          <a:p>
            <a:pPr lvl="1" marL="743040" indent="-285840">
              <a:lnSpc>
                <a:spcPct val="100000"/>
              </a:lnSpc>
              <a:buClr>
                <a:srgbClr val="000000"/>
              </a:buClr>
              <a:buFont typeface="Arial"/>
              <a:buChar char="•"/>
              <a:tabLst>
                <a:tab algn="l" pos="0"/>
              </a:tabLst>
            </a:pPr>
            <a:r>
              <a:rPr b="0" lang="en" sz="1800" spc="-1" strike="noStrike">
                <a:solidFill>
                  <a:srgbClr val="002e65"/>
                </a:solidFill>
                <a:latin typeface="Calibri"/>
                <a:ea typeface="Calibri"/>
              </a:rPr>
              <a:t>Per candidate game take average of these distances → </a:t>
            </a:r>
            <a:r>
              <a:rPr b="1" lang="en" sz="1800" spc="-1" strike="noStrike">
                <a:solidFill>
                  <a:srgbClr val="002e65"/>
                </a:solidFill>
                <a:latin typeface="Calibri"/>
                <a:ea typeface="Calibri"/>
              </a:rPr>
              <a:t>item to history novelty</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sldNum" idx="10"/>
          </p:nvPr>
        </p:nvSpPr>
        <p:spPr>
          <a:xfrm>
            <a:off x="6692760" y="4754520"/>
            <a:ext cx="1982520" cy="272880"/>
          </a:xfrm>
          <a:prstGeom prst="rect">
            <a:avLst/>
          </a:prstGeom>
          <a:noFill/>
          <a:ln w="0">
            <a:noFill/>
          </a:ln>
        </p:spPr>
        <p:txBody>
          <a:bodyPr lIns="68400" rIns="68400" tIns="34200" bIns="34200" anchor="ctr">
            <a:noAutofit/>
          </a:bodyPr>
          <a:lstStyle>
            <a:lvl1pPr algn="r">
              <a:lnSpc>
                <a:spcPct val="100000"/>
              </a:lnSpc>
              <a:buNone/>
              <a:tabLst>
                <a:tab algn="l" pos="0"/>
              </a:tabLst>
              <a:defRPr b="0" lang="en" sz="800" spc="-1" strike="noStrike">
                <a:solidFill>
                  <a:srgbClr val="002e65"/>
                </a:solidFill>
                <a:latin typeface="Calibri"/>
                <a:ea typeface="Calibri"/>
              </a:defRPr>
            </a:lvl1pPr>
          </a:lstStyle>
          <a:p>
            <a:pPr algn="r">
              <a:lnSpc>
                <a:spcPct val="100000"/>
              </a:lnSpc>
              <a:buNone/>
              <a:tabLst>
                <a:tab algn="l" pos="0"/>
              </a:tabLst>
            </a:pPr>
            <a:fld id="{6A137B13-B01E-4961-9860-93D42E1C90F1}" type="slidenum">
              <a:rPr b="0" lang="en" sz="800" spc="-1" strike="noStrike">
                <a:solidFill>
                  <a:srgbClr val="002e65"/>
                </a:solidFill>
                <a:latin typeface="Calibri"/>
                <a:ea typeface="Calibri"/>
              </a:rPr>
              <a:t>7</a:t>
            </a:fld>
            <a:endParaRPr b="0" lang="en-US" sz="800" spc="-1" strike="noStrike">
              <a:latin typeface="Times New Roman"/>
            </a:endParaRPr>
          </a:p>
        </p:txBody>
      </p:sp>
      <p:sp>
        <p:nvSpPr>
          <p:cNvPr id="163" name="Google Shape;184;p 6"/>
          <p:cNvSpPr/>
          <p:nvPr/>
        </p:nvSpPr>
        <p:spPr>
          <a:xfrm rot="10800600">
            <a:off x="189720" y="485640"/>
            <a:ext cx="8551800" cy="787320"/>
          </a:xfrm>
          <a:prstGeom prst="round1Rect">
            <a:avLst>
              <a:gd name="adj" fmla="val 16667"/>
            </a:avLst>
          </a:prstGeom>
          <a:solidFill>
            <a:schemeClr val="accent2"/>
          </a:solidFill>
          <a:ln w="0">
            <a:noFill/>
          </a:ln>
        </p:spPr>
        <p:style>
          <a:lnRef idx="0"/>
          <a:fillRef idx="0"/>
          <a:effectRef idx="0"/>
          <a:fontRef idx="minor"/>
        </p:style>
      </p:sp>
      <p:sp>
        <p:nvSpPr>
          <p:cNvPr id="164" name="PlaceHolder 2"/>
          <p:cNvSpPr>
            <a:spLocks noGrp="1"/>
          </p:cNvSpPr>
          <p:nvPr>
            <p:ph type="title"/>
          </p:nvPr>
        </p:nvSpPr>
        <p:spPr>
          <a:xfrm>
            <a:off x="468000" y="583200"/>
            <a:ext cx="8207280" cy="592560"/>
          </a:xfrm>
          <a:prstGeom prst="rect">
            <a:avLst/>
          </a:prstGeom>
          <a:noFill/>
          <a:ln w="0">
            <a:noFill/>
          </a:ln>
        </p:spPr>
        <p:txBody>
          <a:bodyPr lIns="0" rIns="0" tIns="0" bIns="0" anchor="ctr">
            <a:normAutofit fontScale="73000"/>
          </a:bodyPr>
          <a:p>
            <a:pPr>
              <a:lnSpc>
                <a:spcPct val="100000"/>
              </a:lnSpc>
              <a:buNone/>
              <a:tabLst>
                <a:tab algn="l" pos="0"/>
              </a:tabLst>
            </a:pPr>
            <a:r>
              <a:rPr b="1" lang="en" sz="2900" spc="-1" strike="noStrike">
                <a:solidFill>
                  <a:srgbClr val="ffffff"/>
                </a:solidFill>
                <a:latin typeface="Calibri"/>
                <a:ea typeface="Calibri"/>
              </a:rPr>
              <a:t>Re</a:t>
            </a:r>
            <a:r>
              <a:rPr b="1" lang="en" sz="2900" spc="-1" strike="noStrike">
                <a:solidFill>
                  <a:srgbClr val="ffffff"/>
                </a:solidFill>
                <a:latin typeface="Calibri"/>
                <a:ea typeface="Calibri"/>
              </a:rPr>
              <a:t>sul</a:t>
            </a:r>
            <a:r>
              <a:rPr b="1" lang="en" sz="2900" spc="-1" strike="noStrike">
                <a:solidFill>
                  <a:srgbClr val="ffffff"/>
                </a:solidFill>
                <a:latin typeface="Calibri"/>
                <a:ea typeface="Calibri"/>
              </a:rPr>
              <a:t>ts: </a:t>
            </a:r>
            <a:r>
              <a:rPr b="1" lang="en" sz="2900" spc="-1" strike="noStrike">
                <a:solidFill>
                  <a:srgbClr val="ffffff"/>
                </a:solidFill>
                <a:latin typeface="Calibri"/>
                <a:ea typeface="Calibri"/>
              </a:rPr>
              <a:t>Ba</a:t>
            </a:r>
            <a:r>
              <a:rPr b="1" lang="en" sz="2900" spc="-1" strike="noStrike">
                <a:solidFill>
                  <a:srgbClr val="ffffff"/>
                </a:solidFill>
                <a:latin typeface="Calibri"/>
                <a:ea typeface="Calibri"/>
              </a:rPr>
              <a:t>seli</a:t>
            </a:r>
            <a:r>
              <a:rPr b="1" lang="en" sz="2900" spc="-1" strike="noStrike">
                <a:solidFill>
                  <a:srgbClr val="ffffff"/>
                </a:solidFill>
                <a:latin typeface="Calibri"/>
                <a:ea typeface="Calibri"/>
              </a:rPr>
              <a:t>ne </a:t>
            </a:r>
            <a:r>
              <a:rPr b="1" lang="en" sz="2900" spc="-1" strike="noStrike">
                <a:solidFill>
                  <a:srgbClr val="ffffff"/>
                </a:solidFill>
                <a:latin typeface="Calibri"/>
                <a:ea typeface="Calibri"/>
              </a:rPr>
              <a:t>EA</a:t>
            </a:r>
            <a:r>
              <a:rPr b="1" lang="en" sz="2900" spc="-1" strike="noStrike">
                <a:solidFill>
                  <a:srgbClr val="ffffff"/>
                </a:solidFill>
                <a:latin typeface="Calibri"/>
                <a:ea typeface="Calibri"/>
              </a:rPr>
              <a:t>SE </a:t>
            </a:r>
            <a:r>
              <a:rPr b="1" lang="en" sz="2900" spc="-1" strike="noStrike">
                <a:solidFill>
                  <a:srgbClr val="ffffff"/>
                </a:solidFill>
                <a:latin typeface="Calibri"/>
                <a:ea typeface="Calibri"/>
              </a:rPr>
              <a:t>per</a:t>
            </a:r>
            <a:r>
              <a:rPr b="1" lang="en" sz="2900" spc="-1" strike="noStrike">
                <a:solidFill>
                  <a:srgbClr val="ffffff"/>
                </a:solidFill>
                <a:latin typeface="Calibri"/>
                <a:ea typeface="Calibri"/>
              </a:rPr>
              <a:t>for</a:t>
            </a:r>
            <a:r>
              <a:rPr b="1" lang="en" sz="2900" spc="-1" strike="noStrike">
                <a:solidFill>
                  <a:srgbClr val="ffffff"/>
                </a:solidFill>
                <a:latin typeface="Calibri"/>
                <a:ea typeface="Calibri"/>
              </a:rPr>
              <a:t>ma</a:t>
            </a:r>
            <a:r>
              <a:rPr b="1" lang="en" sz="2900" spc="-1" strike="noStrike">
                <a:solidFill>
                  <a:srgbClr val="ffffff"/>
                </a:solidFill>
                <a:latin typeface="Calibri"/>
                <a:ea typeface="Calibri"/>
              </a:rPr>
              <a:t>nce </a:t>
            </a:r>
            <a:r>
              <a:rPr b="1" lang="en" sz="2900" spc="-1" strike="noStrike">
                <a:solidFill>
                  <a:srgbClr val="ffffff"/>
                </a:solidFill>
                <a:latin typeface="Calibri"/>
                <a:ea typeface="Calibri"/>
              </a:rPr>
              <a:t>(λ </a:t>
            </a:r>
            <a:r>
              <a:rPr b="1" lang="en" sz="2900" spc="-1" strike="noStrike">
                <a:solidFill>
                  <a:srgbClr val="ffffff"/>
                </a:solidFill>
                <a:latin typeface="Calibri"/>
                <a:ea typeface="Calibri"/>
              </a:rPr>
              <a:t>= </a:t>
            </a:r>
            <a:r>
              <a:rPr b="1" lang="en" sz="2900" spc="-1" strike="noStrike">
                <a:solidFill>
                  <a:srgbClr val="ffffff"/>
                </a:solidFill>
                <a:latin typeface="Calibri"/>
                <a:ea typeface="Calibri"/>
              </a:rPr>
              <a:t>30</a:t>
            </a:r>
            <a:r>
              <a:rPr b="1" lang="en" sz="2900" spc="-1" strike="noStrike">
                <a:solidFill>
                  <a:srgbClr val="ffffff"/>
                </a:solidFill>
                <a:latin typeface="Calibri"/>
                <a:ea typeface="Calibri"/>
              </a:rPr>
              <a:t>0, </a:t>
            </a:r>
            <a:r>
              <a:rPr b="1" lang="en" sz="2900" spc="-1" strike="noStrike">
                <a:solidFill>
                  <a:srgbClr val="ffffff"/>
                </a:solidFill>
                <a:latin typeface="Calibri"/>
                <a:ea typeface="Calibri"/>
              </a:rPr>
              <a:t>onl</a:t>
            </a:r>
            <a:r>
              <a:rPr b="1" lang="en" sz="2900" spc="-1" strike="noStrike">
                <a:solidFill>
                  <a:srgbClr val="ffffff"/>
                </a:solidFill>
                <a:latin typeface="Calibri"/>
                <a:ea typeface="Calibri"/>
              </a:rPr>
              <a:t>ine</a:t>
            </a:r>
            <a:r>
              <a:rPr b="1" lang="en" sz="2900" spc="-1" strike="noStrike">
                <a:solidFill>
                  <a:srgbClr val="ffffff"/>
                </a:solidFill>
                <a:latin typeface="Calibri"/>
                <a:ea typeface="Calibri"/>
              </a:rPr>
              <a:t>)</a:t>
            </a:r>
            <a:endParaRPr b="0" lang="en-US" sz="2900" spc="-1" strike="noStrike">
              <a:latin typeface="Arial"/>
            </a:endParaRPr>
          </a:p>
        </p:txBody>
      </p:sp>
      <p:pic>
        <p:nvPicPr>
          <p:cNvPr id="165" name="Afbeelding 130" descr=""/>
          <p:cNvPicPr/>
          <p:nvPr/>
        </p:nvPicPr>
        <p:blipFill>
          <a:blip r:embed="rId1"/>
          <a:stretch/>
        </p:blipFill>
        <p:spPr>
          <a:xfrm>
            <a:off x="1143000" y="1371600"/>
            <a:ext cx="6628320" cy="314136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sldNum" idx="11"/>
          </p:nvPr>
        </p:nvSpPr>
        <p:spPr>
          <a:xfrm>
            <a:off x="6692760" y="4754520"/>
            <a:ext cx="1982520" cy="272880"/>
          </a:xfrm>
          <a:prstGeom prst="rect">
            <a:avLst/>
          </a:prstGeom>
          <a:noFill/>
          <a:ln w="0">
            <a:noFill/>
          </a:ln>
        </p:spPr>
        <p:txBody>
          <a:bodyPr lIns="68400" rIns="68400" tIns="34200" bIns="34200" anchor="ctr">
            <a:noAutofit/>
          </a:bodyPr>
          <a:lstStyle>
            <a:lvl1pPr algn="r">
              <a:lnSpc>
                <a:spcPct val="100000"/>
              </a:lnSpc>
              <a:buNone/>
              <a:tabLst>
                <a:tab algn="l" pos="0"/>
              </a:tabLst>
              <a:defRPr b="0" lang="en" sz="800" spc="-1" strike="noStrike">
                <a:solidFill>
                  <a:srgbClr val="002e65"/>
                </a:solidFill>
                <a:latin typeface="Calibri"/>
                <a:ea typeface="Calibri"/>
              </a:defRPr>
            </a:lvl1pPr>
          </a:lstStyle>
          <a:p>
            <a:pPr algn="r">
              <a:lnSpc>
                <a:spcPct val="100000"/>
              </a:lnSpc>
              <a:buNone/>
              <a:tabLst>
                <a:tab algn="l" pos="0"/>
              </a:tabLst>
            </a:pPr>
            <a:fld id="{96EB8997-4C2B-4815-8594-313627FC5D05}" type="slidenum">
              <a:rPr b="0" lang="en" sz="800" spc="-1" strike="noStrike">
                <a:solidFill>
                  <a:srgbClr val="002e65"/>
                </a:solidFill>
                <a:latin typeface="Calibri"/>
                <a:ea typeface="Calibri"/>
              </a:rPr>
              <a:t>8</a:t>
            </a:fld>
            <a:endParaRPr b="0" lang="en-US" sz="800" spc="-1" strike="noStrike">
              <a:latin typeface="Times New Roman"/>
            </a:endParaRPr>
          </a:p>
        </p:txBody>
      </p:sp>
      <p:sp>
        <p:nvSpPr>
          <p:cNvPr id="167" name="Google Shape;176;p5"/>
          <p:cNvSpPr/>
          <p:nvPr/>
        </p:nvSpPr>
        <p:spPr>
          <a:xfrm rot="10800600">
            <a:off x="189720" y="485640"/>
            <a:ext cx="8551800" cy="787320"/>
          </a:xfrm>
          <a:prstGeom prst="round1Rect">
            <a:avLst>
              <a:gd name="adj" fmla="val 16667"/>
            </a:avLst>
          </a:prstGeom>
          <a:solidFill>
            <a:schemeClr val="accent2"/>
          </a:solidFill>
          <a:ln w="0">
            <a:noFill/>
          </a:ln>
        </p:spPr>
        <p:style>
          <a:lnRef idx="0"/>
          <a:fillRef idx="0"/>
          <a:effectRef idx="0"/>
          <a:fontRef idx="minor"/>
        </p:style>
      </p:sp>
      <p:sp>
        <p:nvSpPr>
          <p:cNvPr id="168" name="PlaceHolder 2"/>
          <p:cNvSpPr>
            <a:spLocks noGrp="1"/>
          </p:cNvSpPr>
          <p:nvPr>
            <p:ph type="title"/>
          </p:nvPr>
        </p:nvSpPr>
        <p:spPr>
          <a:xfrm>
            <a:off x="468000" y="583200"/>
            <a:ext cx="8207280" cy="592560"/>
          </a:xfrm>
          <a:prstGeom prst="rect">
            <a:avLst/>
          </a:prstGeom>
          <a:noFill/>
          <a:ln w="0">
            <a:noFill/>
          </a:ln>
        </p:spPr>
        <p:txBody>
          <a:bodyPr lIns="0" rIns="0" tIns="0" bIns="0" anchor="ctr">
            <a:normAutofit/>
          </a:bodyPr>
          <a:p>
            <a:pPr>
              <a:lnSpc>
                <a:spcPct val="100000"/>
              </a:lnSpc>
              <a:buNone/>
              <a:tabLst>
                <a:tab algn="l" pos="0"/>
              </a:tabLst>
            </a:pPr>
            <a:r>
              <a:rPr b="1" lang="en" sz="2900" spc="-1" strike="noStrike">
                <a:solidFill>
                  <a:srgbClr val="ffffff"/>
                </a:solidFill>
                <a:latin typeface="Calibri"/>
                <a:ea typeface="Calibri"/>
              </a:rPr>
              <a:t>Re</a:t>
            </a:r>
            <a:r>
              <a:rPr b="1" lang="en" sz="2900" spc="-1" strike="noStrike">
                <a:solidFill>
                  <a:srgbClr val="ffffff"/>
                </a:solidFill>
                <a:latin typeface="Calibri"/>
                <a:ea typeface="Calibri"/>
              </a:rPr>
              <a:t>sul</a:t>
            </a:r>
            <a:r>
              <a:rPr b="1" lang="en" sz="2900" spc="-1" strike="noStrike">
                <a:solidFill>
                  <a:srgbClr val="ffffff"/>
                </a:solidFill>
                <a:latin typeface="Calibri"/>
                <a:ea typeface="Calibri"/>
              </a:rPr>
              <a:t>ts: </a:t>
            </a:r>
            <a:r>
              <a:rPr b="1" lang="en" sz="2900" spc="-1" strike="noStrike">
                <a:solidFill>
                  <a:srgbClr val="ffffff"/>
                </a:solidFill>
                <a:latin typeface="Calibri"/>
                <a:ea typeface="Calibri"/>
              </a:rPr>
              <a:t>glo</a:t>
            </a:r>
            <a:r>
              <a:rPr b="1" lang="en" sz="2900" spc="-1" strike="noStrike">
                <a:solidFill>
                  <a:srgbClr val="ffffff"/>
                </a:solidFill>
                <a:latin typeface="Calibri"/>
                <a:ea typeface="Calibri"/>
              </a:rPr>
              <a:t>bal </a:t>
            </a:r>
            <a:r>
              <a:rPr b="1" lang="en" sz="2900" spc="-1" strike="noStrike">
                <a:solidFill>
                  <a:srgbClr val="ffffff"/>
                </a:solidFill>
                <a:latin typeface="Calibri"/>
                <a:ea typeface="Calibri"/>
              </a:rPr>
              <a:t>no</a:t>
            </a:r>
            <a:r>
              <a:rPr b="1" lang="en" sz="2900" spc="-1" strike="noStrike">
                <a:solidFill>
                  <a:srgbClr val="ffffff"/>
                </a:solidFill>
                <a:latin typeface="Calibri"/>
                <a:ea typeface="Calibri"/>
              </a:rPr>
              <a:t>vel</a:t>
            </a:r>
            <a:r>
              <a:rPr b="1" lang="en" sz="2900" spc="-1" strike="noStrike">
                <a:solidFill>
                  <a:srgbClr val="ffffff"/>
                </a:solidFill>
                <a:latin typeface="Calibri"/>
                <a:ea typeface="Calibri"/>
              </a:rPr>
              <a:t>ty </a:t>
            </a:r>
            <a:r>
              <a:rPr b="1" lang="en" sz="2900" spc="-1" strike="noStrike">
                <a:solidFill>
                  <a:srgbClr val="ffffff"/>
                </a:solidFill>
                <a:latin typeface="Calibri"/>
                <a:ea typeface="Calibri"/>
              </a:rPr>
              <a:t>re-</a:t>
            </a:r>
            <a:r>
              <a:rPr b="1" lang="en" sz="2900" spc="-1" strike="noStrike">
                <a:solidFill>
                  <a:srgbClr val="ffffff"/>
                </a:solidFill>
                <a:latin typeface="Calibri"/>
                <a:ea typeface="Calibri"/>
              </a:rPr>
              <a:t>ran</a:t>
            </a:r>
            <a:r>
              <a:rPr b="1" lang="en" sz="2900" spc="-1" strike="noStrike">
                <a:solidFill>
                  <a:srgbClr val="ffffff"/>
                </a:solidFill>
                <a:latin typeface="Calibri"/>
                <a:ea typeface="Calibri"/>
              </a:rPr>
              <a:t>kin</a:t>
            </a:r>
            <a:r>
              <a:rPr b="1" lang="en" sz="2900" spc="-1" strike="noStrike">
                <a:solidFill>
                  <a:srgbClr val="ffffff"/>
                </a:solidFill>
                <a:latin typeface="Calibri"/>
                <a:ea typeface="Calibri"/>
              </a:rPr>
              <a:t>g</a:t>
            </a:r>
            <a:endParaRPr b="0" lang="en-US" sz="2900" spc="-1" strike="noStrike">
              <a:latin typeface="Arial"/>
            </a:endParaRPr>
          </a:p>
        </p:txBody>
      </p:sp>
      <p:sp>
        <p:nvSpPr>
          <p:cNvPr id="169" name="Google Shape;178;p5"/>
          <p:cNvSpPr/>
          <p:nvPr/>
        </p:nvSpPr>
        <p:spPr>
          <a:xfrm>
            <a:off x="261720" y="1284840"/>
            <a:ext cx="8479080" cy="10054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0" i="1" lang="en" sz="1800" spc="-1" strike="noStrike">
                <a:solidFill>
                  <a:srgbClr val="808080"/>
                </a:solidFill>
                <a:latin typeface="Calibri"/>
                <a:ea typeface="Calibri"/>
              </a:rPr>
              <a:t>Reminder RQ: How does re-ranking EASE recommendations using genre-based item-to-history cosine novelty affect the accuracy-novelty trade-off?</a:t>
            </a:r>
            <a:endParaRPr b="0" lang="en-US" sz="1800" spc="-1" strike="noStrike">
              <a:latin typeface="Arial"/>
            </a:endParaRPr>
          </a:p>
        </p:txBody>
      </p:sp>
      <p:sp>
        <p:nvSpPr>
          <p:cNvPr id="170" name="Tekstvak 135"/>
          <p:cNvSpPr/>
          <p:nvPr/>
        </p:nvSpPr>
        <p:spPr>
          <a:xfrm>
            <a:off x="343080" y="2274480"/>
            <a:ext cx="8457480" cy="228528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tabLst>
                <a:tab algn="l" pos="0"/>
              </a:tabLst>
            </a:pPr>
            <a:r>
              <a:rPr b="0" lang="en" sz="2000" spc="-1" strike="noStrike">
                <a:solidFill>
                  <a:srgbClr val="002e65"/>
                </a:solidFill>
                <a:latin typeface="Calibri"/>
                <a:ea typeface="Calibri"/>
              </a:rPr>
              <a:t>Take recommendations produced by EASE for each user</a:t>
            </a:r>
            <a:endParaRPr b="0" lang="en-US" sz="2000" spc="-1" strike="noStrike">
              <a:latin typeface="Arial"/>
            </a:endParaRPr>
          </a:p>
          <a:p>
            <a:pPr marL="216000" indent="-216000">
              <a:lnSpc>
                <a:spcPct val="100000"/>
              </a:lnSpc>
              <a:buClr>
                <a:srgbClr val="000000"/>
              </a:buClr>
              <a:buSzPct val="45000"/>
              <a:buFont typeface="Wingdings" charset="2"/>
              <a:buChar char=""/>
              <a:tabLst>
                <a:tab algn="l" pos="0"/>
              </a:tabLst>
            </a:pPr>
            <a:r>
              <a:rPr b="0" lang="en" sz="2000" spc="-1" strike="noStrike">
                <a:solidFill>
                  <a:srgbClr val="002e65"/>
                </a:solidFill>
                <a:latin typeface="Calibri"/>
                <a:ea typeface="Calibri"/>
              </a:rPr>
              <a:t>For each candidate game compute the novelty score</a:t>
            </a:r>
            <a:endParaRPr b="0" lang="en-US" sz="2000" spc="-1" strike="noStrike">
              <a:latin typeface="Arial"/>
            </a:endParaRPr>
          </a:p>
          <a:p>
            <a:pPr marL="216000" indent="-216000">
              <a:lnSpc>
                <a:spcPct val="100000"/>
              </a:lnSpc>
              <a:buClr>
                <a:srgbClr val="000000"/>
              </a:buClr>
              <a:buSzPct val="45000"/>
              <a:buFont typeface="Wingdings" charset="2"/>
              <a:buChar char=""/>
              <a:tabLst>
                <a:tab algn="l" pos="0"/>
              </a:tabLst>
            </a:pPr>
            <a:r>
              <a:rPr b="0" lang="en" sz="2000" spc="-1" strike="noStrike">
                <a:solidFill>
                  <a:srgbClr val="002e65"/>
                </a:solidFill>
                <a:latin typeface="Calibri"/>
                <a:ea typeface="Calibri"/>
              </a:rPr>
              <a:t>Update scores:</a:t>
            </a:r>
            <a:endParaRPr b="0" lang="en-US" sz="2000" spc="-1" strike="noStrike">
              <a:latin typeface="Arial"/>
            </a:endParaRPr>
          </a:p>
          <a:p>
            <a:pPr marL="216000" indent="-216000">
              <a:lnSpc>
                <a:spcPct val="100000"/>
              </a:lnSpc>
              <a:buClr>
                <a:srgbClr val="000000"/>
              </a:buClr>
              <a:buSzPct val="45000"/>
              <a:buFont typeface="Wingdings" charset="2"/>
              <a:buChar char=""/>
              <a:tabLst>
                <a:tab algn="l" pos="0"/>
              </a:tabLst>
            </a:pPr>
            <a:r>
              <a:rPr b="0" lang="en" sz="2000" spc="-1" strike="noStrike">
                <a:solidFill>
                  <a:srgbClr val="002e65"/>
                </a:solidFill>
                <a:latin typeface="Calibri"/>
                <a:ea typeface="Calibri"/>
              </a:rPr>
              <a:t>Use one global novelty weight λ</a:t>
            </a:r>
            <a:r>
              <a:rPr b="0" lang="en" sz="2000" spc="-1" strike="noStrike" baseline="-25000">
                <a:solidFill>
                  <a:srgbClr val="002e65"/>
                </a:solidFill>
                <a:latin typeface="Calibri"/>
                <a:ea typeface="Calibri"/>
              </a:rPr>
              <a:t>nov</a:t>
            </a:r>
            <a:r>
              <a:rPr b="0" lang="en" sz="2000" spc="-1" strike="noStrike">
                <a:solidFill>
                  <a:srgbClr val="002e65"/>
                </a:solidFill>
                <a:latin typeface="Calibri"/>
                <a:ea typeface="Calibri"/>
              </a:rPr>
              <a:t> for all users</a:t>
            </a:r>
            <a:endParaRPr b="0" lang="en-US" sz="2000" spc="-1" strike="noStrike">
              <a:latin typeface="Arial"/>
            </a:endParaRPr>
          </a:p>
          <a:p>
            <a:pPr marL="216000" indent="-216000">
              <a:lnSpc>
                <a:spcPct val="100000"/>
              </a:lnSpc>
              <a:buClr>
                <a:srgbClr val="000000"/>
              </a:buClr>
              <a:buSzPct val="45000"/>
              <a:buFont typeface="Wingdings" charset="2"/>
              <a:buChar char=""/>
              <a:tabLst>
                <a:tab algn="l" pos="0"/>
              </a:tabLst>
            </a:pPr>
            <a:r>
              <a:rPr b="0" lang="en" sz="2000" spc="-1" strike="noStrike">
                <a:solidFill>
                  <a:srgbClr val="002e65"/>
                </a:solidFill>
                <a:latin typeface="Calibri"/>
                <a:ea typeface="Calibri"/>
              </a:rPr>
              <a:t>Sweep different λ</a:t>
            </a:r>
            <a:r>
              <a:rPr b="0" lang="en" sz="2000" spc="-1" strike="noStrike" baseline="-25000">
                <a:solidFill>
                  <a:srgbClr val="002e65"/>
                </a:solidFill>
                <a:latin typeface="Calibri"/>
                <a:ea typeface="Calibri"/>
              </a:rPr>
              <a:t>nov</a:t>
            </a:r>
            <a:r>
              <a:rPr b="0" lang="en" sz="2000" spc="-1" strike="noStrike">
                <a:solidFill>
                  <a:srgbClr val="002e65"/>
                </a:solidFill>
                <a:latin typeface="Calibri"/>
                <a:ea typeface="Calibri"/>
              </a:rPr>
              <a:t> values to study the accuracy vs novelty trade off</a:t>
            </a:r>
            <a:endParaRPr b="0" lang="en-US" sz="2000" spc="-1" strike="noStrike">
              <a:latin typeface="Arial"/>
            </a:endParaRPr>
          </a:p>
        </p:txBody>
      </p:sp>
      <mc:AlternateContent>
        <mc:Choice xmlns:a14="http://schemas.microsoft.com/office/drawing/2010/main" Requires="a14">
          <p:sp>
            <p:nvSpPr>
              <p:cNvPr id="171" name="Tekstvak 136"/>
              <p:cNvSpPr txBox="1"/>
              <p:nvPr/>
            </p:nvSpPr>
            <p:spPr>
              <a:xfrm>
                <a:off x="2088720" y="3191400"/>
                <a:ext cx="4603320" cy="378720"/>
              </a:xfrm>
              <a:prstGeom prst="rect">
                <a:avLst/>
              </a:prstGeom>
            </p:spPr>
            <p:txBody>
              <a:bodyPr/>
              <a:p>
                <a14:m>
                  <m:oMath xmlns:m="http://schemas.openxmlformats.org/officeDocument/2006/math">
                    <m:r>
                      <m:t xml:space="preserve">𝑠</m:t>
                    </m:r>
                    <m:r>
                      <m:t xml:space="preserve">′</m:t>
                    </m:r>
                    <m:d>
                      <m:dPr>
                        <m:begChr m:val="("/>
                        <m:endChr m:val=")"/>
                      </m:dPr>
                      <m:e>
                        <m:r>
                          <m:t xml:space="preserve">𝑢</m:t>
                        </m:r>
                        <m:r>
                          <m:t xml:space="preserve">,</m:t>
                        </m:r>
                        <m:r>
                          <m:t xml:space="preserve">𝑖</m:t>
                        </m:r>
                      </m:e>
                    </m:d>
                    <m:r>
                      <m:t xml:space="preserve">=</m:t>
                    </m:r>
                    <m:sSub>
                      <m:e>
                        <m:r>
                          <m:t xml:space="preserve">𝑆</m:t>
                        </m:r>
                      </m:e>
                      <m:sub>
                        <m:r>
                          <m:t xml:space="preserve">𝐸𝐴𝑆𝐸</m:t>
                        </m:r>
                      </m:sub>
                    </m:sSub>
                    <m:d>
                      <m:dPr>
                        <m:begChr m:val="("/>
                        <m:endChr m:val=")"/>
                      </m:dPr>
                      <m:e>
                        <m:r>
                          <m:t xml:space="preserve">𝑢</m:t>
                        </m:r>
                        <m:r>
                          <m:t xml:space="preserve">,</m:t>
                        </m:r>
                        <m:r>
                          <m:t xml:space="preserve">𝑖</m:t>
                        </m:r>
                      </m:e>
                    </m:d>
                    <m:r>
                      <m:t xml:space="preserve">+</m:t>
                    </m:r>
                    <m:sSub>
                      <m:e>
                        <m:r>
                          <m:t xml:space="preserve">𝜆</m:t>
                        </m:r>
                      </m:e>
                      <m:sub>
                        <m:r>
                          <m:t xml:space="preserve">𝑛𝑜𝑣</m:t>
                        </m:r>
                      </m:sub>
                    </m:sSub>
                    <m:r>
                      <m:t xml:space="preserve">⋅</m:t>
                    </m:r>
                    <m:r>
                      <m:t xml:space="preserve">𝑛𝑜𝑣𝑒𝑙𝑡𝑦</m:t>
                    </m:r>
                    <m:d>
                      <m:dPr>
                        <m:begChr m:val="("/>
                        <m:endChr m:val=")"/>
                      </m:dPr>
                      <m:e>
                        <m:r>
                          <m:t xml:space="preserve">𝑢</m:t>
                        </m:r>
                        <m:r>
                          <m:t xml:space="preserve">,</m:t>
                        </m:r>
                        <m:r>
                          <m:t xml:space="preserve">𝑖</m:t>
                        </m:r>
                      </m:e>
                    </m:d>
                  </m:oMath>
                </a14:m>
              </a:p>
            </p:txBody>
          </p:sp>
        </mc:Choice>
        <mc:Fallback/>
      </mc:AlternateContent>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sldNum" idx="12"/>
          </p:nvPr>
        </p:nvSpPr>
        <p:spPr>
          <a:xfrm>
            <a:off x="6692760" y="4754520"/>
            <a:ext cx="1982520" cy="272880"/>
          </a:xfrm>
          <a:prstGeom prst="rect">
            <a:avLst/>
          </a:prstGeom>
          <a:noFill/>
          <a:ln w="0">
            <a:noFill/>
          </a:ln>
        </p:spPr>
        <p:txBody>
          <a:bodyPr lIns="68400" rIns="68400" tIns="34200" bIns="34200" anchor="ctr">
            <a:noAutofit/>
          </a:bodyPr>
          <a:lstStyle>
            <a:lvl1pPr algn="r">
              <a:lnSpc>
                <a:spcPct val="100000"/>
              </a:lnSpc>
              <a:buNone/>
              <a:tabLst>
                <a:tab algn="l" pos="0"/>
              </a:tabLst>
              <a:defRPr b="0" lang="en" sz="800" spc="-1" strike="noStrike">
                <a:solidFill>
                  <a:srgbClr val="002e65"/>
                </a:solidFill>
                <a:latin typeface="Calibri"/>
                <a:ea typeface="Calibri"/>
              </a:defRPr>
            </a:lvl1pPr>
          </a:lstStyle>
          <a:p>
            <a:pPr algn="r">
              <a:lnSpc>
                <a:spcPct val="100000"/>
              </a:lnSpc>
              <a:buNone/>
              <a:tabLst>
                <a:tab algn="l" pos="0"/>
              </a:tabLst>
            </a:pPr>
            <a:fld id="{3EBB65C3-E132-40FF-B2CA-C14C271E4433}" type="slidenum">
              <a:rPr b="0" lang="en" sz="800" spc="-1" strike="noStrike">
                <a:solidFill>
                  <a:srgbClr val="002e65"/>
                </a:solidFill>
                <a:latin typeface="Calibri"/>
                <a:ea typeface="Calibri"/>
              </a:rPr>
              <a:t>9</a:t>
            </a:fld>
            <a:endParaRPr b="0" lang="en-US" sz="800" spc="-1" strike="noStrike">
              <a:latin typeface="Times New Roman"/>
            </a:endParaRPr>
          </a:p>
        </p:txBody>
      </p:sp>
      <p:sp>
        <p:nvSpPr>
          <p:cNvPr id="173" name="Google Shape;176;p 3"/>
          <p:cNvSpPr/>
          <p:nvPr/>
        </p:nvSpPr>
        <p:spPr>
          <a:xfrm rot="10800600">
            <a:off x="189720" y="485640"/>
            <a:ext cx="8551800" cy="787320"/>
          </a:xfrm>
          <a:prstGeom prst="round1Rect">
            <a:avLst>
              <a:gd name="adj" fmla="val 16667"/>
            </a:avLst>
          </a:prstGeom>
          <a:solidFill>
            <a:schemeClr val="accent2"/>
          </a:solidFill>
          <a:ln w="0">
            <a:noFill/>
          </a:ln>
        </p:spPr>
        <p:style>
          <a:lnRef idx="0"/>
          <a:fillRef idx="0"/>
          <a:effectRef idx="0"/>
          <a:fontRef idx="minor"/>
        </p:style>
      </p:sp>
      <p:sp>
        <p:nvSpPr>
          <p:cNvPr id="174" name="PlaceHolder 2"/>
          <p:cNvSpPr>
            <a:spLocks noGrp="1"/>
          </p:cNvSpPr>
          <p:nvPr>
            <p:ph type="title"/>
          </p:nvPr>
        </p:nvSpPr>
        <p:spPr>
          <a:xfrm>
            <a:off x="468000" y="583200"/>
            <a:ext cx="8207280" cy="592560"/>
          </a:xfrm>
          <a:prstGeom prst="rect">
            <a:avLst/>
          </a:prstGeom>
          <a:noFill/>
          <a:ln w="0">
            <a:noFill/>
          </a:ln>
        </p:spPr>
        <p:txBody>
          <a:bodyPr lIns="0" rIns="0" tIns="0" bIns="0" anchor="ctr">
            <a:normAutofit fontScale="81000"/>
          </a:bodyPr>
          <a:p>
            <a:pPr>
              <a:lnSpc>
                <a:spcPct val="100000"/>
              </a:lnSpc>
              <a:buNone/>
              <a:tabLst>
                <a:tab algn="l" pos="0"/>
              </a:tabLst>
            </a:pPr>
            <a:r>
              <a:rPr b="1" lang="en" sz="2900" spc="-1" strike="noStrike">
                <a:solidFill>
                  <a:srgbClr val="ffffff"/>
                </a:solidFill>
                <a:latin typeface="Calibri"/>
                <a:ea typeface="Calibri"/>
              </a:rPr>
              <a:t>Re</a:t>
            </a:r>
            <a:r>
              <a:rPr b="1" lang="en" sz="2900" spc="-1" strike="noStrike">
                <a:solidFill>
                  <a:srgbClr val="ffffff"/>
                </a:solidFill>
                <a:latin typeface="Calibri"/>
                <a:ea typeface="Calibri"/>
              </a:rPr>
              <a:t>sul</a:t>
            </a:r>
            <a:r>
              <a:rPr b="1" lang="en" sz="2900" spc="-1" strike="noStrike">
                <a:solidFill>
                  <a:srgbClr val="ffffff"/>
                </a:solidFill>
                <a:latin typeface="Calibri"/>
                <a:ea typeface="Calibri"/>
              </a:rPr>
              <a:t>ts: </a:t>
            </a:r>
            <a:r>
              <a:rPr b="1" lang="en" sz="2900" spc="-1" strike="noStrike">
                <a:solidFill>
                  <a:srgbClr val="ffffff"/>
                </a:solidFill>
                <a:latin typeface="Calibri"/>
                <a:ea typeface="Calibri"/>
              </a:rPr>
              <a:t>glo</a:t>
            </a:r>
            <a:r>
              <a:rPr b="1" lang="en" sz="2900" spc="-1" strike="noStrike">
                <a:solidFill>
                  <a:srgbClr val="ffffff"/>
                </a:solidFill>
                <a:latin typeface="Calibri"/>
                <a:ea typeface="Calibri"/>
              </a:rPr>
              <a:t>bal </a:t>
            </a:r>
            <a:r>
              <a:rPr b="1" lang="en" sz="2900" spc="-1" strike="noStrike">
                <a:solidFill>
                  <a:srgbClr val="ffffff"/>
                </a:solidFill>
                <a:latin typeface="Calibri"/>
                <a:ea typeface="Calibri"/>
              </a:rPr>
              <a:t>no</a:t>
            </a:r>
            <a:r>
              <a:rPr b="1" lang="en" sz="2900" spc="-1" strike="noStrike">
                <a:solidFill>
                  <a:srgbClr val="ffffff"/>
                </a:solidFill>
                <a:latin typeface="Calibri"/>
                <a:ea typeface="Calibri"/>
              </a:rPr>
              <a:t>vel</a:t>
            </a:r>
            <a:r>
              <a:rPr b="1" lang="en" sz="2900" spc="-1" strike="noStrike">
                <a:solidFill>
                  <a:srgbClr val="ffffff"/>
                </a:solidFill>
                <a:latin typeface="Calibri"/>
                <a:ea typeface="Calibri"/>
              </a:rPr>
              <a:t>ty </a:t>
            </a:r>
            <a:r>
              <a:rPr b="1" lang="en" sz="2900" spc="-1" strike="noStrike">
                <a:solidFill>
                  <a:srgbClr val="ffffff"/>
                </a:solidFill>
                <a:latin typeface="Calibri"/>
                <a:ea typeface="Calibri"/>
              </a:rPr>
              <a:t>re-</a:t>
            </a:r>
            <a:r>
              <a:rPr b="1" lang="en" sz="2900" spc="-1" strike="noStrike">
                <a:solidFill>
                  <a:srgbClr val="ffffff"/>
                </a:solidFill>
                <a:latin typeface="Calibri"/>
                <a:ea typeface="Calibri"/>
              </a:rPr>
              <a:t>ran</a:t>
            </a:r>
            <a:r>
              <a:rPr b="1" lang="en" sz="2900" spc="-1" strike="noStrike">
                <a:solidFill>
                  <a:srgbClr val="ffffff"/>
                </a:solidFill>
                <a:latin typeface="Calibri"/>
                <a:ea typeface="Calibri"/>
              </a:rPr>
              <a:t>kin</a:t>
            </a:r>
            <a:r>
              <a:rPr b="1" lang="en" sz="2900" spc="-1" strike="noStrike">
                <a:solidFill>
                  <a:srgbClr val="ffffff"/>
                </a:solidFill>
                <a:latin typeface="Calibri"/>
                <a:ea typeface="Calibri"/>
              </a:rPr>
              <a:t>g </a:t>
            </a:r>
            <a:r>
              <a:rPr b="1" lang="en" sz="2900" spc="-1" strike="noStrike">
                <a:solidFill>
                  <a:srgbClr val="ffffff"/>
                </a:solidFill>
                <a:latin typeface="Calibri"/>
                <a:ea typeface="Calibri"/>
              </a:rPr>
              <a:t>(o</a:t>
            </a:r>
            <a:r>
              <a:rPr b="1" lang="en" sz="2900" spc="-1" strike="noStrike">
                <a:solidFill>
                  <a:srgbClr val="ffffff"/>
                </a:solidFill>
                <a:latin typeface="Calibri"/>
                <a:ea typeface="Calibri"/>
              </a:rPr>
              <a:t>ffli</a:t>
            </a:r>
            <a:r>
              <a:rPr b="1" lang="en" sz="2900" spc="-1" strike="noStrike">
                <a:solidFill>
                  <a:srgbClr val="ffffff"/>
                </a:solidFill>
                <a:latin typeface="Calibri"/>
                <a:ea typeface="Calibri"/>
              </a:rPr>
              <a:t>ne)</a:t>
            </a:r>
            <a:endParaRPr b="0" lang="en-US" sz="2900" spc="-1" strike="noStrike">
              <a:latin typeface="Arial"/>
            </a:endParaRPr>
          </a:p>
        </p:txBody>
      </p:sp>
      <p:sp>
        <p:nvSpPr>
          <p:cNvPr id="175" name="Google Shape;178;p 3"/>
          <p:cNvSpPr/>
          <p:nvPr/>
        </p:nvSpPr>
        <p:spPr>
          <a:xfrm>
            <a:off x="261360" y="1298520"/>
            <a:ext cx="8479080" cy="10054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0" i="1" lang="en" sz="1800" spc="-1" strike="noStrike">
                <a:solidFill>
                  <a:srgbClr val="808080"/>
                </a:solidFill>
                <a:latin typeface="Calibri"/>
                <a:ea typeface="Calibri"/>
              </a:rPr>
              <a:t>Reminder RQ: How does re-ranking EASE recommendations using genre-based item-to-history cosine novelty affect the accuracy-novelty trade-off?</a:t>
            </a:r>
            <a:endParaRPr b="0" lang="en-US" sz="1800" spc="-1" strike="noStrike">
              <a:latin typeface="Arial"/>
            </a:endParaRPr>
          </a:p>
        </p:txBody>
      </p:sp>
      <p:pic>
        <p:nvPicPr>
          <p:cNvPr id="176" name="Afbeelding 141" descr=""/>
          <p:cNvPicPr/>
          <p:nvPr/>
        </p:nvPicPr>
        <p:blipFill>
          <a:blip r:embed="rId1"/>
          <a:stretch/>
        </p:blipFill>
        <p:spPr>
          <a:xfrm>
            <a:off x="228600" y="2238480"/>
            <a:ext cx="4129920" cy="2561400"/>
          </a:xfrm>
          <a:prstGeom prst="rect">
            <a:avLst/>
          </a:prstGeom>
          <a:ln w="0">
            <a:noFill/>
          </a:ln>
        </p:spPr>
      </p:pic>
      <p:pic>
        <p:nvPicPr>
          <p:cNvPr id="177" name="Afbeelding 142" descr=""/>
          <p:cNvPicPr/>
          <p:nvPr/>
        </p:nvPicPr>
        <p:blipFill>
          <a:blip r:embed="rId2"/>
          <a:stretch/>
        </p:blipFill>
        <p:spPr>
          <a:xfrm>
            <a:off x="4438080" y="2239920"/>
            <a:ext cx="4019400" cy="2665440"/>
          </a:xfrm>
          <a:prstGeom prst="rect">
            <a:avLst/>
          </a:prstGeom>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sldNum" idx="13"/>
          </p:nvPr>
        </p:nvSpPr>
        <p:spPr>
          <a:xfrm>
            <a:off x="6692760" y="4754520"/>
            <a:ext cx="1982520" cy="272880"/>
          </a:xfrm>
          <a:prstGeom prst="rect">
            <a:avLst/>
          </a:prstGeom>
          <a:noFill/>
          <a:ln w="0">
            <a:noFill/>
          </a:ln>
        </p:spPr>
        <p:txBody>
          <a:bodyPr lIns="68400" rIns="68400" tIns="34200" bIns="34200" anchor="ctr">
            <a:noAutofit/>
          </a:bodyPr>
          <a:lstStyle>
            <a:lvl1pPr algn="r">
              <a:lnSpc>
                <a:spcPct val="100000"/>
              </a:lnSpc>
              <a:buNone/>
              <a:tabLst>
                <a:tab algn="l" pos="0"/>
              </a:tabLst>
              <a:defRPr b="0" lang="en" sz="800" spc="-1" strike="noStrike">
                <a:solidFill>
                  <a:srgbClr val="002e65"/>
                </a:solidFill>
                <a:latin typeface="Calibri"/>
                <a:ea typeface="Calibri"/>
              </a:defRPr>
            </a:lvl1pPr>
          </a:lstStyle>
          <a:p>
            <a:pPr algn="r">
              <a:lnSpc>
                <a:spcPct val="100000"/>
              </a:lnSpc>
              <a:buNone/>
              <a:tabLst>
                <a:tab algn="l" pos="0"/>
              </a:tabLst>
            </a:pPr>
            <a:fld id="{A563680A-1FF0-4BEF-8A0A-4C92EE7C777C}" type="slidenum">
              <a:rPr b="0" lang="en" sz="800" spc="-1" strike="noStrike">
                <a:solidFill>
                  <a:srgbClr val="002e65"/>
                </a:solidFill>
                <a:latin typeface="Calibri"/>
                <a:ea typeface="Calibri"/>
              </a:rPr>
              <a:t>10</a:t>
            </a:fld>
            <a:endParaRPr b="0" lang="en-US" sz="800" spc="-1" strike="noStrike">
              <a:latin typeface="Times New Roman"/>
            </a:endParaRPr>
          </a:p>
        </p:txBody>
      </p:sp>
      <p:sp>
        <p:nvSpPr>
          <p:cNvPr id="179" name="Google Shape;184;p6"/>
          <p:cNvSpPr/>
          <p:nvPr/>
        </p:nvSpPr>
        <p:spPr>
          <a:xfrm rot="10800600">
            <a:off x="189720" y="485640"/>
            <a:ext cx="8551800" cy="787320"/>
          </a:xfrm>
          <a:prstGeom prst="round1Rect">
            <a:avLst>
              <a:gd name="adj" fmla="val 16667"/>
            </a:avLst>
          </a:prstGeom>
          <a:solidFill>
            <a:schemeClr val="accent2"/>
          </a:solidFill>
          <a:ln w="0">
            <a:noFill/>
          </a:ln>
        </p:spPr>
        <p:style>
          <a:lnRef idx="0"/>
          <a:fillRef idx="0"/>
          <a:effectRef idx="0"/>
          <a:fontRef idx="minor"/>
        </p:style>
      </p:sp>
      <p:sp>
        <p:nvSpPr>
          <p:cNvPr id="180" name="PlaceHolder 2"/>
          <p:cNvSpPr>
            <a:spLocks noGrp="1"/>
          </p:cNvSpPr>
          <p:nvPr>
            <p:ph type="title"/>
          </p:nvPr>
        </p:nvSpPr>
        <p:spPr>
          <a:xfrm>
            <a:off x="468000" y="583200"/>
            <a:ext cx="8207280" cy="592560"/>
          </a:xfrm>
          <a:prstGeom prst="rect">
            <a:avLst/>
          </a:prstGeom>
          <a:noFill/>
          <a:ln w="0">
            <a:noFill/>
          </a:ln>
        </p:spPr>
        <p:txBody>
          <a:bodyPr lIns="0" rIns="0" tIns="0" bIns="0" anchor="ctr">
            <a:normAutofit fontScale="81000"/>
          </a:bodyPr>
          <a:p>
            <a:pPr>
              <a:lnSpc>
                <a:spcPct val="100000"/>
              </a:lnSpc>
              <a:buNone/>
              <a:tabLst>
                <a:tab algn="l" pos="0"/>
              </a:tabLst>
            </a:pPr>
            <a:r>
              <a:rPr b="1" lang="en" sz="2900" spc="-1" strike="noStrike">
                <a:solidFill>
                  <a:srgbClr val="ffffff"/>
                </a:solidFill>
                <a:latin typeface="Calibri"/>
                <a:ea typeface="Calibri"/>
              </a:rPr>
              <a:t>Method: user specific novelty weighting</a:t>
            </a:r>
            <a:endParaRPr b="0" lang="en-US" sz="2900" spc="-1" strike="noStrike">
              <a:latin typeface="Arial"/>
            </a:endParaRPr>
          </a:p>
        </p:txBody>
      </p:sp>
      <mc:AlternateContent>
        <mc:Choice xmlns:a14="http://schemas.microsoft.com/office/drawing/2010/main" Requires="a14">
          <p:sp>
            <p:nvSpPr>
              <p:cNvPr id="181" name="Tekstvak 147"/>
              <p:cNvSpPr txBox="1"/>
              <p:nvPr/>
            </p:nvSpPr>
            <p:spPr>
              <a:xfrm>
                <a:off x="2000880" y="2314080"/>
                <a:ext cx="4319640" cy="393480"/>
              </a:xfrm>
              <a:prstGeom prst="rect">
                <a:avLst/>
              </a:prstGeom>
            </p:spPr>
            <p:txBody>
              <a:bodyPr/>
              <a:p>
                <a14:m>
                  <m:oMath xmlns:m="http://schemas.openxmlformats.org/officeDocument/2006/math">
                    <m:r>
                      <m:t xml:space="preserve">𝑠</m:t>
                    </m:r>
                    <m:r>
                      <m:t xml:space="preserve">′</m:t>
                    </m:r>
                    <m:d>
                      <m:dPr>
                        <m:begChr m:val="("/>
                        <m:endChr m:val=")"/>
                      </m:dPr>
                      <m:e>
                        <m:r>
                          <m:t xml:space="preserve">𝑢</m:t>
                        </m:r>
                        <m:r>
                          <m:t xml:space="preserve">,</m:t>
                        </m:r>
                        <m:r>
                          <m:t xml:space="preserve">𝑖</m:t>
                        </m:r>
                      </m:e>
                    </m:d>
                    <m:r>
                      <m:t xml:space="preserve">=</m:t>
                    </m:r>
                    <m:sSub>
                      <m:e>
                        <m:r>
                          <m:t xml:space="preserve">𝑆</m:t>
                        </m:r>
                      </m:e>
                      <m:sub>
                        <m:r>
                          <m:t xml:space="preserve">𝐸𝐴𝑆𝐸</m:t>
                        </m:r>
                      </m:sub>
                    </m:sSub>
                    <m:d>
                      <m:dPr>
                        <m:begChr m:val="("/>
                        <m:endChr m:val=")"/>
                      </m:dPr>
                      <m:e>
                        <m:r>
                          <m:t xml:space="preserve">𝑢</m:t>
                        </m:r>
                        <m:r>
                          <m:t xml:space="preserve">,</m:t>
                        </m:r>
                        <m:r>
                          <m:t xml:space="preserve">𝑖</m:t>
                        </m:r>
                      </m:e>
                    </m:d>
                    <m:r>
                      <m:t xml:space="preserve">+</m:t>
                    </m:r>
                    <m:sSub>
                      <m:e>
                        <m:r>
                          <m:t xml:space="preserve">𝜆</m:t>
                        </m:r>
                      </m:e>
                      <m:sub>
                        <m:r>
                          <m:t xml:space="preserve">𝑢</m:t>
                        </m:r>
                      </m:sub>
                    </m:sSub>
                    <m:r>
                      <m:t xml:space="preserve">⋅</m:t>
                    </m:r>
                    <m:r>
                      <m:t xml:space="preserve">𝑛𝑜𝑣𝑒𝑙𝑡𝑦</m:t>
                    </m:r>
                    <m:d>
                      <m:dPr>
                        <m:begChr m:val="("/>
                        <m:endChr m:val=")"/>
                      </m:dPr>
                      <m:e>
                        <m:r>
                          <m:t xml:space="preserve">𝑢</m:t>
                        </m:r>
                        <m:r>
                          <m:t xml:space="preserve">,</m:t>
                        </m:r>
                        <m:r>
                          <m:t xml:space="preserve">𝑖</m:t>
                        </m:r>
                      </m:e>
                    </m:d>
                  </m:oMath>
                </a14:m>
              </a:p>
            </p:txBody>
          </p:sp>
        </mc:Choice>
        <mc:Fallback/>
      </mc:AlternateContent>
      <p:sp>
        <p:nvSpPr>
          <p:cNvPr id="182" name="Tekstvak 135"/>
          <p:cNvSpPr/>
          <p:nvPr/>
        </p:nvSpPr>
        <p:spPr>
          <a:xfrm>
            <a:off x="468000" y="2306160"/>
            <a:ext cx="8548920" cy="238860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tabLst>
                <a:tab algn="l" pos="0"/>
              </a:tabLst>
            </a:pPr>
            <a:r>
              <a:rPr b="0" lang="nl-BE" sz="1800" spc="-1" strike="noStrike">
                <a:solidFill>
                  <a:srgbClr val="002e65"/>
                </a:solidFill>
                <a:latin typeface="Calibri"/>
                <a:ea typeface="Calibri"/>
              </a:rPr>
              <a:t>Update score:</a:t>
            </a:r>
            <a:endParaRPr b="0" lang="en-US" sz="1800" spc="-1" strike="noStrike">
              <a:latin typeface="Arial"/>
            </a:endParaRPr>
          </a:p>
          <a:p>
            <a:pPr>
              <a:lnSpc>
                <a:spcPct val="100000"/>
              </a:lnSpc>
              <a:buNone/>
              <a:tabLst>
                <a:tab algn="l" pos="0"/>
              </a:tabLst>
            </a:pPr>
            <a:r>
              <a:rPr b="0" lang="nl-BE" sz="1800" spc="-1" strike="noStrike">
                <a:solidFill>
                  <a:srgbClr val="002e65"/>
                </a:solidFill>
                <a:latin typeface="Calibri"/>
                <a:ea typeface="Calibri"/>
              </a:rPr>
              <a:t>1. Profile size groups (# interactions)</a:t>
            </a:r>
            <a:endParaRPr b="0" lang="en-US" sz="1800" spc="-1" strike="noStrike">
              <a:latin typeface="Arial"/>
            </a:endParaRPr>
          </a:p>
          <a:p>
            <a:pPr lvl="1" marL="673200" indent="-216000">
              <a:lnSpc>
                <a:spcPct val="100000"/>
              </a:lnSpc>
              <a:buClr>
                <a:srgbClr val="000000"/>
              </a:buClr>
              <a:buSzPct val="45000"/>
              <a:buFont typeface="Wingdings" charset="2"/>
              <a:buChar char=""/>
              <a:tabLst>
                <a:tab algn="l" pos="0"/>
              </a:tabLst>
            </a:pPr>
            <a:r>
              <a:rPr b="0" lang="nl-BE" sz="1800" spc="-1" strike="noStrike">
                <a:solidFill>
                  <a:srgbClr val="002e65"/>
                </a:solidFill>
                <a:latin typeface="Calibri"/>
                <a:ea typeface="Calibri"/>
              </a:rPr>
              <a:t>Low &lt; 15: </a:t>
            </a:r>
            <a:r>
              <a:rPr b="0" lang="en" sz="1800" spc="-1" strike="noStrike">
                <a:solidFill>
                  <a:srgbClr val="002e65"/>
                </a:solidFill>
                <a:latin typeface="Calibri"/>
                <a:ea typeface="Calibri"/>
              </a:rPr>
              <a:t>λ</a:t>
            </a:r>
            <a:r>
              <a:rPr b="0" lang="en" sz="1800" spc="-1" strike="noStrike" baseline="-25000">
                <a:solidFill>
                  <a:srgbClr val="002e65"/>
                </a:solidFill>
                <a:latin typeface="Calibri"/>
                <a:ea typeface="Calibri"/>
              </a:rPr>
              <a:t>nov</a:t>
            </a:r>
            <a:r>
              <a:rPr b="0" lang="nl-BE" sz="1800" spc="-1" strike="noStrike">
                <a:solidFill>
                  <a:srgbClr val="002e65"/>
                </a:solidFill>
                <a:latin typeface="Calibri"/>
                <a:ea typeface="Calibri"/>
              </a:rPr>
              <a:t> = 0.1</a:t>
            </a:r>
            <a:endParaRPr b="0" lang="en-US" sz="1800" spc="-1" strike="noStrike">
              <a:latin typeface="Arial"/>
            </a:endParaRPr>
          </a:p>
          <a:p>
            <a:pPr lvl="1" marL="673200" indent="-216000">
              <a:lnSpc>
                <a:spcPct val="100000"/>
              </a:lnSpc>
              <a:buClr>
                <a:srgbClr val="000000"/>
              </a:buClr>
              <a:buSzPct val="45000"/>
              <a:buFont typeface="Wingdings" charset="2"/>
              <a:buChar char=""/>
              <a:tabLst>
                <a:tab algn="l" pos="0"/>
              </a:tabLst>
            </a:pPr>
            <a:r>
              <a:rPr b="0" lang="en-US" sz="1800" spc="-1" strike="noStrike">
                <a:solidFill>
                  <a:srgbClr val="002e65"/>
                </a:solidFill>
                <a:latin typeface="Calibri"/>
                <a:ea typeface="Calibri"/>
              </a:rPr>
              <a:t>Medium 15-50: </a:t>
            </a:r>
            <a:r>
              <a:rPr b="0" lang="en" sz="1800" spc="-1" strike="noStrike">
                <a:solidFill>
                  <a:srgbClr val="002e65"/>
                </a:solidFill>
                <a:latin typeface="Calibri"/>
                <a:ea typeface="Calibri"/>
              </a:rPr>
              <a:t>λ</a:t>
            </a:r>
            <a:r>
              <a:rPr b="0" lang="en" sz="1800" spc="-1" strike="noStrike" baseline="-25000">
                <a:solidFill>
                  <a:srgbClr val="002e65"/>
                </a:solidFill>
                <a:latin typeface="Calibri"/>
                <a:ea typeface="Calibri"/>
              </a:rPr>
              <a:t>nov</a:t>
            </a:r>
            <a:r>
              <a:rPr b="0" lang="en-US" sz="1800" spc="-1" strike="noStrike">
                <a:solidFill>
                  <a:srgbClr val="002e65"/>
                </a:solidFill>
                <a:latin typeface="Calibri"/>
                <a:ea typeface="Calibri"/>
              </a:rPr>
              <a:t> = 0.2</a:t>
            </a:r>
            <a:endParaRPr b="0" lang="en-US" sz="1800" spc="-1" strike="noStrike">
              <a:latin typeface="Arial"/>
            </a:endParaRPr>
          </a:p>
          <a:p>
            <a:pPr lvl="1" marL="673200" indent="-216000">
              <a:lnSpc>
                <a:spcPct val="100000"/>
              </a:lnSpc>
              <a:buClr>
                <a:srgbClr val="000000"/>
              </a:buClr>
              <a:buSzPct val="45000"/>
              <a:buFont typeface="Wingdings" charset="2"/>
              <a:buChar char=""/>
              <a:tabLst>
                <a:tab algn="l" pos="0"/>
              </a:tabLst>
            </a:pPr>
            <a:r>
              <a:rPr b="0" lang="en-US" sz="1800" spc="-1" strike="noStrike">
                <a:solidFill>
                  <a:srgbClr val="002e65"/>
                </a:solidFill>
                <a:latin typeface="Calibri"/>
                <a:ea typeface="Calibri"/>
              </a:rPr>
              <a:t>High ≥ 50: </a:t>
            </a:r>
            <a:r>
              <a:rPr b="0" lang="en" sz="1800" spc="-1" strike="noStrike">
                <a:solidFill>
                  <a:srgbClr val="002e65"/>
                </a:solidFill>
                <a:latin typeface="Calibri"/>
                <a:ea typeface="Calibri"/>
              </a:rPr>
              <a:t>λ</a:t>
            </a:r>
            <a:r>
              <a:rPr b="0" lang="en" sz="1800" spc="-1" strike="noStrike" baseline="-25000">
                <a:solidFill>
                  <a:srgbClr val="002e65"/>
                </a:solidFill>
                <a:latin typeface="Calibri"/>
                <a:ea typeface="Calibri"/>
              </a:rPr>
              <a:t>nov</a:t>
            </a:r>
            <a:r>
              <a:rPr b="0" lang="en-US" sz="1800" spc="-1" strike="noStrike">
                <a:solidFill>
                  <a:srgbClr val="002e65"/>
                </a:solidFill>
                <a:latin typeface="Calibri"/>
                <a:ea typeface="Calibri"/>
              </a:rPr>
              <a:t> = 0.3</a:t>
            </a:r>
            <a:endParaRPr b="0" lang="en-US" sz="1800" spc="-1" strike="noStrike">
              <a:latin typeface="Arial"/>
            </a:endParaRPr>
          </a:p>
          <a:p>
            <a:pPr>
              <a:lnSpc>
                <a:spcPct val="100000"/>
              </a:lnSpc>
              <a:buNone/>
              <a:tabLst>
                <a:tab algn="l" pos="0"/>
              </a:tabLst>
            </a:pPr>
            <a:r>
              <a:rPr b="0" lang="en-US" sz="1800" spc="-1" strike="noStrike">
                <a:solidFill>
                  <a:srgbClr val="002e65"/>
                </a:solidFill>
                <a:latin typeface="Calibri"/>
                <a:ea typeface="Calibri"/>
              </a:rPr>
              <a:t>2. Genre diversity group (entropy of genres)</a:t>
            </a:r>
            <a:endParaRPr b="0" lang="en-US" sz="1800" spc="-1" strike="noStrike">
              <a:latin typeface="Arial"/>
            </a:endParaRPr>
          </a:p>
          <a:p>
            <a:pPr lvl="1" marL="800280" indent="-343080">
              <a:lnSpc>
                <a:spcPct val="100000"/>
              </a:lnSpc>
              <a:buClr>
                <a:srgbClr val="000000"/>
              </a:buClr>
              <a:buFont typeface="Arial"/>
              <a:buChar char="•"/>
              <a:tabLst>
                <a:tab algn="l" pos="0"/>
              </a:tabLst>
            </a:pPr>
            <a:r>
              <a:rPr b="0" lang="en-US" sz="1800" spc="-1" strike="noStrike">
                <a:solidFill>
                  <a:srgbClr val="002e65"/>
                </a:solidFill>
                <a:latin typeface="Calibri"/>
                <a:ea typeface="Calibri"/>
              </a:rPr>
              <a:t>Low /  medium / high: </a:t>
            </a:r>
            <a:r>
              <a:rPr b="0" lang="en" sz="1800" spc="-1" strike="noStrike">
                <a:solidFill>
                  <a:srgbClr val="002e65"/>
                </a:solidFill>
                <a:latin typeface="Calibri"/>
                <a:ea typeface="Calibri"/>
              </a:rPr>
              <a:t>λ</a:t>
            </a:r>
            <a:r>
              <a:rPr b="0" lang="en" sz="1800" spc="-1" strike="noStrike" baseline="-25000">
                <a:solidFill>
                  <a:srgbClr val="002e65"/>
                </a:solidFill>
                <a:latin typeface="Calibri"/>
                <a:ea typeface="Calibri"/>
              </a:rPr>
              <a:t>nov</a:t>
            </a:r>
            <a:r>
              <a:rPr b="0" lang="en-US" sz="1800" spc="-1" strike="noStrike">
                <a:solidFill>
                  <a:srgbClr val="002e65"/>
                </a:solidFill>
                <a:latin typeface="Calibri"/>
                <a:ea typeface="Calibri"/>
              </a:rPr>
              <a:t> = 0.1 / 0.2 / 0.3</a:t>
            </a:r>
            <a:endParaRPr b="0" lang="en-US" sz="1800" spc="-1" strike="noStrike">
              <a:latin typeface="Arial"/>
            </a:endParaRPr>
          </a:p>
          <a:p>
            <a:pPr>
              <a:lnSpc>
                <a:spcPct val="100000"/>
              </a:lnSpc>
              <a:buNone/>
              <a:tabLst>
                <a:tab algn="l" pos="0"/>
              </a:tabLst>
            </a:pPr>
            <a:r>
              <a:rPr b="0" lang="en-US" sz="1800" spc="-1" strike="noStrike">
                <a:solidFill>
                  <a:srgbClr val="002e65"/>
                </a:solidFill>
                <a:latin typeface="Calibri"/>
                <a:ea typeface="Calibri"/>
              </a:rPr>
              <a:t>3. Combined variant: </a:t>
            </a:r>
            <a:r>
              <a:rPr b="0" lang="en" sz="1800" spc="-1" strike="noStrike">
                <a:solidFill>
                  <a:srgbClr val="002e65"/>
                </a:solidFill>
                <a:latin typeface="Calibri"/>
                <a:ea typeface="Calibri"/>
              </a:rPr>
              <a:t>λ</a:t>
            </a:r>
            <a:r>
              <a:rPr b="0" lang="en" sz="1800" spc="-1" strike="noStrike" baseline="-25000">
                <a:solidFill>
                  <a:srgbClr val="002e65"/>
                </a:solidFill>
                <a:latin typeface="Calibri"/>
                <a:ea typeface="Calibri"/>
              </a:rPr>
              <a:t>nov</a:t>
            </a:r>
            <a:r>
              <a:rPr b="0" lang="en-US" sz="1800" spc="-1" strike="noStrike">
                <a:solidFill>
                  <a:srgbClr val="002e65"/>
                </a:solidFill>
                <a:latin typeface="Calibri"/>
                <a:ea typeface="Calibri"/>
              </a:rPr>
              <a:t> = average(profile </a:t>
            </a:r>
            <a:r>
              <a:rPr b="0" lang="en" sz="1800" spc="-1" strike="noStrike">
                <a:solidFill>
                  <a:srgbClr val="002e65"/>
                </a:solidFill>
                <a:latin typeface="Calibri"/>
                <a:ea typeface="Calibri"/>
              </a:rPr>
              <a:t>λ</a:t>
            </a:r>
            <a:r>
              <a:rPr b="0" lang="en" sz="1800" spc="-1" strike="noStrike" baseline="-25000">
                <a:solidFill>
                  <a:srgbClr val="002e65"/>
                </a:solidFill>
                <a:latin typeface="Calibri"/>
                <a:ea typeface="Calibri"/>
              </a:rPr>
              <a:t>nov</a:t>
            </a:r>
            <a:r>
              <a:rPr b="0" lang="en-US" sz="1800" spc="-1" strike="noStrike">
                <a:solidFill>
                  <a:srgbClr val="002e65"/>
                </a:solidFill>
                <a:latin typeface="Calibri"/>
                <a:ea typeface="Calibri"/>
              </a:rPr>
              <a:t> , genre </a:t>
            </a:r>
            <a:r>
              <a:rPr b="0" lang="en" sz="1800" spc="-1" strike="noStrike">
                <a:solidFill>
                  <a:srgbClr val="002e65"/>
                </a:solidFill>
                <a:latin typeface="Calibri"/>
                <a:ea typeface="Calibri"/>
              </a:rPr>
              <a:t>λ</a:t>
            </a:r>
            <a:r>
              <a:rPr b="0" lang="en" sz="1800" spc="-1" strike="noStrike" baseline="-25000">
                <a:solidFill>
                  <a:srgbClr val="002e65"/>
                </a:solidFill>
                <a:latin typeface="Calibri"/>
                <a:ea typeface="Calibri"/>
              </a:rPr>
              <a:t>nov</a:t>
            </a:r>
            <a:r>
              <a:rPr b="0" lang="en-US" sz="1800" spc="-1" strike="noStrike">
                <a:solidFill>
                  <a:srgbClr val="002e65"/>
                </a:solidFill>
                <a:latin typeface="Calibri"/>
                <a:ea typeface="Calibri"/>
              </a:rPr>
              <a:t>)</a:t>
            </a:r>
            <a:endParaRPr b="0" lang="en-US" sz="1800" spc="-1" strike="noStrike">
              <a:latin typeface="Arial"/>
            </a:endParaRPr>
          </a:p>
        </p:txBody>
      </p:sp>
      <p:sp>
        <p:nvSpPr>
          <p:cNvPr id="183" name="Google Shape;178;p 2"/>
          <p:cNvSpPr/>
          <p:nvPr/>
        </p:nvSpPr>
        <p:spPr>
          <a:xfrm>
            <a:off x="261360" y="1298520"/>
            <a:ext cx="8479080" cy="10054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0" i="1" lang="en" sz="1800" spc="-1" strike="noStrike">
                <a:solidFill>
                  <a:srgbClr val="808080"/>
                </a:solidFill>
                <a:latin typeface="Calibri"/>
                <a:ea typeface="Calibri"/>
              </a:rPr>
              <a:t>Reminder sub-RQ: Can user-specific novelty weighting, where users are grouped based on profile characteristics, improve the accuracy–novelty trade-off compared to a single global novelty weight?</a:t>
            </a:r>
            <a:endParaRPr b="0" lang="en-US" sz="18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sldNum" idx="14"/>
          </p:nvPr>
        </p:nvSpPr>
        <p:spPr>
          <a:xfrm>
            <a:off x="6692760" y="4754520"/>
            <a:ext cx="1982520" cy="272880"/>
          </a:xfrm>
          <a:prstGeom prst="rect">
            <a:avLst/>
          </a:prstGeom>
          <a:noFill/>
          <a:ln w="0">
            <a:noFill/>
          </a:ln>
        </p:spPr>
        <p:txBody>
          <a:bodyPr lIns="68400" rIns="68400" tIns="34200" bIns="34200" anchor="ctr">
            <a:noAutofit/>
          </a:bodyPr>
          <a:lstStyle>
            <a:lvl1pPr algn="r">
              <a:lnSpc>
                <a:spcPct val="100000"/>
              </a:lnSpc>
              <a:buNone/>
              <a:tabLst>
                <a:tab algn="l" pos="0"/>
              </a:tabLst>
              <a:defRPr b="0" lang="en" sz="800" spc="-1" strike="noStrike">
                <a:solidFill>
                  <a:srgbClr val="002e65"/>
                </a:solidFill>
                <a:latin typeface="Calibri"/>
                <a:ea typeface="Calibri"/>
              </a:defRPr>
            </a:lvl1pPr>
          </a:lstStyle>
          <a:p>
            <a:pPr algn="r">
              <a:lnSpc>
                <a:spcPct val="100000"/>
              </a:lnSpc>
              <a:buNone/>
              <a:tabLst>
                <a:tab algn="l" pos="0"/>
              </a:tabLst>
            </a:pPr>
            <a:fld id="{703A3A4A-551B-47C5-A169-3BFBD5B938FE}" type="slidenum">
              <a:rPr b="0" lang="en" sz="800" spc="-1" strike="noStrike">
                <a:solidFill>
                  <a:srgbClr val="002e65"/>
                </a:solidFill>
                <a:latin typeface="Calibri"/>
                <a:ea typeface="Calibri"/>
              </a:rPr>
              <a:t>11</a:t>
            </a:fld>
            <a:endParaRPr b="0" lang="en-US" sz="800" spc="-1" strike="noStrike">
              <a:latin typeface="Times New Roman"/>
            </a:endParaRPr>
          </a:p>
        </p:txBody>
      </p:sp>
      <p:sp>
        <p:nvSpPr>
          <p:cNvPr id="185" name="Google Shape;176;p 2"/>
          <p:cNvSpPr/>
          <p:nvPr/>
        </p:nvSpPr>
        <p:spPr>
          <a:xfrm rot="10800600">
            <a:off x="189720" y="485640"/>
            <a:ext cx="8551800" cy="787320"/>
          </a:xfrm>
          <a:prstGeom prst="round1Rect">
            <a:avLst>
              <a:gd name="adj" fmla="val 16667"/>
            </a:avLst>
          </a:prstGeom>
          <a:solidFill>
            <a:schemeClr val="accent2"/>
          </a:solidFill>
          <a:ln w="0">
            <a:noFill/>
          </a:ln>
        </p:spPr>
        <p:style>
          <a:lnRef idx="0"/>
          <a:fillRef idx="0"/>
          <a:effectRef idx="0"/>
          <a:fontRef idx="minor"/>
        </p:style>
      </p:sp>
      <p:sp>
        <p:nvSpPr>
          <p:cNvPr id="186" name="PlaceHolder 2"/>
          <p:cNvSpPr>
            <a:spLocks noGrp="1"/>
          </p:cNvSpPr>
          <p:nvPr>
            <p:ph type="title"/>
          </p:nvPr>
        </p:nvSpPr>
        <p:spPr>
          <a:xfrm>
            <a:off x="468000" y="583200"/>
            <a:ext cx="8207280" cy="592560"/>
          </a:xfrm>
          <a:prstGeom prst="rect">
            <a:avLst/>
          </a:prstGeom>
          <a:noFill/>
          <a:ln w="0">
            <a:noFill/>
          </a:ln>
        </p:spPr>
        <p:txBody>
          <a:bodyPr lIns="0" rIns="0" tIns="0" bIns="0" anchor="ctr">
            <a:normAutofit fontScale="81000"/>
          </a:bodyPr>
          <a:p>
            <a:pPr>
              <a:lnSpc>
                <a:spcPct val="100000"/>
              </a:lnSpc>
              <a:buNone/>
              <a:tabLst>
                <a:tab algn="l" pos="0"/>
              </a:tabLst>
            </a:pPr>
            <a:r>
              <a:rPr b="1" lang="en" sz="2900" spc="-1" strike="noStrike">
                <a:solidFill>
                  <a:srgbClr val="ffffff"/>
                </a:solidFill>
                <a:latin typeface="Calibri"/>
                <a:ea typeface="Calibri"/>
              </a:rPr>
              <a:t>Results sub-RQ: user specific novelty weighting</a:t>
            </a:r>
            <a:endParaRPr b="0" lang="en-US" sz="2900" spc="-1" strike="noStrike">
              <a:latin typeface="Arial"/>
            </a:endParaRPr>
          </a:p>
        </p:txBody>
      </p:sp>
      <p:sp>
        <p:nvSpPr>
          <p:cNvPr id="187" name="Google Shape;178;p 2"/>
          <p:cNvSpPr/>
          <p:nvPr/>
        </p:nvSpPr>
        <p:spPr>
          <a:xfrm>
            <a:off x="261360" y="1298520"/>
            <a:ext cx="8479080" cy="1005480"/>
          </a:xfrm>
          <a:prstGeom prst="rect">
            <a:avLst/>
          </a:prstGeom>
          <a:noFill/>
          <a:ln w="0">
            <a:noFill/>
          </a:ln>
        </p:spPr>
        <p:style>
          <a:lnRef idx="0"/>
          <a:fillRef idx="0"/>
          <a:effectRef idx="0"/>
          <a:fontRef idx="minor"/>
        </p:style>
        <p:txBody>
          <a:bodyPr lIns="90000" rIns="90000" tIns="91440" bIns="91440" anchor="t">
            <a:spAutoFit/>
          </a:bodyPr>
          <a:p>
            <a:pPr>
              <a:lnSpc>
                <a:spcPct val="100000"/>
              </a:lnSpc>
              <a:buNone/>
              <a:tabLst>
                <a:tab algn="l" pos="0"/>
              </a:tabLst>
            </a:pPr>
            <a:r>
              <a:rPr b="0" i="1" lang="en" sz="1800" spc="-1" strike="noStrike">
                <a:solidFill>
                  <a:srgbClr val="808080"/>
                </a:solidFill>
                <a:latin typeface="Calibri"/>
                <a:ea typeface="Calibri"/>
              </a:rPr>
              <a:t>Reminder sub-RQ: Can user-specific novelty weighting, where users are grouped based on profile characteristics, improve the accuracy–novelty trade-off compared to a single global novelty weight?</a:t>
            </a:r>
            <a:endParaRPr b="0" lang="en-US" sz="1800" spc="-1" strike="noStrike">
              <a:latin typeface="Arial"/>
            </a:endParaRPr>
          </a:p>
        </p:txBody>
      </p:sp>
      <p:sp>
        <p:nvSpPr>
          <p:cNvPr id="188" name="Tekstvak 152"/>
          <p:cNvSpPr/>
          <p:nvPr/>
        </p:nvSpPr>
        <p:spPr>
          <a:xfrm>
            <a:off x="228600" y="2398680"/>
            <a:ext cx="4342680" cy="2284920"/>
          </a:xfrm>
          <a:prstGeom prst="rect">
            <a:avLst/>
          </a:prstGeom>
          <a:noFill/>
          <a:ln w="0">
            <a:noFill/>
          </a:ln>
        </p:spPr>
        <p:style>
          <a:lnRef idx="0"/>
          <a:fillRef idx="0"/>
          <a:effectRef idx="0"/>
          <a:fontRef idx="minor"/>
        </p:style>
        <p:txBody>
          <a:bodyPr lIns="90000" rIns="90000" tIns="45000" bIns="45000" anchor="t">
            <a:noAutofit/>
          </a:bodyPr>
          <a:p>
            <a:pPr marL="216000" indent="-216000">
              <a:lnSpc>
                <a:spcPct val="100000"/>
              </a:lnSpc>
              <a:buClr>
                <a:srgbClr val="000000"/>
              </a:buClr>
              <a:buSzPct val="45000"/>
              <a:buFont typeface="Wingdings" charset="2"/>
              <a:buChar char=""/>
              <a:tabLst>
                <a:tab algn="l" pos="0"/>
              </a:tabLst>
            </a:pPr>
            <a:r>
              <a:rPr b="1" lang="en" sz="1200" spc="-1" strike="noStrike">
                <a:solidFill>
                  <a:srgbClr val="002e65"/>
                </a:solidFill>
                <a:latin typeface="Calibri"/>
                <a:ea typeface="Calibri"/>
              </a:rPr>
              <a:t>Black star: EASE baseline with fixed λ = 300</a:t>
            </a:r>
            <a:endParaRPr b="0" lang="en-US" sz="1200" spc="-1" strike="noStrike">
              <a:latin typeface="Arial"/>
            </a:endParaRPr>
          </a:p>
          <a:p>
            <a:pPr lvl="1" marL="432000" indent="-216000">
              <a:lnSpc>
                <a:spcPct val="100000"/>
              </a:lnSpc>
              <a:buClr>
                <a:srgbClr val="000000"/>
              </a:buClr>
              <a:buSzPct val="45000"/>
              <a:buFont typeface="Wingdings" charset="2"/>
              <a:buChar char=""/>
              <a:tabLst>
                <a:tab algn="l" pos="0"/>
              </a:tabLst>
            </a:pPr>
            <a:r>
              <a:rPr b="0" lang="en" sz="1200" spc="-1" strike="noStrike">
                <a:solidFill>
                  <a:srgbClr val="002e65"/>
                </a:solidFill>
                <a:latin typeface="Calibri"/>
                <a:ea typeface="Calibri"/>
              </a:rPr>
              <a:t>NDCG ≈ 0.3927, Novelty ≈ 0.7508</a:t>
            </a:r>
            <a:endParaRPr b="0" lang="en-US" sz="1200" spc="-1" strike="noStrike">
              <a:latin typeface="Arial"/>
            </a:endParaRPr>
          </a:p>
          <a:p>
            <a:pPr marL="216000" indent="-216000">
              <a:lnSpc>
                <a:spcPct val="100000"/>
              </a:lnSpc>
              <a:buClr>
                <a:srgbClr val="000000"/>
              </a:buClr>
              <a:buSzPct val="45000"/>
              <a:buFont typeface="Wingdings" charset="2"/>
              <a:buChar char=""/>
              <a:tabLst>
                <a:tab algn="l" pos="0"/>
              </a:tabLst>
            </a:pPr>
            <a:r>
              <a:rPr b="1" lang="en" sz="1200" spc="-1" strike="noStrike">
                <a:solidFill>
                  <a:srgbClr val="002e65"/>
                </a:solidFill>
                <a:latin typeface="Calibri"/>
                <a:ea typeface="Calibri"/>
              </a:rPr>
              <a:t>red curve: global novelty weight λ</a:t>
            </a:r>
            <a:r>
              <a:rPr b="1" lang="en" sz="1200" spc="-1" strike="noStrike" baseline="-25000">
                <a:solidFill>
                  <a:srgbClr val="002e65"/>
                </a:solidFill>
                <a:latin typeface="Calibri"/>
                <a:ea typeface="Calibri"/>
              </a:rPr>
              <a:t>nov</a:t>
            </a:r>
            <a:endParaRPr b="0" lang="en-US" sz="1200" spc="-1" strike="noStrike">
              <a:latin typeface="Arial"/>
            </a:endParaRPr>
          </a:p>
          <a:p>
            <a:pPr lvl="1" marL="432000" indent="-216000">
              <a:lnSpc>
                <a:spcPct val="100000"/>
              </a:lnSpc>
              <a:buClr>
                <a:srgbClr val="000000"/>
              </a:buClr>
              <a:buSzPct val="45000"/>
              <a:buFont typeface="Wingdings" charset="2"/>
              <a:buChar char=""/>
              <a:tabLst>
                <a:tab algn="l" pos="0"/>
              </a:tabLst>
            </a:pPr>
            <a:r>
              <a:rPr b="0" lang="en" sz="1200" spc="-1" strike="noStrike">
                <a:solidFill>
                  <a:srgbClr val="002e65"/>
                </a:solidFill>
                <a:latin typeface="Calibri"/>
                <a:ea typeface="Calibri"/>
              </a:rPr>
              <a:t>Increasing </a:t>
            </a:r>
            <a:r>
              <a:rPr b="0" lang="en" sz="1200" spc="-1" strike="noStrike">
                <a:solidFill>
                  <a:srgbClr val="002e65"/>
                </a:solidFill>
                <a:latin typeface="Calibri"/>
                <a:ea typeface="Calibri"/>
              </a:rPr>
              <a:t>λ</a:t>
            </a:r>
            <a:r>
              <a:rPr b="0" lang="en" sz="1200" spc="-1" strike="noStrike" baseline="-25000">
                <a:solidFill>
                  <a:srgbClr val="002e65"/>
                </a:solidFill>
                <a:latin typeface="Calibri"/>
                <a:ea typeface="Calibri"/>
              </a:rPr>
              <a:t>nov </a:t>
            </a:r>
            <a:r>
              <a:rPr b="0" lang="en" sz="1200" spc="-1" strike="noStrike">
                <a:solidFill>
                  <a:srgbClr val="002e65"/>
                </a:solidFill>
                <a:latin typeface="Calibri"/>
                <a:ea typeface="Calibri"/>
              </a:rPr>
              <a:t>moves you to the right (more novelty) and down (lower NDCG)</a:t>
            </a:r>
            <a:endParaRPr b="0" lang="en-US" sz="1200" spc="-1" strike="noStrike">
              <a:latin typeface="Arial"/>
            </a:endParaRPr>
          </a:p>
          <a:p>
            <a:pPr marL="216000" indent="-216000">
              <a:lnSpc>
                <a:spcPct val="100000"/>
              </a:lnSpc>
              <a:buClr>
                <a:srgbClr val="000000"/>
              </a:buClr>
              <a:buSzPct val="45000"/>
              <a:buFont typeface="Wingdings" charset="2"/>
              <a:buChar char=""/>
              <a:tabLst>
                <a:tab algn="l" pos="0"/>
              </a:tabLst>
            </a:pPr>
            <a:r>
              <a:rPr b="1" lang="en" sz="1200" spc="-1" strike="noStrike">
                <a:solidFill>
                  <a:srgbClr val="002e65"/>
                </a:solidFill>
                <a:latin typeface="Calibri"/>
                <a:ea typeface="Calibri"/>
              </a:rPr>
              <a:t>Orange diamons: user specific novelty weights</a:t>
            </a:r>
            <a:endParaRPr b="0" lang="en-US" sz="1200" spc="-1" strike="noStrike">
              <a:latin typeface="Arial"/>
            </a:endParaRPr>
          </a:p>
          <a:p>
            <a:pPr lvl="1" marL="432000" indent="-216000">
              <a:lnSpc>
                <a:spcPct val="100000"/>
              </a:lnSpc>
              <a:buClr>
                <a:srgbClr val="000000"/>
              </a:buClr>
              <a:buSzPct val="45000"/>
              <a:buFont typeface="Wingdings" charset="2"/>
              <a:buChar char=""/>
              <a:tabLst>
                <a:tab algn="l" pos="0"/>
              </a:tabLst>
            </a:pPr>
            <a:r>
              <a:rPr b="0" lang="en" sz="1200" spc="-1" strike="noStrike">
                <a:solidFill>
                  <a:srgbClr val="002e65"/>
                </a:solidFill>
                <a:latin typeface="Calibri"/>
                <a:ea typeface="Calibri"/>
              </a:rPr>
              <a:t>Profile based, Genre diversity based and combined</a:t>
            </a:r>
            <a:endParaRPr b="0" lang="en-US" sz="1200" spc="-1" strike="noStrike">
              <a:latin typeface="Arial"/>
            </a:endParaRPr>
          </a:p>
          <a:p>
            <a:pPr lvl="1" marL="432000" indent="-216000">
              <a:lnSpc>
                <a:spcPct val="100000"/>
              </a:lnSpc>
              <a:buClr>
                <a:srgbClr val="000000"/>
              </a:buClr>
              <a:buSzPct val="45000"/>
              <a:buFont typeface="Wingdings" charset="2"/>
              <a:buChar char=""/>
              <a:tabLst>
                <a:tab algn="l" pos="0"/>
              </a:tabLst>
            </a:pPr>
            <a:r>
              <a:rPr b="0" lang="en" sz="1200" spc="-1" strike="noStrike">
                <a:solidFill>
                  <a:srgbClr val="002e65"/>
                </a:solidFill>
                <a:latin typeface="Calibri"/>
                <a:ea typeface="Calibri"/>
              </a:rPr>
              <a:t>These give a better tradeoff if you were to choose within that region. (0.1 – 0.3)</a:t>
            </a:r>
            <a:endParaRPr b="0" lang="en-US" sz="1200" spc="-1" strike="noStrike">
              <a:latin typeface="Arial"/>
            </a:endParaRPr>
          </a:p>
        </p:txBody>
      </p:sp>
      <p:pic>
        <p:nvPicPr>
          <p:cNvPr id="189" name="Afbeelding 153" descr=""/>
          <p:cNvPicPr/>
          <p:nvPr/>
        </p:nvPicPr>
        <p:blipFill>
          <a:blip r:embed="rId1"/>
          <a:stretch/>
        </p:blipFill>
        <p:spPr>
          <a:xfrm>
            <a:off x="4419000" y="1983960"/>
            <a:ext cx="4114800" cy="29707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PlaceHolder 1"/>
          <p:cNvSpPr>
            <a:spLocks noGrp="1"/>
          </p:cNvSpPr>
          <p:nvPr>
            <p:ph type="sldNum" idx="15"/>
          </p:nvPr>
        </p:nvSpPr>
        <p:spPr>
          <a:xfrm>
            <a:off x="6692760" y="4754520"/>
            <a:ext cx="1982520" cy="272880"/>
          </a:xfrm>
          <a:prstGeom prst="rect">
            <a:avLst/>
          </a:prstGeom>
          <a:noFill/>
          <a:ln w="0">
            <a:noFill/>
          </a:ln>
        </p:spPr>
        <p:txBody>
          <a:bodyPr lIns="68400" rIns="68400" tIns="34200" bIns="34200" anchor="ctr">
            <a:noAutofit/>
          </a:bodyPr>
          <a:lstStyle>
            <a:lvl1pPr algn="r">
              <a:lnSpc>
                <a:spcPct val="100000"/>
              </a:lnSpc>
              <a:buNone/>
              <a:tabLst>
                <a:tab algn="l" pos="0"/>
              </a:tabLst>
              <a:defRPr b="0" lang="en" sz="800" spc="-1" strike="noStrike">
                <a:solidFill>
                  <a:srgbClr val="002e65"/>
                </a:solidFill>
                <a:latin typeface="Calibri"/>
                <a:ea typeface="Calibri"/>
              </a:defRPr>
            </a:lvl1pPr>
          </a:lstStyle>
          <a:p>
            <a:pPr algn="r">
              <a:lnSpc>
                <a:spcPct val="100000"/>
              </a:lnSpc>
              <a:buNone/>
              <a:tabLst>
                <a:tab algn="l" pos="0"/>
              </a:tabLst>
            </a:pPr>
            <a:fld id="{D1598CB5-43A8-4C47-832B-20C9EC60EAF6}" type="slidenum">
              <a:rPr b="0" lang="en" sz="800" spc="-1" strike="noStrike">
                <a:solidFill>
                  <a:srgbClr val="002e65"/>
                </a:solidFill>
                <a:latin typeface="Calibri"/>
                <a:ea typeface="Calibri"/>
              </a:rPr>
              <a:t>12</a:t>
            </a:fld>
            <a:endParaRPr b="0" lang="en-US" sz="800" spc="-1" strike="noStrike">
              <a:latin typeface="Times New Roman"/>
            </a:endParaRPr>
          </a:p>
        </p:txBody>
      </p:sp>
      <p:sp>
        <p:nvSpPr>
          <p:cNvPr id="191" name="Google Shape;184;p 2"/>
          <p:cNvSpPr/>
          <p:nvPr/>
        </p:nvSpPr>
        <p:spPr>
          <a:xfrm rot="10800600">
            <a:off x="189720" y="485640"/>
            <a:ext cx="8551800" cy="787320"/>
          </a:xfrm>
          <a:prstGeom prst="round1Rect">
            <a:avLst>
              <a:gd name="adj" fmla="val 16667"/>
            </a:avLst>
          </a:prstGeom>
          <a:solidFill>
            <a:schemeClr val="accent2"/>
          </a:solidFill>
          <a:ln w="0">
            <a:noFill/>
          </a:ln>
        </p:spPr>
        <p:style>
          <a:lnRef idx="0"/>
          <a:fillRef idx="0"/>
          <a:effectRef idx="0"/>
          <a:fontRef idx="minor"/>
        </p:style>
      </p:sp>
      <p:sp>
        <p:nvSpPr>
          <p:cNvPr id="192" name="PlaceHolder 2"/>
          <p:cNvSpPr>
            <a:spLocks noGrp="1"/>
          </p:cNvSpPr>
          <p:nvPr>
            <p:ph type="title"/>
          </p:nvPr>
        </p:nvSpPr>
        <p:spPr>
          <a:xfrm>
            <a:off x="468000" y="583200"/>
            <a:ext cx="8207280" cy="592560"/>
          </a:xfrm>
          <a:prstGeom prst="rect">
            <a:avLst/>
          </a:prstGeom>
          <a:noFill/>
          <a:ln w="0">
            <a:noFill/>
          </a:ln>
        </p:spPr>
        <p:txBody>
          <a:bodyPr lIns="0" rIns="0" tIns="0" bIns="0" anchor="ctr">
            <a:normAutofit/>
          </a:bodyPr>
          <a:p>
            <a:pPr>
              <a:lnSpc>
                <a:spcPct val="100000"/>
              </a:lnSpc>
              <a:buNone/>
              <a:tabLst>
                <a:tab algn="l" pos="0"/>
              </a:tabLst>
            </a:pPr>
            <a:r>
              <a:rPr b="1" lang="en" sz="2900" spc="-1" strike="noStrike">
                <a:solidFill>
                  <a:srgbClr val="ffffff"/>
                </a:solidFill>
                <a:latin typeface="Calibri"/>
                <a:ea typeface="Calibri"/>
              </a:rPr>
              <a:t>Discussion &amp; Conclusion</a:t>
            </a:r>
            <a:endParaRPr b="0" lang="en-US" sz="2900" spc="-1" strike="noStrike">
              <a:latin typeface="Arial"/>
            </a:endParaRPr>
          </a:p>
        </p:txBody>
      </p:sp>
      <p:sp>
        <p:nvSpPr>
          <p:cNvPr id="193" name="Google Shape;186;p 2"/>
          <p:cNvSpPr/>
          <p:nvPr/>
        </p:nvSpPr>
        <p:spPr>
          <a:xfrm>
            <a:off x="261360" y="1514520"/>
            <a:ext cx="8479080" cy="2404440"/>
          </a:xfrm>
          <a:prstGeom prst="rect">
            <a:avLst/>
          </a:prstGeom>
          <a:noFill/>
          <a:ln w="0">
            <a:noFill/>
          </a:ln>
        </p:spPr>
        <p:style>
          <a:lnRef idx="0"/>
          <a:fillRef idx="0"/>
          <a:effectRef idx="0"/>
          <a:fontRef idx="minor"/>
        </p:style>
        <p:txBody>
          <a:bodyPr lIns="90000" rIns="90000" tIns="91440" bIns="91440" anchor="t">
            <a:spAutoFit/>
          </a:bodyPr>
          <a:p>
            <a:pPr marL="216000" indent="-216000">
              <a:lnSpc>
                <a:spcPct val="100000"/>
              </a:lnSpc>
              <a:buClr>
                <a:srgbClr val="000000"/>
              </a:buClr>
              <a:buSzPct val="45000"/>
              <a:buFont typeface="Wingdings" charset="2"/>
              <a:buChar char=""/>
              <a:tabLst>
                <a:tab algn="l" pos="0"/>
              </a:tabLst>
            </a:pPr>
            <a:r>
              <a:rPr b="1" lang="en" sz="1600" spc="-1" strike="noStrike">
                <a:solidFill>
                  <a:srgbClr val="002e65"/>
                </a:solidFill>
                <a:latin typeface="Calibri"/>
                <a:ea typeface="Calibri"/>
              </a:rPr>
              <a:t>Main RQ: global novelty re ranking</a:t>
            </a:r>
            <a:endParaRPr b="0" lang="en-US" sz="1600" spc="-1" strike="noStrike">
              <a:latin typeface="Arial"/>
            </a:endParaRPr>
          </a:p>
          <a:p>
            <a:pPr lvl="1" marL="432000" indent="-216000">
              <a:lnSpc>
                <a:spcPct val="100000"/>
              </a:lnSpc>
              <a:buClr>
                <a:srgbClr val="000000"/>
              </a:buClr>
              <a:buSzPct val="45000"/>
              <a:buFont typeface="Wingdings" charset="2"/>
              <a:buChar char=""/>
              <a:tabLst>
                <a:tab algn="l" pos="0"/>
              </a:tabLst>
            </a:pPr>
            <a:r>
              <a:rPr b="0" lang="en" sz="1600" spc="-1" strike="noStrike">
                <a:solidFill>
                  <a:srgbClr val="002e65"/>
                </a:solidFill>
                <a:latin typeface="Calibri"/>
                <a:ea typeface="Calibri"/>
              </a:rPr>
              <a:t>Adding genre based novelty on top of EASE produces a </a:t>
            </a:r>
            <a:r>
              <a:rPr b="0" lang="en" sz="1600" spc="-1" strike="noStrike" u="sng">
                <a:solidFill>
                  <a:srgbClr val="002e65"/>
                </a:solidFill>
                <a:uFillTx/>
                <a:latin typeface="Calibri"/>
                <a:ea typeface="Calibri"/>
              </a:rPr>
              <a:t>clear accuracy-novelty tradeoff</a:t>
            </a:r>
            <a:endParaRPr b="0" lang="en-US" sz="1600" spc="-1" strike="noStrike">
              <a:latin typeface="Arial"/>
            </a:endParaRPr>
          </a:p>
          <a:p>
            <a:pPr lvl="1" marL="432000" indent="-216000">
              <a:lnSpc>
                <a:spcPct val="100000"/>
              </a:lnSpc>
              <a:buClr>
                <a:srgbClr val="000000"/>
              </a:buClr>
              <a:buSzPct val="45000"/>
              <a:buFont typeface="Wingdings" charset="2"/>
              <a:buChar char=""/>
              <a:tabLst>
                <a:tab algn="l" pos="0"/>
              </a:tabLst>
            </a:pPr>
            <a:r>
              <a:rPr b="0" lang="en" sz="1600" spc="-1" strike="noStrike">
                <a:solidFill>
                  <a:srgbClr val="002e65"/>
                </a:solidFill>
                <a:latin typeface="Calibri"/>
                <a:ea typeface="Calibri"/>
              </a:rPr>
              <a:t>Moderate novelty weights</a:t>
            </a:r>
            <a:r>
              <a:rPr b="1" lang="en" sz="1600" spc="-1" strike="noStrike">
                <a:solidFill>
                  <a:srgbClr val="002e65"/>
                </a:solidFill>
                <a:latin typeface="Calibri"/>
                <a:ea typeface="Calibri"/>
              </a:rPr>
              <a:t> </a:t>
            </a:r>
            <a:r>
              <a:rPr b="0" lang="en" sz="1600" spc="-1" strike="noStrike">
                <a:solidFill>
                  <a:srgbClr val="002e65"/>
                </a:solidFill>
                <a:latin typeface="Calibri"/>
                <a:ea typeface="Calibri"/>
              </a:rPr>
              <a:t>increase novelty with acceptable NDCG loss</a:t>
            </a:r>
            <a:endParaRPr b="0" lang="en-US" sz="1600" spc="-1" strike="noStrike">
              <a:latin typeface="Arial"/>
            </a:endParaRPr>
          </a:p>
          <a:p>
            <a:pPr lvl="1" marL="432000" indent="-216000">
              <a:lnSpc>
                <a:spcPct val="100000"/>
              </a:lnSpc>
              <a:buClr>
                <a:srgbClr val="000000"/>
              </a:buClr>
              <a:buSzPct val="45000"/>
              <a:buFont typeface="Wingdings" charset="2"/>
              <a:buChar char=""/>
              <a:tabLst>
                <a:tab algn="l" pos="0"/>
              </a:tabLst>
            </a:pPr>
            <a:r>
              <a:rPr b="0" lang="en" sz="1600" spc="-1" strike="noStrike">
                <a:solidFill>
                  <a:srgbClr val="002e65"/>
                </a:solidFill>
                <a:latin typeface="Calibri"/>
                <a:ea typeface="Calibri"/>
              </a:rPr>
              <a:t>Strong novelty weights give higher novelty but hurt NDCG more</a:t>
            </a:r>
            <a:endParaRPr b="0" lang="en-US" sz="1600" spc="-1" strike="noStrike">
              <a:latin typeface="Arial"/>
            </a:endParaRPr>
          </a:p>
          <a:p>
            <a:pPr>
              <a:lnSpc>
                <a:spcPct val="100000"/>
              </a:lnSpc>
              <a:buNone/>
              <a:tabLst>
                <a:tab algn="l" pos="0"/>
              </a:tabLst>
            </a:pPr>
            <a:endParaRPr b="0" lang="en-US" sz="1800" spc="-1" strike="noStrike">
              <a:latin typeface="Arial"/>
            </a:endParaRPr>
          </a:p>
          <a:p>
            <a:pPr marL="216000" indent="-216000">
              <a:lnSpc>
                <a:spcPct val="100000"/>
              </a:lnSpc>
              <a:buClr>
                <a:srgbClr val="000000"/>
              </a:buClr>
              <a:buSzPct val="45000"/>
              <a:buFont typeface="Wingdings" charset="2"/>
              <a:buChar char=""/>
              <a:tabLst>
                <a:tab algn="l" pos="0"/>
              </a:tabLst>
            </a:pPr>
            <a:r>
              <a:rPr b="1" lang="en" sz="1600" spc="-1" strike="noStrike">
                <a:solidFill>
                  <a:srgbClr val="002e65"/>
                </a:solidFill>
                <a:latin typeface="Calibri"/>
                <a:ea typeface="Calibri"/>
              </a:rPr>
              <a:t>Sub RQ: User specific novelty weights</a:t>
            </a:r>
            <a:endParaRPr b="0" lang="en-US" sz="1600" spc="-1" strike="noStrike">
              <a:latin typeface="Arial"/>
            </a:endParaRPr>
          </a:p>
          <a:p>
            <a:pPr lvl="1" marL="432000" indent="-216000">
              <a:lnSpc>
                <a:spcPct val="100000"/>
              </a:lnSpc>
              <a:buClr>
                <a:srgbClr val="000000"/>
              </a:buClr>
              <a:buSzPct val="45000"/>
              <a:buFont typeface="Wingdings" charset="2"/>
              <a:buChar char=""/>
              <a:tabLst>
                <a:tab algn="l" pos="0"/>
              </a:tabLst>
            </a:pPr>
            <a:r>
              <a:rPr b="0" lang="en" sz="1600" spc="-1" strike="noStrike">
                <a:solidFill>
                  <a:srgbClr val="002e65"/>
                </a:solidFill>
                <a:latin typeface="Calibri"/>
                <a:ea typeface="Calibri"/>
              </a:rPr>
              <a:t>Simple three group scheme (profile size, genre entropy, combined)</a:t>
            </a:r>
            <a:endParaRPr b="0" lang="en-US" sz="1600" spc="-1" strike="noStrike">
              <a:latin typeface="Arial"/>
            </a:endParaRPr>
          </a:p>
          <a:p>
            <a:pPr lvl="1" marL="432000" indent="-216000">
              <a:lnSpc>
                <a:spcPct val="100000"/>
              </a:lnSpc>
              <a:buClr>
                <a:srgbClr val="000000"/>
              </a:buClr>
              <a:buSzPct val="45000"/>
              <a:buFont typeface="Wingdings" charset="2"/>
              <a:buChar char=""/>
              <a:tabLst>
                <a:tab algn="l" pos="0"/>
              </a:tabLst>
            </a:pPr>
            <a:r>
              <a:rPr b="0" lang="en" sz="1600" spc="-1" strike="noStrike" u="sng">
                <a:solidFill>
                  <a:srgbClr val="002e65"/>
                </a:solidFill>
                <a:uFillTx/>
                <a:latin typeface="Calibri"/>
                <a:ea typeface="Calibri"/>
              </a:rPr>
              <a:t>Performs better</a:t>
            </a:r>
            <a:r>
              <a:rPr b="0" lang="en" sz="1600" spc="-1" strike="noStrike">
                <a:solidFill>
                  <a:srgbClr val="002e65"/>
                </a:solidFill>
                <a:latin typeface="Calibri"/>
                <a:ea typeface="Calibri"/>
              </a:rPr>
              <a:t> than using a global weight</a:t>
            </a:r>
            <a:endParaRPr b="0" lang="en-US" sz="16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468000" y="2053080"/>
            <a:ext cx="8207280" cy="689400"/>
          </a:xfrm>
          <a:prstGeom prst="rect">
            <a:avLst/>
          </a:prstGeom>
          <a:noFill/>
          <a:ln w="0">
            <a:noFill/>
          </a:ln>
        </p:spPr>
        <p:txBody>
          <a:bodyPr lIns="68400" rIns="68400" tIns="34200" bIns="34200" anchor="ctr">
            <a:normAutofit fontScale="90000"/>
          </a:bodyPr>
          <a:p>
            <a:pPr algn="ctr">
              <a:lnSpc>
                <a:spcPct val="90000"/>
              </a:lnSpc>
              <a:buNone/>
              <a:tabLst>
                <a:tab algn="l" pos="0"/>
              </a:tabLst>
            </a:pPr>
            <a:r>
              <a:rPr b="1" lang="en" sz="5000" spc="-1" strike="noStrike">
                <a:solidFill>
                  <a:srgbClr val="ffffff"/>
                </a:solidFill>
                <a:latin typeface="Calibri"/>
                <a:ea typeface="Calibri"/>
              </a:rPr>
              <a:t>A</a:t>
            </a:r>
            <a:r>
              <a:rPr b="1" lang="en" sz="5000" spc="-1" strike="noStrike">
                <a:solidFill>
                  <a:srgbClr val="ffffff"/>
                </a:solidFill>
                <a:latin typeface="Calibri"/>
                <a:ea typeface="Calibri"/>
              </a:rPr>
              <a:t>n</a:t>
            </a:r>
            <a:r>
              <a:rPr b="1" lang="en" sz="5000" spc="-1" strike="noStrike">
                <a:solidFill>
                  <a:srgbClr val="ffffff"/>
                </a:solidFill>
                <a:latin typeface="Calibri"/>
                <a:ea typeface="Calibri"/>
              </a:rPr>
              <a:t>y </a:t>
            </a:r>
            <a:r>
              <a:rPr b="1" lang="en" sz="5000" spc="-1" strike="noStrike">
                <a:solidFill>
                  <a:srgbClr val="ffffff"/>
                </a:solidFill>
                <a:latin typeface="Calibri"/>
                <a:ea typeface="Calibri"/>
              </a:rPr>
              <a:t>Q</a:t>
            </a:r>
            <a:r>
              <a:rPr b="1" lang="en" sz="5000" spc="-1" strike="noStrike">
                <a:solidFill>
                  <a:srgbClr val="ffffff"/>
                </a:solidFill>
                <a:latin typeface="Calibri"/>
                <a:ea typeface="Calibri"/>
              </a:rPr>
              <a:t>u</a:t>
            </a:r>
            <a:r>
              <a:rPr b="1" lang="en" sz="5000" spc="-1" strike="noStrike">
                <a:solidFill>
                  <a:srgbClr val="ffffff"/>
                </a:solidFill>
                <a:latin typeface="Calibri"/>
                <a:ea typeface="Calibri"/>
              </a:rPr>
              <a:t>e</a:t>
            </a:r>
            <a:r>
              <a:rPr b="1" lang="en" sz="5000" spc="-1" strike="noStrike">
                <a:solidFill>
                  <a:srgbClr val="ffffff"/>
                </a:solidFill>
                <a:latin typeface="Calibri"/>
                <a:ea typeface="Calibri"/>
              </a:rPr>
              <a:t>st</a:t>
            </a:r>
            <a:r>
              <a:rPr b="1" lang="en" sz="5000" spc="-1" strike="noStrike">
                <a:solidFill>
                  <a:srgbClr val="ffffff"/>
                </a:solidFill>
                <a:latin typeface="Calibri"/>
                <a:ea typeface="Calibri"/>
              </a:rPr>
              <a:t>io</a:t>
            </a:r>
            <a:r>
              <a:rPr b="1" lang="en" sz="5000" spc="-1" strike="noStrike">
                <a:solidFill>
                  <a:srgbClr val="ffffff"/>
                </a:solidFill>
                <a:latin typeface="Calibri"/>
                <a:ea typeface="Calibri"/>
              </a:rPr>
              <a:t>n</a:t>
            </a:r>
            <a:r>
              <a:rPr b="1" lang="en" sz="5000" spc="-1" strike="noStrike">
                <a:solidFill>
                  <a:srgbClr val="ffffff"/>
                </a:solidFill>
                <a:latin typeface="Calibri"/>
                <a:ea typeface="Calibri"/>
              </a:rPr>
              <a:t>s </a:t>
            </a:r>
            <a:r>
              <a:rPr b="1" lang="en" sz="5000" spc="-1" strike="noStrike">
                <a:solidFill>
                  <a:srgbClr val="ffffff"/>
                </a:solidFill>
                <a:latin typeface="Calibri"/>
                <a:ea typeface="Calibri"/>
              </a:rPr>
              <a:t>?</a:t>
            </a:r>
            <a:endParaRPr b="0" lang="en-US" sz="5000" spc="-1" strike="noStrike">
              <a:latin typeface="Arial"/>
            </a:endParaRPr>
          </a:p>
        </p:txBody>
      </p:sp>
      <p:sp>
        <p:nvSpPr>
          <p:cNvPr id="195" name="PlaceHolder 2"/>
          <p:cNvSpPr>
            <a:spLocks noGrp="1"/>
          </p:cNvSpPr>
          <p:nvPr>
            <p:ph/>
          </p:nvPr>
        </p:nvSpPr>
        <p:spPr>
          <a:xfrm>
            <a:off x="478800" y="3547080"/>
            <a:ext cx="8207280" cy="795600"/>
          </a:xfrm>
          <a:prstGeom prst="rect">
            <a:avLst/>
          </a:prstGeom>
          <a:noFill/>
          <a:ln w="0">
            <a:noFill/>
          </a:ln>
        </p:spPr>
        <p:txBody>
          <a:bodyPr lIns="68400" rIns="68400" tIns="34200" bIns="34200" anchor="t">
            <a:noAutofit/>
          </a:bodyPr>
          <a:p>
            <a:pPr marL="177840" indent="-177840" algn="ctr">
              <a:lnSpc>
                <a:spcPct val="90000"/>
              </a:lnSpc>
              <a:spcBef>
                <a:spcPts val="1001"/>
              </a:spcBef>
              <a:buNone/>
              <a:tabLst>
                <a:tab algn="l" pos="0"/>
              </a:tabLst>
            </a:pPr>
            <a:r>
              <a:rPr b="1" lang="en" sz="2100" spc="-1" strike="noStrike">
                <a:solidFill>
                  <a:srgbClr val="ffffff"/>
                </a:solidFill>
                <a:latin typeface="Calibri"/>
                <a:ea typeface="Calibri"/>
              </a:rPr>
              <a:t>Nabil El Ouaamari</a:t>
            </a:r>
            <a:endParaRPr b="0" lang="en-US" sz="21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02e65"/>
      </a:dk2>
      <a:lt2>
        <a:srgbClr val="bbcccc"/>
      </a:lt2>
      <a:accent1>
        <a:srgbClr val="002e65"/>
      </a:accent1>
      <a:accent2>
        <a:srgbClr val="006ca9"/>
      </a:accent2>
      <a:accent3>
        <a:srgbClr val="ea2c38"/>
      </a:accent3>
      <a:accent4>
        <a:srgbClr val="ada500"/>
      </a:accent4>
      <a:accent5>
        <a:srgbClr val="ac242a"/>
      </a:accent5>
      <a:accent6>
        <a:srgbClr val="44b8f3"/>
      </a:accent6>
      <a:hlink>
        <a:srgbClr val="7575cb"/>
      </a:hlink>
      <a:folHlink>
        <a:srgbClr val="b1009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02e65"/>
      </a:dk2>
      <a:lt2>
        <a:srgbClr val="bbcccc"/>
      </a:lt2>
      <a:accent1>
        <a:srgbClr val="002e65"/>
      </a:accent1>
      <a:accent2>
        <a:srgbClr val="006ca9"/>
      </a:accent2>
      <a:accent3>
        <a:srgbClr val="ea2c38"/>
      </a:accent3>
      <a:accent4>
        <a:srgbClr val="ada500"/>
      </a:accent4>
      <a:accent5>
        <a:srgbClr val="ac242a"/>
      </a:accent5>
      <a:accent6>
        <a:srgbClr val="44b8f3"/>
      </a:accent6>
      <a:hlink>
        <a:srgbClr val="7575cb"/>
      </a:hlink>
      <a:folHlink>
        <a:srgbClr val="b1009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02e65"/>
      </a:dk2>
      <a:lt2>
        <a:srgbClr val="bbcccc"/>
      </a:lt2>
      <a:accent1>
        <a:srgbClr val="002e65"/>
      </a:accent1>
      <a:accent2>
        <a:srgbClr val="006ca9"/>
      </a:accent2>
      <a:accent3>
        <a:srgbClr val="ea2c38"/>
      </a:accent3>
      <a:accent4>
        <a:srgbClr val="ada500"/>
      </a:accent4>
      <a:accent5>
        <a:srgbClr val="ac242a"/>
      </a:accent5>
      <a:accent6>
        <a:srgbClr val="44b8f3"/>
      </a:accent6>
      <a:hlink>
        <a:srgbClr val="7575cb"/>
      </a:hlink>
      <a:folHlink>
        <a:srgbClr val="b1009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02e65"/>
      </a:dk2>
      <a:lt2>
        <a:srgbClr val="bbcccc"/>
      </a:lt2>
      <a:accent1>
        <a:srgbClr val="002e65"/>
      </a:accent1>
      <a:accent2>
        <a:srgbClr val="006ca9"/>
      </a:accent2>
      <a:accent3>
        <a:srgbClr val="ea2c38"/>
      </a:accent3>
      <a:accent4>
        <a:srgbClr val="ada500"/>
      </a:accent4>
      <a:accent5>
        <a:srgbClr val="ac242a"/>
      </a:accent5>
      <a:accent6>
        <a:srgbClr val="44b8f3"/>
      </a:accent6>
      <a:hlink>
        <a:srgbClr val="7575cb"/>
      </a:hlink>
      <a:folHlink>
        <a:srgbClr val="b10097"/>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3304</TotalTime>
  <Application>LibreOffice/7.3.7.2$Linux_X86_64 LibreOffice_project/30$Build-2</Application>
  <AppVersion>15.0000</AppVersion>
  <Words>2461</Words>
  <Paragraphs>236</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2025-12-16T21:26:23Z</dcterms:modified>
  <cp:revision>243</cp:revision>
  <dc:subject/>
  <dc:title>Novelty aware recommendations on Steam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13</vt:i4>
  </property>
  <property fmtid="{D5CDD505-2E9C-101B-9397-08002B2CF9AE}" pid="3" name="PresentationFormat">
    <vt:lpwstr>On-screen Show (16:9)</vt:lpwstr>
  </property>
  <property fmtid="{D5CDD505-2E9C-101B-9397-08002B2CF9AE}" pid="4" name="Slides">
    <vt:i4>14</vt:i4>
  </property>
</Properties>
</file>